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65" r:id="rId5"/>
    <p:sldId id="258" r:id="rId6"/>
    <p:sldId id="259" r:id="rId7"/>
    <p:sldId id="264" r:id="rId8"/>
    <p:sldId id="261" r:id="rId9"/>
    <p:sldId id="266" r:id="rId10"/>
    <p:sldId id="267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12"/>
  </p:normalViewPr>
  <p:slideViewPr>
    <p:cSldViewPr snapToGrid="0">
      <p:cViewPr varScale="1">
        <p:scale>
          <a:sx n="105" d="100"/>
          <a:sy n="105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1723-6AAA-55F8-B8FA-E39BE6C48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B8E5D-CE09-C72A-2187-9747A5D09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101EE-84D7-DDDD-2757-67D8D8D51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55503-E26F-724C-535D-376711FA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DA35-7439-FE49-EAE2-41BF5745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0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29C7-7CB8-A840-02EF-62808746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7654-3F5F-34F2-873E-D31C1474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04377-AA27-0B3B-77C3-AF3F21653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489B-084F-0BF8-5554-22F1DB07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10137-5A00-551C-3AF0-08730BDB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0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664B-6A4F-18E4-F842-41A4E695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576F4-838E-F526-7A8C-3108AF19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E41FB-ACD2-A337-C52E-105547AF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33B2C-548E-4889-BB4F-EA7A981A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C50CB-5C9F-7FA4-2EFF-D91199D5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7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AD48-4791-6736-C306-97573D3C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E6E1-6B7D-5469-E65F-F58AD2E47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CBEB6-37A8-E0E0-1B8D-D229A107E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DBE09-40A7-4233-4CBA-CB389B293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3B28B-B792-BC99-3C0E-73C9D68B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226F9-1B68-C454-D8CA-76C05B1B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065F-5AF1-ABC5-F53A-50DCB0DE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C2EB8-3361-5EFC-68B3-0CC8262F1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F2FF4-9140-E2BD-C69D-1FD614359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C34F0B-1CA3-3266-6E31-40260B69D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05FE5-3B7B-FCA8-D8B2-CDC1B89C04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7B312D-774A-29B2-2741-1BC103FD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11BCB-07E0-D9F5-5F7E-0F5D8DD0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72298-C88B-CB3C-FC41-31FA6668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7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EC49-EFEA-269B-9D6F-7973F1580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36AE3-5B1A-F5C5-938F-E0C97E26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E7772-ACD2-A4DF-8FE8-4A504B8D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94CBF-9788-01B9-F61E-3B10A559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4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447B5-A1DA-5772-85C5-7D3796B3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95344-6647-087B-A392-F3534E69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A03D2-029F-A550-3C25-7D216560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6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BDF4-DC3D-6433-8683-43483B09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42726-4CA5-F9A9-3042-71A7DDD82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0EFDB-B6E7-494A-9269-B619B442A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F2211-7A0F-4718-8EF7-D0FEB287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CC58A-DE98-E27C-28D3-7E110C3C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63EA-A73D-CE9D-53EB-8D3752C8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27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329F-D6BB-DDA0-290A-306E8F39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379FC-3E6F-88F1-D81F-664BC062C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3FD8D-9C67-2648-000B-66997B1C2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D0053-201D-63CF-8D37-E5BB0930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995F9-5339-2435-3D01-54F4F548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72853-CA3F-D5B7-5F6A-9147C89E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8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3C6A-97AD-6F94-5784-68F71871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89C6A-4A5A-D110-0585-C9A412373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D83A8-7738-60DA-22D9-8AAE7D5C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5E27-A142-8EBD-E150-4286A377F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E9B9C-DED4-9850-5901-037967E18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1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73DC2-A6BA-D05E-9749-F8A7402A7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1CB55-1E44-C2D3-F057-056FD439C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B116F-40CE-8488-9A0B-310BA92D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061C-19DD-1E32-6630-F3A7A3AC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33BA6-23CF-D727-37F4-B1A7B762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7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8078C-F7CC-8D35-CD2C-1FD51AA6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31FF4-B272-F9FE-AAF6-5A085047E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0A582-D0DA-AE26-708C-04666A131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9A69A-BD49-834D-842E-9B120C0C09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95FE7-18B0-8B02-C4C5-E25EFE268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91ED4-37EB-4242-625F-37E9308B6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5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rtificial-intelligence/knowledge-graphs-using-langchain/" TargetMode="External"/><Relationship Id="rId2" Type="http://schemas.openxmlformats.org/officeDocument/2006/relationships/hyperlink" Target="https://www.youtube.com/watch?v=XNneh6-eyP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45F6-066F-B988-D81F-138A71B6D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0337"/>
            <a:ext cx="9144000" cy="3277326"/>
          </a:xfrm>
        </p:spPr>
        <p:txBody>
          <a:bodyPr anchor="ctr">
            <a:normAutofit fontScale="90000"/>
          </a:bodyPr>
          <a:lstStyle/>
          <a:p>
            <a:r>
              <a:rPr lang="en-US" b="1" dirty="0">
                <a:latin typeface="FUTURA BOOK BT" panose="020B0502020204020303" pitchFamily="34" charset="0"/>
                <a:ea typeface="SF Pro Heavy" pitchFamily="2" charset="0"/>
                <a:cs typeface="SF Pro Heavy" pitchFamily="2" charset="0"/>
              </a:rPr>
              <a:t>Knowledge graph pre </a:t>
            </a:r>
            <a:r>
              <a:rPr lang="en-US" b="1" dirty="0" err="1">
                <a:latin typeface="FUTURA BOOK BT" panose="020B0502020204020303" pitchFamily="34" charset="0"/>
                <a:ea typeface="SF Pro Heavy" pitchFamily="2" charset="0"/>
                <a:cs typeface="SF Pro Heavy" pitchFamily="2" charset="0"/>
              </a:rPr>
              <a:t>právne</a:t>
            </a:r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dokumenty</a:t>
            </a:r>
            <a:b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</a:br>
            <a:b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</a:br>
            <a:r>
              <a:rPr lang="en-US" i="1" dirty="0" err="1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GraphRAG</a:t>
            </a:r>
            <a:endParaRPr lang="en-US" i="1" dirty="0">
              <a:latin typeface="FUTURA BOOK ITALIC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97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EA57-D7B0-5F87-63D8-4D60E1C9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5AC4-E063-09D5-EEE9-C3CFEC5C9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0F8C7-DB3F-AF46-BDC8-90476810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LangGraph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/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LangChain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- workflow:</a:t>
            </a:r>
          </a:p>
          <a:p>
            <a:pPr lvl="1"/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Modelovanie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workflow</a:t>
            </a:r>
          </a:p>
          <a:p>
            <a:pPr lvl="1"/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State management pre multi-step processing</a:t>
            </a:r>
          </a:p>
          <a:p>
            <a:pPr lvl="1"/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Llm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integrácia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pre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extrakciu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entít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a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vzťahov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457200" lvl="1" indent="0">
              <a:buNone/>
            </a:pP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Neo4j –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grafová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databáza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</a:t>
            </a:r>
          </a:p>
          <a:p>
            <a:pPr lvl="1"/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Právne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vzťahy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a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hierarchie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Python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implementacia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pre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LangChain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Spacey – NLP preprocessing</a:t>
            </a:r>
          </a:p>
          <a:p>
            <a:pPr marL="0" indent="0">
              <a:buNone/>
            </a:pP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Pyvis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–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grafy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pre python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rozhranie</a:t>
            </a:r>
            <a:endParaRPr lang="en-US" sz="24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D3.js –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grafy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pre pre web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rozhranie</a:t>
            </a:r>
            <a:endParaRPr lang="en-US" sz="24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React – web UI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73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C74C-8BBB-542E-8A6B-FADA9E16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Architektúra</a:t>
            </a:r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systémy</a:t>
            </a:r>
            <a:endParaRPr lang="en-US" b="1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2A907-F0D2-7B70-CFEB-F833D1B37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Fáza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1: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Spracovanie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a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extrakcia</a:t>
            </a:r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Právny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text -&gt; Preprocessing -&gt; Relation &amp; NER Extraction -&gt;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Štruktúrované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dáta</a:t>
            </a:r>
            <a:endParaRPr lang="en-US" sz="24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90A38-96C8-60FB-1086-7E32413CC210}"/>
              </a:ext>
            </a:extLst>
          </p:cNvPr>
          <p:cNvSpPr txBox="1"/>
          <p:nvPr/>
        </p:nvSpPr>
        <p:spPr>
          <a:xfrm>
            <a:off x="931817" y="3997234"/>
            <a:ext cx="52927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pseudokod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preprocess(text):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cistenie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segmentacia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rozpoznanie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§,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odsekov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bodov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extract_entities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(text):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Named-Entity Recognition: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pravne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pojmy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	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institucie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§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cisla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LLM-based extraction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extract_relations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(entities, context):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vztahy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medzi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entitami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A085D-D2CB-3F0B-E4BA-C6C82C630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29" y="3206495"/>
            <a:ext cx="4024254" cy="3565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09E7CD-5018-8CA7-7560-BC61203C02E2}"/>
              </a:ext>
            </a:extLst>
          </p:cNvPr>
          <p:cNvSpPr txBox="1"/>
          <p:nvPr/>
        </p:nvSpPr>
        <p:spPr>
          <a:xfrm>
            <a:off x="396608" y="3429000"/>
            <a:ext cx="6594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FUTURA BOOK BT" panose="020B0502020204020303" pitchFamily="34" charset="0"/>
              </a:rPr>
              <a:t>LLMGraphTransformer</a:t>
            </a:r>
            <a:r>
              <a:rPr lang="en-US" sz="1400" dirty="0">
                <a:latin typeface="FUTURA BOOK BT" panose="020B0502020204020303" pitchFamily="34" charset="0"/>
              </a:rPr>
              <a:t>: Uses an LLM to extract entities and relationships from text.</a:t>
            </a:r>
          </a:p>
        </p:txBody>
      </p:sp>
    </p:spTree>
    <p:extLst>
      <p:ext uri="{BB962C8B-B14F-4D97-AF65-F5344CB8AC3E}">
        <p14:creationId xmlns:p14="http://schemas.microsoft.com/office/powerpoint/2010/main" val="296903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0E0C1-F22E-ECAD-B997-D23E01A81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804" y="283752"/>
            <a:ext cx="11164392" cy="629049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104A8A-E489-77AB-75F4-8EAD5F0B37AA}"/>
              </a:ext>
            </a:extLst>
          </p:cNvPr>
          <p:cNvSpPr txBox="1"/>
          <p:nvPr/>
        </p:nvSpPr>
        <p:spPr>
          <a:xfrm>
            <a:off x="1167788" y="591605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57085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7B74-3981-1C17-659E-71F493E7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E989-FF2A-B749-952F-91577C38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Architektúra</a:t>
            </a:r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systémy</a:t>
            </a:r>
            <a:endParaRPr lang="en-US" b="1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22754-58A0-1096-F375-4D8EF9CC6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Fáza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2: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Konštrukcia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grafu</a:t>
            </a:r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Štruktúrované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dáta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-&gt; Graph Building -&gt; Knowledge Graph (Neo4j)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0CB35-F382-299E-AAE4-FF723855B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360" y="3538728"/>
            <a:ext cx="2032000" cy="2863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85D31F-124A-71E7-DB8B-026E621FEA9A}"/>
              </a:ext>
            </a:extLst>
          </p:cNvPr>
          <p:cNvSpPr txBox="1"/>
          <p:nvPr/>
        </p:nvSpPr>
        <p:spPr>
          <a:xfrm>
            <a:off x="5176520" y="4472848"/>
            <a:ext cx="57695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pseudokod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pre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zostrojenie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grafu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so Cypher queries</a:t>
            </a:r>
          </a:p>
          <a:p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create_entity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(entity):</a:t>
            </a: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vytvori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node v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grafe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create_relation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(relation):</a:t>
            </a: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vytvori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hranu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v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grafe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query_related_entities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entity_text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depth)</a:t>
            </a: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najde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prepojene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entity</a:t>
            </a:r>
          </a:p>
        </p:txBody>
      </p:sp>
    </p:spTree>
    <p:extLst>
      <p:ext uri="{BB962C8B-B14F-4D97-AF65-F5344CB8AC3E}">
        <p14:creationId xmlns:p14="http://schemas.microsoft.com/office/powerpoint/2010/main" val="65403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1D9E-1036-6274-3B27-38D00B0B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87C2D-9D80-9C72-857D-170C2AFC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Architektúra</a:t>
            </a:r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systémy</a:t>
            </a:r>
            <a:endParaRPr lang="en-US" b="1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C5C6-4822-6499-3A06-0CCD932E4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Fáza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3: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Vizualizácia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a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interakcia</a:t>
            </a:r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Knowledge Graph (Neo4j) -&gt; Query &amp; Visualization -&gt; 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E0C836-651B-C046-3579-2EFD4DF8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91850"/>
            <a:ext cx="1619250" cy="2965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BBB7E0-29FE-8FBC-0D03-4EAC552ABDCE}"/>
              </a:ext>
            </a:extLst>
          </p:cNvPr>
          <p:cNvSpPr txBox="1"/>
          <p:nvPr/>
        </p:nvSpPr>
        <p:spPr>
          <a:xfrm>
            <a:off x="3671997" y="3681913"/>
            <a:ext cx="73779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b="1" dirty="0" err="1">
                <a:latin typeface="FUTURA BOOK BT" panose="020B0502020204020303" pitchFamily="34" charset="0"/>
              </a:rPr>
              <a:t>GraphCypherQAChain</a:t>
            </a:r>
            <a:r>
              <a:rPr lang="en-US" b="1" dirty="0">
                <a:latin typeface="FUTURA BOOK BT" panose="020B0502020204020303" pitchFamily="34" charset="0"/>
              </a:rPr>
              <a:t>:</a:t>
            </a:r>
            <a:r>
              <a:rPr lang="en-US" dirty="0">
                <a:latin typeface="FUTURA BOOK BT" panose="020B0502020204020303" pitchFamily="34" charset="0"/>
              </a:rPr>
              <a:t> Handles question-answering over the graph database.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>
                <a:latin typeface="FUTURA BOOK BT" panose="020B0502020204020303" pitchFamily="34" charset="0"/>
              </a:rPr>
              <a:t>Query Translation:</a:t>
            </a:r>
            <a:r>
              <a:rPr lang="en-US" dirty="0">
                <a:latin typeface="FUTURA BOOK BT" panose="020B0502020204020303" pitchFamily="34" charset="0"/>
              </a:rPr>
              <a:t> Converts a natural language question into a graph query like Cypher for Neo4j.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>
                <a:latin typeface="FUTURA BOOK BT" panose="020B0502020204020303" pitchFamily="34" charset="0"/>
              </a:rPr>
              <a:t>Execution: </a:t>
            </a:r>
            <a:r>
              <a:rPr lang="en-US" dirty="0">
                <a:latin typeface="FUTURA BOOK BT" panose="020B0502020204020303" pitchFamily="34" charset="0"/>
              </a:rPr>
              <a:t>Runs the query against the graph to retrieve structured facts and relationships.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>
                <a:latin typeface="FUTURA BOOK BT" panose="020B0502020204020303" pitchFamily="34" charset="0"/>
              </a:rPr>
              <a:t>Response Generation: </a:t>
            </a:r>
            <a:r>
              <a:rPr lang="en-US" dirty="0">
                <a:latin typeface="FUTURA BOOK BT" panose="020B0502020204020303" pitchFamily="34" charset="0"/>
              </a:rPr>
              <a:t>The retrieved context is combined with the original question and passed to an LLM which produces a clear natural language answer.</a:t>
            </a:r>
          </a:p>
        </p:txBody>
      </p:sp>
    </p:spTree>
    <p:extLst>
      <p:ext uri="{BB962C8B-B14F-4D97-AF65-F5344CB8AC3E}">
        <p14:creationId xmlns:p14="http://schemas.microsoft.com/office/powerpoint/2010/main" val="1076066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4FC297-8A1A-068D-94BC-9594890D1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996" y="290621"/>
            <a:ext cx="11140008" cy="62767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D9812-E981-668C-3244-7AE5150EC4E6}"/>
              </a:ext>
            </a:extLst>
          </p:cNvPr>
          <p:cNvSpPr txBox="1"/>
          <p:nvPr/>
        </p:nvSpPr>
        <p:spPr>
          <a:xfrm>
            <a:off x="1167788" y="591605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3032423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0C1C-8B66-A230-0F8C-6A4AFFC0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0CC3-CD42-D306-3F82-B13D6AEB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2A0B8-26D3-0A5C-2205-9567C9BF1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5286" cy="3408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Entity Recognition:</a:t>
            </a:r>
          </a:p>
          <a:p>
            <a:pPr lvl="1"/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Právne</a:t>
            </a:r>
            <a:r>
              <a:rPr lang="en-US" sz="2000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pojmy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zmluva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zodpovednosť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pravo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povinnosť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Paragrafy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 § 124, § 45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ods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. 2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pism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. a)</a:t>
            </a:r>
          </a:p>
          <a:p>
            <a:pPr lvl="1"/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Subjekty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fyzická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osoba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právnická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osoba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súd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Dokumenty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zákon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vyhláška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nariadenie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B9229D-CCC7-C600-F503-660F338FE389}"/>
              </a:ext>
            </a:extLst>
          </p:cNvPr>
          <p:cNvSpPr txBox="1">
            <a:spLocks/>
          </p:cNvSpPr>
          <p:nvPr/>
        </p:nvSpPr>
        <p:spPr>
          <a:xfrm>
            <a:off x="7089535" y="448083"/>
            <a:ext cx="3455126" cy="2755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Relation Types: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ODKAZUJE_NA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DEFINUJE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UPRAVUJE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DOPLNUJE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PODMIENUJE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RUSI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CCCD2-A597-5D0A-58DE-55B56A64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409" y="3364310"/>
            <a:ext cx="5619379" cy="3204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2AC860-5C33-9A78-D8D0-5C5FED4A9114}"/>
              </a:ext>
            </a:extLst>
          </p:cNvPr>
          <p:cNvSpPr txBox="1"/>
          <p:nvPr/>
        </p:nvSpPr>
        <p:spPr>
          <a:xfrm>
            <a:off x="1402080" y="5583936"/>
            <a:ext cx="310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UTURA BOOK BT" panose="020B0502020204020303" pitchFamily="34" charset="0"/>
              </a:rPr>
              <a:t>// </a:t>
            </a:r>
            <a:r>
              <a:rPr lang="en-US" dirty="0" err="1">
                <a:latin typeface="FUTURA BOOK BT" panose="020B0502020204020303" pitchFamily="34" charset="0"/>
              </a:rPr>
              <a:t>zhlukovanie</a:t>
            </a:r>
            <a:r>
              <a:rPr lang="en-US" dirty="0">
                <a:latin typeface="FUTURA BOOK BT" panose="020B0502020204020303" pitchFamily="34" charset="0"/>
              </a:rPr>
              <a:t> do </a:t>
            </a:r>
            <a:r>
              <a:rPr lang="en-US" dirty="0" err="1">
                <a:latin typeface="FUTURA BOOK BT" panose="020B0502020204020303" pitchFamily="34" charset="0"/>
              </a:rPr>
              <a:t>komunit</a:t>
            </a:r>
            <a:r>
              <a:rPr lang="en-US" dirty="0">
                <a:latin typeface="FUTURA BOOK BT" panose="020B0502020204020303" pitchFamily="34" charset="0"/>
              </a:rPr>
              <a:t> //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265DE-E82B-D6A4-8B30-B5B2ED11F97F}"/>
              </a:ext>
            </a:extLst>
          </p:cNvPr>
          <p:cNvSpPr txBox="1"/>
          <p:nvPr/>
        </p:nvSpPr>
        <p:spPr>
          <a:xfrm>
            <a:off x="6007409" y="6123543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34897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B73E62-87DD-0B87-5162-1A0C2B5B3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632959" cy="373729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8E2660-0C8E-92E1-2625-57F9565AE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95" y="2133600"/>
            <a:ext cx="8206105" cy="46236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F1B526-1287-6D3E-3096-9B15476E1CFD}"/>
              </a:ext>
            </a:extLst>
          </p:cNvPr>
          <p:cNvSpPr txBox="1"/>
          <p:nvPr/>
        </p:nvSpPr>
        <p:spPr>
          <a:xfrm>
            <a:off x="4098275" y="627961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8BEA9-48AF-CD19-DDCA-89FCBF57D765}"/>
              </a:ext>
            </a:extLst>
          </p:cNvPr>
          <p:cNvSpPr txBox="1"/>
          <p:nvPr/>
        </p:nvSpPr>
        <p:spPr>
          <a:xfrm>
            <a:off x="99152" y="324433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74571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A93F9A-FA20-8842-CC3E-B6254F6CB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710" y="526543"/>
            <a:ext cx="10302579" cy="58049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7A5D-96F4-460F-74DB-B49417CF25CE}"/>
              </a:ext>
            </a:extLst>
          </p:cNvPr>
          <p:cNvSpPr txBox="1"/>
          <p:nvPr/>
        </p:nvSpPr>
        <p:spPr>
          <a:xfrm>
            <a:off x="1167788" y="591605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3541964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86BF08-EBFD-770A-E57E-6E4357F62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084" y="479988"/>
            <a:ext cx="10467831" cy="589802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F48E91-E697-45DB-6663-38CDA738C858}"/>
              </a:ext>
            </a:extLst>
          </p:cNvPr>
          <p:cNvSpPr txBox="1"/>
          <p:nvPr/>
        </p:nvSpPr>
        <p:spPr>
          <a:xfrm>
            <a:off x="1167788" y="591605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64669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8EDA-6C4E-D6DA-4EC3-A5AB241D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CE99D-B8F1-07D2-D3A8-3FA6FAC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5B97-F587-643C-A0C3-A8B3B3EAC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BlackStone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– Spacy model pre UK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pravne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dokumenty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LexNLP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library –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pravny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NLP toolkit</a:t>
            </a:r>
          </a:p>
          <a:p>
            <a:pPr marL="0" indent="0">
              <a:buNone/>
            </a:pP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Slov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-Lex –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slovenska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legislativa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dataset</a:t>
            </a:r>
          </a:p>
          <a:p>
            <a:pPr marL="0" indent="0">
              <a:buNone/>
            </a:pP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Obrazky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z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prezentacie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su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z:</a:t>
            </a:r>
          </a:p>
          <a:p>
            <a:pPr marL="0" indent="0">
              <a:buNone/>
            </a:pP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  <a:hlinkClick r:id="rId2"/>
              </a:rPr>
              <a:t>https://www.youtube.com/watch?v=XNneh6-eyPg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  <a:hlinkClick r:id="rId3"/>
              </a:rPr>
              <a:t>https://www.geeksforgeeks.org/artificial-intelligence/knowledge-graphs-using-langchain/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87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428</Words>
  <Application>Microsoft Macintosh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FUTURA BOOK BT</vt:lpstr>
      <vt:lpstr>FUTURA BOOK ITALIC BT</vt:lpstr>
      <vt:lpstr>Menlo</vt:lpstr>
      <vt:lpstr>SF Pro Semibold</vt:lpstr>
      <vt:lpstr>Office Theme</vt:lpstr>
      <vt:lpstr>Knowledge graph pre právne dokumenty  GraphRAG</vt:lpstr>
      <vt:lpstr>Frameworks</vt:lpstr>
      <vt:lpstr>Architektúra systémy</vt:lpstr>
      <vt:lpstr>PowerPoint Presentation</vt:lpstr>
      <vt:lpstr>Architektúra systémy</vt:lpstr>
      <vt:lpstr>Architektúra systémy</vt:lpstr>
      <vt:lpstr>PowerPoint Presentation</vt:lpstr>
      <vt:lpstr>Components</vt:lpstr>
      <vt:lpstr>PowerPoint Presentation</vt:lpstr>
      <vt:lpstr>PowerPoint Presentation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Bagín</dc:creator>
  <cp:lastModifiedBy>Samuel Bagín</cp:lastModifiedBy>
  <cp:revision>15</cp:revision>
  <dcterms:created xsi:type="dcterms:W3CDTF">2025-12-10T15:40:10Z</dcterms:created>
  <dcterms:modified xsi:type="dcterms:W3CDTF">2025-12-11T21:54:31Z</dcterms:modified>
</cp:coreProperties>
</file>