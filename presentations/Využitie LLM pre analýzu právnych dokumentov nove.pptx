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24F8E49-8736-5541-6B03-95BDD2FD5C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81748-6545-4CF6-5C91-D6660D5952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6B63C9-D0FB-6143-980A-57A152DCD3E1}" type="datetimeFigureOut">
              <a:rPr lang="en-US" smtClean="0"/>
              <a:t>2/11/26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322DEE-8F5B-6383-E905-D4387F22168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DEEF31-BE5A-3E13-D917-7DDFB1E3AA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D50AB4-75E5-494B-9779-9D63FDCD64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865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6AB6-B43B-6125-CDD3-EE9A4DB838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C2F13A-A6B7-AAAF-85ED-376D267582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E2274-3426-C240-F40E-41F4F727C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6EA73-1249-6A0F-FD38-31F244BCE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870AA-5CF6-38E2-F37D-5D6E68E6B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50581-D87C-86E2-60E8-FF7235090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C6BD7-D20C-DE2B-21BA-5BCE31432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1351B-7C0E-6CCB-FCE6-8B275C480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9C275-70D3-1093-A6F6-B1943D5FB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24EC8-4B47-28FA-1FFE-55C316D41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237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4C462-369A-83EA-C376-C6D134F22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A7510-F2CD-E191-ECBB-0B46F4DB6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A57DB7-2506-E7E5-6F08-3FEFE567F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11DA46-4E35-38BF-35D6-E47094611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89BB1-FA58-64A2-A244-66FD21EA8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14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EF778-277F-3873-2654-37C12E8B6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A1BB-3613-FA33-69C7-E8A41E8CA3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057B3-A28E-0E8A-5BB0-96CEA9569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63170-E0BA-5575-B0D1-D1EF7055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3EC718-BB46-6E27-9B09-3B317C85C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436BC3-8F8D-15BD-0C19-16D030C69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16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2073-35F6-27C1-657F-58B649EEA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458BC-F046-8C4B-BC74-6FE248EFF2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11EA1-9FE6-3407-C979-D65EC980D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46BDB9-336D-7B69-2FD3-640E2E6D9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24BFF4-3469-D0BA-687A-B2D9E4D35A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0C7A01-D897-58E3-3BC9-D0D6AEFDA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E82BC4-99B7-0728-C852-FE1C6D316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1B499D-F642-BC3A-BF29-C345EF3E3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070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5360-C9F6-A624-9A05-773EA8AD2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FAD5C1-EDB8-A6FA-654E-E46936D9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93D3A-6A62-5070-AF73-B8C7ED647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50F95-347A-05E9-8484-7F9DA835A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0E6D10-2316-EAA8-1B49-FD22D5B8E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42C74F-25E3-7951-3490-D5BD275D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CB892-237A-22F2-96E4-9337D468F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825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872E3-29CF-AB9A-733D-2DDC8F900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2C285-FD8E-AB15-8F6B-66169CA16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B45844-1302-78FA-CC71-693B8DBAF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2D67E-6E8B-04C7-4A1E-1DCE62A50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5F087E-0F0D-235A-494C-C24BD2253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0ACCD2-D3C5-6B68-253C-DC18164E3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7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2193C-B59F-D2FF-3D97-8583CE6E9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304D2D-FC1D-8AC0-D5E6-2E23B358B1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759BE-7995-2A8E-0487-1E0F3B2ABF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CFBCFD-D7FA-0580-09FD-73561A2EA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82C2BD-D593-7195-C789-DC128722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9755A9-C1CB-9BA2-A8B4-81073879E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494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7C42F-A638-E19C-51CF-02180CC71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658527-6F20-34DD-5E6D-4317690E0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EBAB1-0320-B242-AA57-E722AC37E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78BF7-9BD7-180E-5426-F8B686F0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28D14-3ABF-8F96-F397-BD89EB67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DA67A6-40A0-A779-4B89-B3FED0E148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E40FF6-8815-010C-4CDF-62FCD51D8B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A1BB2-6E97-4B98-1AEF-4BC5A68E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44657-B6D2-1242-83F0-098778FE0764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C6C2B-7DE5-107B-F053-D91324B5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E923B-3F7E-FF1D-F76E-F8FDF2992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899EC-2DC5-CB44-A3F9-05BD8DB807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24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E6B87A-076D-CEBA-C0C3-ECD4121C5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5F8B0-2CB4-2543-BD77-3A45FEF98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EBD9A-D9C5-A930-1EE7-C19AD06838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defRPr>
            </a:lvl1pPr>
          </a:lstStyle>
          <a:p>
            <a:fld id="{51744657-B6D2-1242-83F0-098778FE0764}" type="datetimeFigureOut">
              <a:rPr lang="en-US" smtClean="0"/>
              <a:pPr/>
              <a:t>2/11/26</a:t>
            </a:fld>
            <a:endParaRPr lang="en-US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4F386-71EF-063E-A3CD-85CD0E3A9F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>
                    <a:tint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defRPr>
            </a:lvl1pPr>
          </a:lstStyle>
          <a:p>
            <a:endParaRPr lang="en-US" b="1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17E83-A006-19C8-857A-702A49E13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>
                    <a:tint val="75000"/>
                  </a:schemeClr>
                </a:solidFill>
                <a:latin typeface="CMU Typewriter Text" panose="02000609000000000000" pitchFamily="49" charset="0"/>
                <a:ea typeface="CMU Typewriter Text" panose="02000609000000000000" pitchFamily="49" charset="0"/>
                <a:cs typeface="CMU Typewriter Text" panose="02000609000000000000" pitchFamily="49" charset="0"/>
              </a:defRPr>
            </a:lvl1pPr>
          </a:lstStyle>
          <a:p>
            <a:fld id="{C2F899EC-2DC5-CB44-A3F9-05BD8DB807E0}" type="slidenum">
              <a:rPr lang="en-US" smtClean="0"/>
              <a:pPr/>
              <a:t>‹#›</a:t>
            </a:fld>
            <a:endParaRPr lang="en-US" b="1">
              <a:latin typeface="CMU Typewriter Text" panose="02000609000000000000" pitchFamily="49" charset="0"/>
              <a:ea typeface="CMU Typewriter Text" panose="02000609000000000000" pitchFamily="49" charset="0"/>
              <a:cs typeface="CMU Typewriter Text" panose="020006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41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MU Serif Roman" panose="02000603000000000000" pitchFamily="2" charset="0"/>
          <a:ea typeface="CMU Serif Roman" panose="02000603000000000000" pitchFamily="2" charset="0"/>
          <a:cs typeface="CMU Serif Roman" panose="02000603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CMU Serif Roman" panose="02000603000000000000" pitchFamily="2" charset="0"/>
          <a:ea typeface="CMU Serif Roman" panose="02000603000000000000" pitchFamily="2" charset="0"/>
          <a:cs typeface="CMU Serif Roman" panose="02000603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CMU Serif Roman" panose="02000603000000000000" pitchFamily="2" charset="0"/>
          <a:ea typeface="CMU Serif Roman" panose="02000603000000000000" pitchFamily="2" charset="0"/>
          <a:cs typeface="CMU Serif Roman" panose="02000603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MU Serif Roman" panose="02000603000000000000" pitchFamily="2" charset="0"/>
          <a:ea typeface="CMU Serif Roman" panose="02000603000000000000" pitchFamily="2" charset="0"/>
          <a:cs typeface="CMU Serif Roman" panose="02000603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CMU Serif Roman" panose="02000603000000000000" pitchFamily="2" charset="0"/>
          <a:ea typeface="CMU Serif Roman" panose="02000603000000000000" pitchFamily="2" charset="0"/>
          <a:cs typeface="CMU Serif Roman" panose="02000603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CMU Serif Roman" panose="02000603000000000000" pitchFamily="2" charset="0"/>
          <a:ea typeface="CMU Serif Roman" panose="02000603000000000000" pitchFamily="2" charset="0"/>
          <a:cs typeface="CMU Serif Roman" panose="02000603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10C78-08FC-0522-DFB8-BB65D3F176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sk-SK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Využitie LLM pre analýzu právnych dokumentov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16FA0E-6A57-EF02-7206-F47EA85383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sk-SK" sz="16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Samuel Bagín</a:t>
            </a:r>
          </a:p>
        </p:txBody>
      </p:sp>
    </p:spTree>
    <p:extLst>
      <p:ext uri="{BB962C8B-B14F-4D97-AF65-F5344CB8AC3E}">
        <p14:creationId xmlns:p14="http://schemas.microsoft.com/office/powerpoint/2010/main" val="3860609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CACD3-70C1-08FE-8DB5-F43EA7B97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Úvod</a:t>
            </a:r>
            <a:r>
              <a:rPr lang="en-US" b="1" dirty="0"/>
              <a:t> a </a:t>
            </a:r>
            <a:r>
              <a:rPr lang="en-US" b="1" dirty="0" err="1"/>
              <a:t>motivácia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9F3D-D7E9-432C-B304-249454C5E1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Problém</a:t>
            </a:r>
            <a:r>
              <a:rPr lang="en-US" dirty="0"/>
              <a:t>: </a:t>
            </a:r>
            <a:r>
              <a:rPr lang="en-US" dirty="0" err="1"/>
              <a:t>Právne</a:t>
            </a:r>
            <a:r>
              <a:rPr lang="en-US" dirty="0"/>
              <a:t> </a:t>
            </a:r>
            <a:r>
              <a:rPr lang="en-US" dirty="0" err="1"/>
              <a:t>texty</a:t>
            </a:r>
            <a:r>
              <a:rPr lang="en-US" dirty="0"/>
              <a:t> </a:t>
            </a:r>
            <a:r>
              <a:rPr lang="en-US" dirty="0" err="1"/>
              <a:t>sú</a:t>
            </a:r>
            <a:r>
              <a:rPr lang="en-US" dirty="0"/>
              <a:t> </a:t>
            </a:r>
            <a:r>
              <a:rPr lang="en-US" dirty="0" err="1"/>
              <a:t>komplexné</a:t>
            </a:r>
            <a:r>
              <a:rPr lang="en-US" dirty="0"/>
              <a:t> a </a:t>
            </a:r>
            <a:r>
              <a:rPr lang="en-US" dirty="0" err="1"/>
              <a:t>sémanticky</a:t>
            </a:r>
            <a:r>
              <a:rPr lang="en-US" dirty="0"/>
              <a:t> </a:t>
            </a:r>
            <a:r>
              <a:rPr lang="en-US" dirty="0" err="1"/>
              <a:t>husté</a:t>
            </a:r>
            <a:r>
              <a:rPr lang="en-US" dirty="0"/>
              <a:t>; </a:t>
            </a:r>
            <a:r>
              <a:rPr lang="en-US" dirty="0" err="1"/>
              <a:t>samotné</a:t>
            </a:r>
            <a:r>
              <a:rPr lang="en-US" dirty="0"/>
              <a:t> LLM </a:t>
            </a:r>
            <a:r>
              <a:rPr lang="en-US" dirty="0" err="1"/>
              <a:t>trpia</a:t>
            </a:r>
            <a:r>
              <a:rPr lang="en-US" dirty="0"/>
              <a:t> </a:t>
            </a:r>
            <a:r>
              <a:rPr lang="en-US" dirty="0" err="1"/>
              <a:t>halucináciami</a:t>
            </a:r>
            <a:r>
              <a:rPr lang="en-US" dirty="0"/>
              <a:t> a </a:t>
            </a:r>
            <a:r>
              <a:rPr lang="en-US" dirty="0" err="1"/>
              <a:t>obmedzeným</a:t>
            </a:r>
            <a:r>
              <a:rPr lang="en-US" dirty="0"/>
              <a:t> </a:t>
            </a:r>
            <a:r>
              <a:rPr lang="en-US" dirty="0" err="1"/>
              <a:t>kontextom</a:t>
            </a:r>
            <a:r>
              <a:rPr lang="en-US" dirty="0"/>
              <a:t>.</a:t>
            </a:r>
          </a:p>
          <a:p>
            <a:r>
              <a:rPr lang="en-US" b="1" dirty="0" err="1"/>
              <a:t>Riešenie</a:t>
            </a:r>
            <a:r>
              <a:rPr lang="en-US" dirty="0"/>
              <a:t>: </a:t>
            </a:r>
            <a:r>
              <a:rPr lang="en-US" dirty="0" err="1"/>
              <a:t>Transformácia</a:t>
            </a:r>
            <a:r>
              <a:rPr lang="en-US" dirty="0"/>
              <a:t> </a:t>
            </a:r>
            <a:r>
              <a:rPr lang="en-US" dirty="0" err="1"/>
              <a:t>neštruktúrovaného</a:t>
            </a:r>
            <a:r>
              <a:rPr lang="en-US" dirty="0"/>
              <a:t> </a:t>
            </a:r>
            <a:r>
              <a:rPr lang="en-US" dirty="0" err="1"/>
              <a:t>textu</a:t>
            </a:r>
            <a:r>
              <a:rPr lang="en-US" dirty="0"/>
              <a:t> do </a:t>
            </a:r>
            <a:r>
              <a:rPr lang="en-US" dirty="0" err="1"/>
              <a:t>Znalostného</a:t>
            </a:r>
            <a:r>
              <a:rPr lang="en-US" dirty="0"/>
              <a:t> </a:t>
            </a:r>
            <a:r>
              <a:rPr lang="en-US" dirty="0" err="1"/>
              <a:t>grafu</a:t>
            </a:r>
            <a:r>
              <a:rPr lang="en-US" dirty="0"/>
              <a:t> (KG).</a:t>
            </a:r>
          </a:p>
          <a:p>
            <a:r>
              <a:rPr lang="en-US" b="1" dirty="0" err="1"/>
              <a:t>Metóda</a:t>
            </a:r>
            <a:r>
              <a:rPr lang="en-US" dirty="0"/>
              <a:t>: </a:t>
            </a:r>
            <a:r>
              <a:rPr lang="en-US" dirty="0" err="1"/>
              <a:t>Využitie</a:t>
            </a:r>
            <a:r>
              <a:rPr lang="en-US" dirty="0"/>
              <a:t> </a:t>
            </a:r>
            <a:r>
              <a:rPr lang="en-US" dirty="0" err="1"/>
              <a:t>GraphRAG</a:t>
            </a:r>
            <a:r>
              <a:rPr lang="en-US" dirty="0"/>
              <a:t> (Graph Retrieval-Augmented Generation) pre </a:t>
            </a:r>
            <a:r>
              <a:rPr lang="en-US" dirty="0" err="1"/>
              <a:t>presnejšie</a:t>
            </a:r>
            <a:r>
              <a:rPr lang="en-US" dirty="0"/>
              <a:t> </a:t>
            </a:r>
            <a:r>
              <a:rPr lang="en-US" dirty="0" err="1"/>
              <a:t>odpovede</a:t>
            </a:r>
            <a:r>
              <a:rPr lang="en-US" dirty="0"/>
              <a:t>.</a:t>
            </a:r>
          </a:p>
          <a:p>
            <a:r>
              <a:rPr lang="en-US" b="1" dirty="0" err="1"/>
              <a:t>Cieľ</a:t>
            </a:r>
            <a:r>
              <a:rPr lang="en-US" dirty="0"/>
              <a:t>: </a:t>
            </a:r>
            <a:r>
              <a:rPr lang="en-US" dirty="0" err="1"/>
              <a:t>Systém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automatickú</a:t>
            </a:r>
            <a:r>
              <a:rPr lang="en-US" dirty="0"/>
              <a:t> </a:t>
            </a:r>
            <a:r>
              <a:rPr lang="en-US" dirty="0" err="1"/>
              <a:t>extrakciu</a:t>
            </a:r>
            <a:r>
              <a:rPr lang="en-US" dirty="0"/>
              <a:t>, </a:t>
            </a:r>
            <a:r>
              <a:rPr lang="en-US" dirty="0" err="1"/>
              <a:t>prepojenie</a:t>
            </a:r>
            <a:r>
              <a:rPr lang="en-US" dirty="0"/>
              <a:t> </a:t>
            </a:r>
            <a:r>
              <a:rPr lang="en-US" dirty="0" err="1"/>
              <a:t>entít</a:t>
            </a:r>
            <a:r>
              <a:rPr lang="en-US" dirty="0"/>
              <a:t> a </a:t>
            </a:r>
            <a:r>
              <a:rPr lang="en-US" dirty="0" err="1"/>
              <a:t>sémantické</a:t>
            </a:r>
            <a:r>
              <a:rPr lang="en-US" dirty="0"/>
              <a:t> </a:t>
            </a:r>
            <a:r>
              <a:rPr lang="en-US" dirty="0" err="1"/>
              <a:t>vyhľadávanie</a:t>
            </a:r>
            <a:r>
              <a:rPr lang="en-US" dirty="0"/>
              <a:t> v </a:t>
            </a:r>
            <a:r>
              <a:rPr lang="en-US" dirty="0" err="1"/>
              <a:t>legislatíve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91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09B40-4EF1-F7FC-A3F6-F0D746824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Systémový</a:t>
            </a:r>
            <a:r>
              <a:rPr lang="en-US" b="1" dirty="0"/>
              <a:t> </a:t>
            </a:r>
            <a:r>
              <a:rPr lang="en-US" b="1" dirty="0" err="1"/>
              <a:t>prehľad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F910D-F2B4-3AE8-791E-38626EF6D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Backend</a:t>
            </a:r>
            <a:r>
              <a:rPr lang="en-US" dirty="0"/>
              <a:t>: Python, </a:t>
            </a:r>
            <a:r>
              <a:rPr lang="en-US" dirty="0" err="1"/>
              <a:t>knižnica</a:t>
            </a:r>
            <a:r>
              <a:rPr lang="en-US" dirty="0"/>
              <a:t> </a:t>
            </a:r>
            <a:r>
              <a:rPr lang="en-US" dirty="0" err="1"/>
              <a:t>LangChain</a:t>
            </a:r>
            <a:r>
              <a:rPr lang="en-US" dirty="0"/>
              <a:t>.</a:t>
            </a:r>
          </a:p>
          <a:p>
            <a:r>
              <a:rPr lang="en-US" b="1" dirty="0" err="1"/>
              <a:t>Modely</a:t>
            </a:r>
            <a:r>
              <a:rPr lang="en-US" b="1" dirty="0"/>
              <a:t>:</a:t>
            </a:r>
            <a:endParaRPr lang="en-US" dirty="0"/>
          </a:p>
          <a:p>
            <a:pPr lvl="1"/>
            <a:r>
              <a:rPr lang="en-US" dirty="0"/>
              <a:t>GPT-4o: </a:t>
            </a:r>
            <a:r>
              <a:rPr lang="en-US" dirty="0" err="1"/>
              <a:t>Precízna</a:t>
            </a:r>
            <a:r>
              <a:rPr lang="en-US" dirty="0"/>
              <a:t> </a:t>
            </a:r>
            <a:r>
              <a:rPr lang="en-US" dirty="0" err="1"/>
              <a:t>extrakcia</a:t>
            </a:r>
            <a:r>
              <a:rPr lang="en-US" dirty="0"/>
              <a:t> </a:t>
            </a:r>
            <a:r>
              <a:rPr lang="en-US" dirty="0" err="1"/>
              <a:t>schémy</a:t>
            </a:r>
            <a:r>
              <a:rPr lang="en-US" dirty="0"/>
              <a:t> a </a:t>
            </a:r>
            <a:r>
              <a:rPr lang="en-US" dirty="0" err="1"/>
              <a:t>entít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Claude 3.5 Sonnet: </a:t>
            </a:r>
            <a:r>
              <a:rPr lang="en-US" dirty="0" err="1"/>
              <a:t>Generovanie</a:t>
            </a:r>
            <a:r>
              <a:rPr lang="en-US" dirty="0"/>
              <a:t> Cypher </a:t>
            </a:r>
            <a:r>
              <a:rPr lang="en-US" dirty="0" err="1"/>
              <a:t>dopytov</a:t>
            </a:r>
            <a:r>
              <a:rPr lang="en-US" dirty="0"/>
              <a:t> (</a:t>
            </a:r>
            <a:r>
              <a:rPr lang="en-US" dirty="0" err="1"/>
              <a:t>kódovanie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Gemini 1.5 Flash: </a:t>
            </a:r>
            <a:r>
              <a:rPr lang="en-US" dirty="0" err="1"/>
              <a:t>Klasifikácia</a:t>
            </a:r>
            <a:r>
              <a:rPr lang="en-US" dirty="0"/>
              <a:t> a </a:t>
            </a:r>
            <a:r>
              <a:rPr lang="en-US" dirty="0" err="1"/>
              <a:t>sumarizácia</a:t>
            </a:r>
            <a:r>
              <a:rPr lang="en-US" dirty="0"/>
              <a:t> </a:t>
            </a:r>
            <a:r>
              <a:rPr lang="en-US" dirty="0" err="1"/>
              <a:t>veľkého</a:t>
            </a:r>
            <a:r>
              <a:rPr lang="en-US" dirty="0"/>
              <a:t> </a:t>
            </a:r>
            <a:r>
              <a:rPr lang="en-US" dirty="0" err="1"/>
              <a:t>kontextu</a:t>
            </a:r>
            <a:r>
              <a:rPr lang="en-US" dirty="0"/>
              <a:t>.</a:t>
            </a:r>
          </a:p>
          <a:p>
            <a:r>
              <a:rPr lang="en-US" b="1" dirty="0" err="1"/>
              <a:t>Databázy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Neo4j: </a:t>
            </a:r>
            <a:r>
              <a:rPr lang="en-US" dirty="0" err="1"/>
              <a:t>Grafové</a:t>
            </a:r>
            <a:r>
              <a:rPr lang="en-US" dirty="0"/>
              <a:t> </a:t>
            </a:r>
            <a:r>
              <a:rPr lang="en-US" dirty="0" err="1"/>
              <a:t>úložisko</a:t>
            </a:r>
            <a:r>
              <a:rPr lang="en-US" dirty="0"/>
              <a:t> </a:t>
            </a:r>
            <a:r>
              <a:rPr lang="en-US" dirty="0" err="1"/>
              <a:t>vzťahov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Neo4jVector: </a:t>
            </a:r>
            <a:r>
              <a:rPr lang="en-US" dirty="0" err="1"/>
              <a:t>Vektorové</a:t>
            </a:r>
            <a:r>
              <a:rPr lang="en-US" dirty="0"/>
              <a:t> </a:t>
            </a:r>
            <a:r>
              <a:rPr lang="en-US" dirty="0" err="1"/>
              <a:t>embeddingy</a:t>
            </a:r>
            <a:r>
              <a:rPr lang="en-US" dirty="0"/>
              <a:t> pre </a:t>
            </a:r>
            <a:r>
              <a:rPr lang="en-US" dirty="0" err="1"/>
              <a:t>sémantickú</a:t>
            </a:r>
            <a:r>
              <a:rPr lang="en-US" dirty="0"/>
              <a:t> </a:t>
            </a:r>
            <a:r>
              <a:rPr lang="en-US" dirty="0" err="1"/>
              <a:t>podobnosť</a:t>
            </a:r>
            <a:r>
              <a:rPr lang="en-US" dirty="0"/>
              <a:t>.</a:t>
            </a:r>
          </a:p>
          <a:p>
            <a:r>
              <a:rPr lang="en-US" b="1" dirty="0" err="1"/>
              <a:t>Embeddingy</a:t>
            </a:r>
            <a:r>
              <a:rPr lang="en-US" dirty="0"/>
              <a:t>: text-embedding-3-large (OpenAI).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945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48777-3292-CCAB-2A4B-8CF0342E7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Spracovanie</a:t>
            </a:r>
            <a:r>
              <a:rPr lang="en-US" b="1" dirty="0"/>
              <a:t> </a:t>
            </a:r>
            <a:r>
              <a:rPr lang="en-US" b="1" dirty="0" err="1"/>
              <a:t>dokumentu</a:t>
            </a:r>
            <a:r>
              <a:rPr lang="en-US" b="1" dirty="0"/>
              <a:t> I.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E0D4-1D8B-CFB1-39BB-6F0DE2F753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Klasifikácia</a:t>
            </a:r>
            <a:r>
              <a:rPr lang="en-US" dirty="0"/>
              <a:t> (Gemini): </a:t>
            </a:r>
            <a:r>
              <a:rPr lang="en-US" dirty="0" err="1"/>
              <a:t>Automatické</a:t>
            </a:r>
            <a:r>
              <a:rPr lang="en-US" dirty="0"/>
              <a:t> </a:t>
            </a:r>
            <a:r>
              <a:rPr lang="en-US" dirty="0" err="1"/>
              <a:t>určenie</a:t>
            </a:r>
            <a:r>
              <a:rPr lang="en-US" dirty="0"/>
              <a:t> </a:t>
            </a:r>
            <a:r>
              <a:rPr lang="en-US" dirty="0" err="1"/>
              <a:t>kategórie</a:t>
            </a:r>
            <a:r>
              <a:rPr lang="en-US" dirty="0"/>
              <a:t> (</a:t>
            </a:r>
            <a:r>
              <a:rPr lang="en-US" dirty="0" err="1"/>
              <a:t>zmluva</a:t>
            </a:r>
            <a:r>
              <a:rPr lang="en-US" dirty="0"/>
              <a:t>, </a:t>
            </a:r>
            <a:r>
              <a:rPr lang="en-US" dirty="0" err="1"/>
              <a:t>zákon</a:t>
            </a:r>
            <a:r>
              <a:rPr lang="en-US" dirty="0"/>
              <a:t>) a </a:t>
            </a:r>
            <a:r>
              <a:rPr lang="en-US" dirty="0" err="1"/>
              <a:t>právneho</a:t>
            </a:r>
            <a:r>
              <a:rPr lang="en-US" dirty="0"/>
              <a:t> </a:t>
            </a:r>
            <a:r>
              <a:rPr lang="en-US" dirty="0" err="1"/>
              <a:t>odvetvia</a:t>
            </a:r>
            <a:r>
              <a:rPr lang="en-US" dirty="0"/>
              <a:t> s </a:t>
            </a:r>
            <a:r>
              <a:rPr lang="en-US" dirty="0" err="1"/>
              <a:t>percentuálnou</a:t>
            </a:r>
            <a:r>
              <a:rPr lang="en-US" dirty="0"/>
              <a:t> </a:t>
            </a:r>
            <a:r>
              <a:rPr lang="en-US" dirty="0" err="1"/>
              <a:t>istotou</a:t>
            </a:r>
            <a:r>
              <a:rPr lang="en-US" dirty="0"/>
              <a:t>.</a:t>
            </a:r>
          </a:p>
          <a:p>
            <a:r>
              <a:rPr lang="en-US" b="1" dirty="0" err="1"/>
              <a:t>Segmentácia</a:t>
            </a:r>
            <a:r>
              <a:rPr lang="en-US" dirty="0"/>
              <a:t> (Chunking):</a:t>
            </a:r>
          </a:p>
          <a:p>
            <a:pPr lvl="1"/>
            <a:r>
              <a:rPr lang="en-US" dirty="0" err="1"/>
              <a:t>Využitie</a:t>
            </a:r>
            <a:r>
              <a:rPr lang="en-US" dirty="0"/>
              <a:t> </a:t>
            </a:r>
            <a:r>
              <a:rPr lang="en-US" dirty="0" err="1"/>
              <a:t>RecursiveCharacterTextSplitter</a:t>
            </a:r>
            <a:r>
              <a:rPr lang="en-US" dirty="0"/>
              <a:t>.</a:t>
            </a:r>
          </a:p>
          <a:p>
            <a:pPr lvl="1"/>
            <a:r>
              <a:rPr lang="en-US" dirty="0" err="1"/>
              <a:t>Veľkosť</a:t>
            </a:r>
            <a:r>
              <a:rPr lang="en-US" dirty="0"/>
              <a:t>: 1024 – 1200 </a:t>
            </a:r>
            <a:r>
              <a:rPr lang="en-US" dirty="0" err="1"/>
              <a:t>tokenov</a:t>
            </a:r>
            <a:r>
              <a:rPr lang="en-US" dirty="0"/>
              <a:t> s </a:t>
            </a:r>
            <a:r>
              <a:rPr lang="en-US" dirty="0" err="1"/>
              <a:t>prekrývaním</a:t>
            </a:r>
            <a:r>
              <a:rPr lang="en-US" dirty="0"/>
              <a:t> (overlap).</a:t>
            </a:r>
          </a:p>
          <a:p>
            <a:r>
              <a:rPr lang="en-US" b="1" dirty="0" err="1"/>
              <a:t>Štruktúra</a:t>
            </a:r>
            <a:r>
              <a:rPr lang="en-US" dirty="0"/>
              <a:t>: </a:t>
            </a:r>
            <a:r>
              <a:rPr lang="en-US" dirty="0" err="1"/>
              <a:t>Prepojenie</a:t>
            </a:r>
            <a:r>
              <a:rPr lang="en-US" dirty="0"/>
              <a:t> </a:t>
            </a:r>
            <a:r>
              <a:rPr lang="en-US" dirty="0" err="1"/>
              <a:t>dokumentov</a:t>
            </a:r>
            <a:r>
              <a:rPr lang="en-US" dirty="0"/>
              <a:t> s </a:t>
            </a:r>
            <a:r>
              <a:rPr lang="en-US" dirty="0" err="1"/>
              <a:t>chunkmi</a:t>
            </a:r>
            <a:r>
              <a:rPr lang="en-US" dirty="0"/>
              <a:t> </a:t>
            </a:r>
            <a:r>
              <a:rPr lang="en-US" dirty="0" err="1"/>
              <a:t>cez</a:t>
            </a:r>
            <a:r>
              <a:rPr lang="en-US" dirty="0"/>
              <a:t> </a:t>
            </a:r>
            <a:r>
              <a:rPr lang="en-US" dirty="0" err="1"/>
              <a:t>vzťah</a:t>
            </a:r>
            <a:r>
              <a:rPr lang="en-US" dirty="0"/>
              <a:t> IN_DOCUMENT.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6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4716-02CA-C44F-B8A2-BAA904711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Spracovanie</a:t>
            </a:r>
            <a:r>
              <a:rPr lang="en-US" b="1" dirty="0"/>
              <a:t> </a:t>
            </a:r>
            <a:r>
              <a:rPr lang="en-US" b="1" dirty="0" err="1"/>
              <a:t>dokumentu</a:t>
            </a:r>
            <a:r>
              <a:rPr lang="en-US" b="1" dirty="0"/>
              <a:t> II.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AEABD-63CE-1B6F-4F3E-C4B297FBE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Metóda</a:t>
            </a:r>
            <a:r>
              <a:rPr lang="en-US" dirty="0"/>
              <a:t>: </a:t>
            </a:r>
            <a:r>
              <a:rPr lang="en-US" dirty="0" err="1"/>
              <a:t>Inšpirácia</a:t>
            </a:r>
            <a:r>
              <a:rPr lang="en-US" dirty="0"/>
              <a:t> </a:t>
            </a:r>
            <a:r>
              <a:rPr lang="en-US" dirty="0" err="1"/>
              <a:t>štúdiou</a:t>
            </a:r>
            <a:r>
              <a:rPr lang="en-US" dirty="0"/>
              <a:t> Apple (Ontology-Guided Open-Domain Extraction).</a:t>
            </a:r>
          </a:p>
          <a:p>
            <a:r>
              <a:rPr lang="en-US" dirty="0"/>
              <a:t>Tri </a:t>
            </a:r>
            <a:r>
              <a:rPr lang="en-US" dirty="0" err="1"/>
              <a:t>kroky</a:t>
            </a:r>
            <a:r>
              <a:rPr lang="en-US" dirty="0"/>
              <a:t> </a:t>
            </a:r>
            <a:r>
              <a:rPr lang="en-US" dirty="0" err="1"/>
              <a:t>extrakcie</a:t>
            </a:r>
            <a:r>
              <a:rPr lang="en-US" dirty="0"/>
              <a:t>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Otvorená</a:t>
            </a:r>
            <a:r>
              <a:rPr lang="en-US" dirty="0"/>
              <a:t> </a:t>
            </a:r>
            <a:r>
              <a:rPr lang="en-US" dirty="0" err="1"/>
              <a:t>detekcia</a:t>
            </a:r>
            <a:r>
              <a:rPr lang="en-US" dirty="0"/>
              <a:t> (GPT-4o): </a:t>
            </a:r>
            <a:r>
              <a:rPr lang="en-US" dirty="0" err="1"/>
              <a:t>Paralelné</a:t>
            </a:r>
            <a:r>
              <a:rPr lang="en-US" dirty="0"/>
              <a:t> </a:t>
            </a:r>
            <a:r>
              <a:rPr lang="en-US" dirty="0" err="1"/>
              <a:t>hľadanie</a:t>
            </a:r>
            <a:r>
              <a:rPr lang="en-US" dirty="0"/>
              <a:t> </a:t>
            </a:r>
            <a:r>
              <a:rPr lang="en-US" dirty="0" err="1"/>
              <a:t>všetkých</a:t>
            </a:r>
            <a:r>
              <a:rPr lang="en-US" dirty="0"/>
              <a:t> </a:t>
            </a:r>
            <a:r>
              <a:rPr lang="en-US" dirty="0" err="1"/>
              <a:t>entít</a:t>
            </a:r>
            <a:r>
              <a:rPr lang="en-US" dirty="0"/>
              <a:t>/</a:t>
            </a:r>
            <a:r>
              <a:rPr lang="en-US" dirty="0" err="1"/>
              <a:t>vzťahov</a:t>
            </a:r>
            <a:r>
              <a:rPr lang="en-US" dirty="0"/>
              <a:t> (</a:t>
            </a:r>
            <a:r>
              <a:rPr lang="en-US" dirty="0" err="1"/>
              <a:t>bohatosť</a:t>
            </a:r>
            <a:r>
              <a:rPr lang="en-US" dirty="0"/>
              <a:t> </a:t>
            </a:r>
            <a:r>
              <a:rPr lang="en-US" dirty="0" err="1"/>
              <a:t>dát</a:t>
            </a:r>
            <a:r>
              <a:rPr lang="en-US" dirty="0"/>
              <a:t>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Úprava</a:t>
            </a:r>
            <a:r>
              <a:rPr lang="en-US" dirty="0"/>
              <a:t> </a:t>
            </a:r>
            <a:r>
              <a:rPr lang="en-US" dirty="0" err="1"/>
              <a:t>ontológie</a:t>
            </a:r>
            <a:r>
              <a:rPr lang="en-US" dirty="0"/>
              <a:t> (Gemini): </a:t>
            </a:r>
            <a:r>
              <a:rPr lang="en-US" dirty="0" err="1"/>
              <a:t>Mapovanie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preddefinované</a:t>
            </a:r>
            <a:r>
              <a:rPr lang="en-US" dirty="0"/>
              <a:t> </a:t>
            </a:r>
            <a:r>
              <a:rPr lang="en-US" dirty="0" err="1"/>
              <a:t>právne</a:t>
            </a:r>
            <a:r>
              <a:rPr lang="en-US" dirty="0"/>
              <a:t> entity (</a:t>
            </a:r>
            <a:r>
              <a:rPr lang="en-US" dirty="0" err="1"/>
              <a:t>konzistencia</a:t>
            </a:r>
            <a:r>
              <a:rPr lang="en-US" dirty="0"/>
              <a:t>, </a:t>
            </a:r>
            <a:r>
              <a:rPr lang="en-US" dirty="0" err="1"/>
              <a:t>eliminácia</a:t>
            </a:r>
            <a:r>
              <a:rPr lang="en-US" dirty="0"/>
              <a:t> </a:t>
            </a:r>
            <a:r>
              <a:rPr lang="en-US" dirty="0" err="1"/>
              <a:t>duplicít</a:t>
            </a:r>
            <a:r>
              <a:rPr lang="en-US" dirty="0"/>
              <a:t>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Schémov-riadená</a:t>
            </a:r>
            <a:r>
              <a:rPr lang="en-US" dirty="0"/>
              <a:t> </a:t>
            </a:r>
            <a:r>
              <a:rPr lang="en-US" dirty="0" err="1"/>
              <a:t>extrakcia</a:t>
            </a:r>
            <a:r>
              <a:rPr lang="en-US" dirty="0"/>
              <a:t>: </a:t>
            </a:r>
            <a:r>
              <a:rPr lang="en-US" dirty="0" err="1"/>
              <a:t>Finálne</a:t>
            </a:r>
            <a:r>
              <a:rPr lang="en-US" dirty="0"/>
              <a:t> </a:t>
            </a:r>
            <a:r>
              <a:rPr lang="en-US" dirty="0" err="1"/>
              <a:t>vloženie</a:t>
            </a:r>
            <a:r>
              <a:rPr lang="en-US" dirty="0"/>
              <a:t> </a:t>
            </a:r>
            <a:r>
              <a:rPr lang="en-US" dirty="0" err="1"/>
              <a:t>dát</a:t>
            </a:r>
            <a:r>
              <a:rPr lang="en-US" dirty="0"/>
              <a:t> </a:t>
            </a:r>
            <a:r>
              <a:rPr lang="en-US" dirty="0" err="1"/>
              <a:t>podľa</a:t>
            </a:r>
            <a:r>
              <a:rPr lang="en-US" dirty="0"/>
              <a:t> </a:t>
            </a:r>
            <a:r>
              <a:rPr lang="en-US" dirty="0" err="1"/>
              <a:t>očistenej</a:t>
            </a:r>
            <a:r>
              <a:rPr lang="en-US" dirty="0"/>
              <a:t> </a:t>
            </a:r>
            <a:r>
              <a:rPr lang="en-US" dirty="0" err="1"/>
              <a:t>schémy</a:t>
            </a:r>
            <a:r>
              <a:rPr lang="en-US" dirty="0"/>
              <a:t>.</a:t>
            </a:r>
          </a:p>
          <a:p>
            <a:r>
              <a:rPr lang="en-US" b="1" dirty="0" err="1"/>
              <a:t>Výsledok</a:t>
            </a:r>
            <a:r>
              <a:rPr lang="en-US" dirty="0"/>
              <a:t>: </a:t>
            </a:r>
            <a:r>
              <a:rPr lang="en-US" dirty="0" err="1"/>
              <a:t>Presnosť</a:t>
            </a:r>
            <a:r>
              <a:rPr lang="en-US" dirty="0"/>
              <a:t> </a:t>
            </a:r>
            <a:r>
              <a:rPr lang="en-US" dirty="0" err="1"/>
              <a:t>extrakcie</a:t>
            </a:r>
            <a:r>
              <a:rPr lang="en-US" dirty="0"/>
              <a:t> </a:t>
            </a:r>
            <a:r>
              <a:rPr lang="en-US" dirty="0" err="1"/>
              <a:t>až</a:t>
            </a:r>
            <a:r>
              <a:rPr lang="en-US" dirty="0"/>
              <a:t> 98,8 %.</a:t>
            </a:r>
          </a:p>
        </p:txBody>
      </p:sp>
    </p:spTree>
    <p:extLst>
      <p:ext uri="{BB962C8B-B14F-4D97-AF65-F5344CB8AC3E}">
        <p14:creationId xmlns:p14="http://schemas.microsoft.com/office/powerpoint/2010/main" val="3178521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4EE40-F9F3-5423-B76A-ADE78BFE0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Hybridný</a:t>
            </a:r>
            <a:r>
              <a:rPr lang="en-US" b="1" dirty="0"/>
              <a:t> </a:t>
            </a:r>
            <a:r>
              <a:rPr lang="en-US" b="1" dirty="0" err="1"/>
              <a:t>GraphRAG</a:t>
            </a:r>
            <a:r>
              <a:rPr lang="en-US" b="1" dirty="0"/>
              <a:t> </a:t>
            </a:r>
            <a:r>
              <a:rPr lang="en-US" b="1" dirty="0" err="1"/>
              <a:t>dopyt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07872-5524-F1BC-283B-B1C8BEE889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Preformulovanie</a:t>
            </a:r>
            <a:r>
              <a:rPr lang="en-US" dirty="0"/>
              <a:t>: LLM </a:t>
            </a:r>
            <a:r>
              <a:rPr lang="en-US" dirty="0" err="1"/>
              <a:t>vytvorí</a:t>
            </a:r>
            <a:r>
              <a:rPr lang="en-US" dirty="0"/>
              <a:t> 3–5 </a:t>
            </a:r>
            <a:r>
              <a:rPr lang="en-US" dirty="0" err="1"/>
              <a:t>variácií</a:t>
            </a:r>
            <a:r>
              <a:rPr lang="en-US" dirty="0"/>
              <a:t> </a:t>
            </a:r>
            <a:r>
              <a:rPr lang="en-US" dirty="0" err="1"/>
              <a:t>otázky</a:t>
            </a:r>
            <a:r>
              <a:rPr lang="en-US" dirty="0"/>
              <a:t> pre </a:t>
            </a:r>
            <a:r>
              <a:rPr lang="en-US" dirty="0" err="1"/>
              <a:t>širší</a:t>
            </a:r>
            <a:r>
              <a:rPr lang="en-US" dirty="0"/>
              <a:t> </a:t>
            </a:r>
            <a:r>
              <a:rPr lang="en-US" dirty="0" err="1"/>
              <a:t>záber</a:t>
            </a:r>
            <a:r>
              <a:rPr lang="en-US" dirty="0"/>
              <a:t>.</a:t>
            </a:r>
          </a:p>
          <a:p>
            <a:r>
              <a:rPr lang="en-US" dirty="0" err="1"/>
              <a:t>Iteratívne</a:t>
            </a:r>
            <a:r>
              <a:rPr lang="en-US" dirty="0"/>
              <a:t> </a:t>
            </a:r>
            <a:r>
              <a:rPr lang="en-US" dirty="0" err="1"/>
              <a:t>dopytovanie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Extrakcia</a:t>
            </a:r>
            <a:r>
              <a:rPr lang="en-US" dirty="0"/>
              <a:t> </a:t>
            </a:r>
            <a:r>
              <a:rPr lang="en-US" dirty="0" err="1"/>
              <a:t>entít</a:t>
            </a:r>
            <a:r>
              <a:rPr lang="en-US" dirty="0"/>
              <a:t> z </a:t>
            </a:r>
            <a:r>
              <a:rPr lang="en-US" dirty="0" err="1"/>
              <a:t>otázky</a:t>
            </a:r>
            <a:r>
              <a:rPr lang="en-US" dirty="0"/>
              <a:t>.</a:t>
            </a:r>
          </a:p>
          <a:p>
            <a:pPr lvl="1"/>
            <a:r>
              <a:rPr lang="en-US" dirty="0" err="1"/>
              <a:t>Vyhľadanie</a:t>
            </a:r>
            <a:r>
              <a:rPr lang="en-US" dirty="0"/>
              <a:t> </a:t>
            </a:r>
            <a:r>
              <a:rPr lang="en-US" dirty="0" err="1"/>
              <a:t>podobných</a:t>
            </a:r>
            <a:r>
              <a:rPr lang="en-US" dirty="0"/>
              <a:t> </a:t>
            </a:r>
            <a:r>
              <a:rPr lang="en-US" dirty="0" err="1"/>
              <a:t>uzlov</a:t>
            </a:r>
            <a:r>
              <a:rPr lang="en-US" dirty="0"/>
              <a:t> </a:t>
            </a:r>
            <a:r>
              <a:rPr lang="en-US" dirty="0" err="1"/>
              <a:t>vo</a:t>
            </a:r>
            <a:r>
              <a:rPr lang="en-US" dirty="0"/>
              <a:t> </a:t>
            </a:r>
            <a:r>
              <a:rPr lang="en-US" dirty="0" err="1"/>
              <a:t>vektorovej</a:t>
            </a:r>
            <a:r>
              <a:rPr lang="en-US" dirty="0"/>
              <a:t> </a:t>
            </a:r>
            <a:r>
              <a:rPr lang="en-US" dirty="0" err="1"/>
              <a:t>databáze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Cypher Agent: LLM </a:t>
            </a:r>
            <a:r>
              <a:rPr lang="en-US" dirty="0" err="1"/>
              <a:t>generuje</a:t>
            </a:r>
            <a:r>
              <a:rPr lang="en-US" dirty="0"/>
              <a:t> a </a:t>
            </a:r>
            <a:r>
              <a:rPr lang="en-US" dirty="0" err="1"/>
              <a:t>spúšťa</a:t>
            </a:r>
            <a:r>
              <a:rPr lang="en-US" dirty="0"/>
              <a:t> </a:t>
            </a:r>
            <a:r>
              <a:rPr lang="en-US" dirty="0" err="1"/>
              <a:t>databázové</a:t>
            </a:r>
            <a:r>
              <a:rPr lang="en-US" dirty="0"/>
              <a:t> </a:t>
            </a:r>
            <a:r>
              <a:rPr lang="en-US" dirty="0" err="1"/>
              <a:t>dopyty</a:t>
            </a:r>
            <a:r>
              <a:rPr lang="en-US" dirty="0"/>
              <a:t> v </a:t>
            </a:r>
            <a:r>
              <a:rPr lang="en-US" dirty="0" err="1"/>
              <a:t>slučke</a:t>
            </a:r>
            <a:r>
              <a:rPr lang="en-US" dirty="0"/>
              <a:t> (tool loop).</a:t>
            </a:r>
          </a:p>
          <a:p>
            <a:r>
              <a:rPr lang="en-US" b="1" dirty="0"/>
              <a:t>Multi-hop Reasoning</a:t>
            </a:r>
            <a:r>
              <a:rPr lang="en-US" dirty="0"/>
              <a:t>: </a:t>
            </a:r>
            <a:r>
              <a:rPr lang="en-US" dirty="0" err="1"/>
              <a:t>Hľadanie</a:t>
            </a:r>
            <a:r>
              <a:rPr lang="en-US" dirty="0"/>
              <a:t> </a:t>
            </a:r>
            <a:r>
              <a:rPr lang="en-US" dirty="0" err="1"/>
              <a:t>súvislostí</a:t>
            </a:r>
            <a:r>
              <a:rPr lang="en-US" dirty="0"/>
              <a:t> "za </a:t>
            </a:r>
            <a:r>
              <a:rPr lang="en-US" dirty="0" err="1"/>
              <a:t>roh</a:t>
            </a:r>
            <a:r>
              <a:rPr lang="en-US" dirty="0"/>
              <a:t>" (</a:t>
            </a:r>
            <a:r>
              <a:rPr lang="en-US" dirty="0" err="1"/>
              <a:t>napr</a:t>
            </a:r>
            <a:r>
              <a:rPr lang="en-US" dirty="0"/>
              <a:t>. Osoba -&gt; </a:t>
            </a:r>
            <a:r>
              <a:rPr lang="en-US" dirty="0" err="1"/>
              <a:t>Zmluva</a:t>
            </a:r>
            <a:r>
              <a:rPr lang="en-US" dirty="0"/>
              <a:t> -&gt; </a:t>
            </a:r>
            <a:r>
              <a:rPr lang="en-US" dirty="0" err="1"/>
              <a:t>Zákon</a:t>
            </a:r>
            <a:r>
              <a:rPr lang="en-US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63352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D5F4E-DF6D-720F-D857-F780D7209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Overenie</a:t>
            </a:r>
            <a:r>
              <a:rPr lang="en-US" b="1" dirty="0"/>
              <a:t> a </a:t>
            </a:r>
            <a:r>
              <a:rPr lang="en-US" b="1" dirty="0" err="1"/>
              <a:t>Generovanie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480C0-7F64-6E89-9A43-3CB10524E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Kontrolný</a:t>
            </a:r>
            <a:r>
              <a:rPr lang="en-US" b="1" dirty="0"/>
              <a:t> </a:t>
            </a:r>
            <a:r>
              <a:rPr lang="en-US" b="1" dirty="0" err="1"/>
              <a:t>mechanizmus</a:t>
            </a:r>
            <a:r>
              <a:rPr lang="en-US" dirty="0"/>
              <a:t>: LLM </a:t>
            </a:r>
            <a:r>
              <a:rPr lang="en-US" dirty="0" err="1"/>
              <a:t>posúdi</a:t>
            </a:r>
            <a:r>
              <a:rPr lang="en-US" dirty="0"/>
              <a:t>, </a:t>
            </a:r>
            <a:r>
              <a:rPr lang="en-US" dirty="0" err="1"/>
              <a:t>či</a:t>
            </a:r>
            <a:r>
              <a:rPr lang="en-US" dirty="0"/>
              <a:t> </a:t>
            </a:r>
            <a:r>
              <a:rPr lang="en-US" dirty="0" err="1"/>
              <a:t>sú</a:t>
            </a:r>
            <a:r>
              <a:rPr lang="en-US" dirty="0"/>
              <a:t> </a:t>
            </a:r>
            <a:r>
              <a:rPr lang="en-US" dirty="0" err="1"/>
              <a:t>dáta</a:t>
            </a:r>
            <a:r>
              <a:rPr lang="en-US" dirty="0"/>
              <a:t> z </a:t>
            </a:r>
            <a:r>
              <a:rPr lang="en-US" dirty="0" err="1"/>
              <a:t>grafu</a:t>
            </a:r>
            <a:r>
              <a:rPr lang="en-US" dirty="0"/>
              <a:t> </a:t>
            </a:r>
            <a:r>
              <a:rPr lang="en-US" dirty="0" err="1"/>
              <a:t>dostatočné</a:t>
            </a:r>
            <a:r>
              <a:rPr lang="en-US" dirty="0"/>
              <a:t>.</a:t>
            </a:r>
          </a:p>
          <a:p>
            <a:r>
              <a:rPr lang="en-US" dirty="0" err="1"/>
              <a:t>Kontextová</a:t>
            </a:r>
            <a:r>
              <a:rPr lang="en-US" dirty="0"/>
              <a:t> </a:t>
            </a:r>
            <a:r>
              <a:rPr lang="en-US" dirty="0" err="1"/>
              <a:t>syntéza</a:t>
            </a:r>
            <a:r>
              <a:rPr lang="en-US" dirty="0"/>
              <a:t>. </a:t>
            </a:r>
            <a:r>
              <a:rPr lang="en-US" dirty="0" err="1"/>
              <a:t>Odpoveď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skladá</a:t>
            </a:r>
            <a:r>
              <a:rPr lang="en-US" dirty="0"/>
              <a:t> z:</a:t>
            </a:r>
          </a:p>
          <a:p>
            <a:pPr lvl="1"/>
            <a:r>
              <a:rPr lang="en-US" dirty="0" err="1"/>
              <a:t>Znalostných</a:t>
            </a:r>
            <a:r>
              <a:rPr lang="en-US" dirty="0"/>
              <a:t> </a:t>
            </a:r>
            <a:r>
              <a:rPr lang="en-US" dirty="0" err="1"/>
              <a:t>podgrafov</a:t>
            </a:r>
            <a:r>
              <a:rPr lang="en-US" dirty="0"/>
              <a:t> (</a:t>
            </a:r>
            <a:r>
              <a:rPr lang="en-US" dirty="0" err="1"/>
              <a:t>štruktúrované</a:t>
            </a:r>
            <a:r>
              <a:rPr lang="en-US" dirty="0"/>
              <a:t> </a:t>
            </a:r>
            <a:r>
              <a:rPr lang="en-US" dirty="0" err="1"/>
              <a:t>dáta</a:t>
            </a:r>
            <a:r>
              <a:rPr lang="en-US" dirty="0"/>
              <a:t>).</a:t>
            </a:r>
          </a:p>
          <a:p>
            <a:pPr lvl="1"/>
            <a:r>
              <a:rPr lang="en-US" dirty="0" err="1"/>
              <a:t>Textových</a:t>
            </a:r>
            <a:r>
              <a:rPr lang="en-US" dirty="0"/>
              <a:t> </a:t>
            </a:r>
            <a:r>
              <a:rPr lang="en-US" dirty="0" err="1"/>
              <a:t>chunkov</a:t>
            </a:r>
            <a:r>
              <a:rPr lang="en-US" dirty="0"/>
              <a:t> (</a:t>
            </a:r>
            <a:r>
              <a:rPr lang="en-US" dirty="0" err="1"/>
              <a:t>sémantický</a:t>
            </a:r>
            <a:r>
              <a:rPr lang="en-US" dirty="0"/>
              <a:t> </a:t>
            </a:r>
            <a:r>
              <a:rPr lang="en-US" dirty="0" err="1"/>
              <a:t>kontext</a:t>
            </a:r>
            <a:r>
              <a:rPr lang="en-US" dirty="0"/>
              <a:t>).</a:t>
            </a:r>
          </a:p>
          <a:p>
            <a:pPr lvl="1"/>
            <a:r>
              <a:rPr lang="en-US" dirty="0" err="1"/>
              <a:t>Pôvodnej</a:t>
            </a:r>
            <a:r>
              <a:rPr lang="en-US" dirty="0"/>
              <a:t> a </a:t>
            </a:r>
            <a:r>
              <a:rPr lang="en-US" dirty="0" err="1"/>
              <a:t>preformulovanej</a:t>
            </a:r>
            <a:r>
              <a:rPr lang="en-US" dirty="0"/>
              <a:t> </a:t>
            </a:r>
            <a:r>
              <a:rPr lang="en-US" dirty="0" err="1"/>
              <a:t>otázky</a:t>
            </a:r>
            <a:r>
              <a:rPr lang="en-US" dirty="0"/>
              <a:t>.</a:t>
            </a:r>
          </a:p>
          <a:p>
            <a:r>
              <a:rPr lang="en-US" b="1" dirty="0"/>
              <a:t>Gemini Flash</a:t>
            </a:r>
            <a:r>
              <a:rPr lang="en-US" dirty="0"/>
              <a:t>: </a:t>
            </a:r>
            <a:r>
              <a:rPr lang="en-US" dirty="0" err="1"/>
              <a:t>Vďaka</a:t>
            </a:r>
            <a:r>
              <a:rPr lang="en-US" dirty="0"/>
              <a:t> </a:t>
            </a:r>
            <a:r>
              <a:rPr lang="en-US" dirty="0" err="1"/>
              <a:t>veľkému</a:t>
            </a:r>
            <a:r>
              <a:rPr lang="en-US" dirty="0"/>
              <a:t> </a:t>
            </a:r>
            <a:r>
              <a:rPr lang="en-US" dirty="0" err="1"/>
              <a:t>oknu</a:t>
            </a:r>
            <a:r>
              <a:rPr lang="en-US" dirty="0"/>
              <a:t> </a:t>
            </a:r>
            <a:r>
              <a:rPr lang="en-US" dirty="0" err="1"/>
              <a:t>spracuje</a:t>
            </a:r>
            <a:r>
              <a:rPr lang="en-US" dirty="0"/>
              <a:t> </a:t>
            </a:r>
            <a:r>
              <a:rPr lang="en-US" dirty="0" err="1"/>
              <a:t>všetky</a:t>
            </a:r>
            <a:r>
              <a:rPr lang="en-US" dirty="0"/>
              <a:t> </a:t>
            </a:r>
            <a:r>
              <a:rPr lang="en-US" dirty="0" err="1"/>
              <a:t>vstupy</a:t>
            </a:r>
            <a:r>
              <a:rPr lang="en-US" dirty="0"/>
              <a:t> do </a:t>
            </a:r>
            <a:r>
              <a:rPr lang="en-US" dirty="0" err="1"/>
              <a:t>finálnej</a:t>
            </a:r>
            <a:r>
              <a:rPr lang="en-US" dirty="0"/>
              <a:t> </a:t>
            </a:r>
            <a:r>
              <a:rPr lang="en-US" dirty="0" err="1"/>
              <a:t>právnej</a:t>
            </a:r>
            <a:r>
              <a:rPr lang="en-US" dirty="0"/>
              <a:t> </a:t>
            </a:r>
            <a:r>
              <a:rPr lang="en-US" dirty="0" err="1"/>
              <a:t>analýzy</a:t>
            </a:r>
            <a:r>
              <a:rPr lang="en-US" dirty="0"/>
              <a:t> bez </a:t>
            </a:r>
            <a:r>
              <a:rPr lang="en-US" dirty="0" err="1"/>
              <a:t>straty</a:t>
            </a:r>
            <a:r>
              <a:rPr lang="en-US" dirty="0"/>
              <a:t> </a:t>
            </a:r>
            <a:r>
              <a:rPr lang="en-US" dirty="0" err="1"/>
              <a:t>informácií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3537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577A-A137-415D-1BC7-9EA59361F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Validácia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literárnom</a:t>
            </a:r>
            <a:r>
              <a:rPr lang="en-US" b="1" dirty="0"/>
              <a:t> </a:t>
            </a:r>
            <a:r>
              <a:rPr lang="en-US" b="1" dirty="0" err="1"/>
              <a:t>diele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01B99-2B40-E752-B3E4-3A8F7A41C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Prečo</a:t>
            </a:r>
            <a:r>
              <a:rPr lang="en-US" dirty="0"/>
              <a:t>: </a:t>
            </a:r>
            <a:r>
              <a:rPr lang="en-US" dirty="0" err="1"/>
              <a:t>Jednoduchšie</a:t>
            </a:r>
            <a:r>
              <a:rPr lang="en-US" dirty="0"/>
              <a:t> </a:t>
            </a:r>
            <a:r>
              <a:rPr lang="en-US" dirty="0" err="1"/>
              <a:t>overenie</a:t>
            </a:r>
            <a:r>
              <a:rPr lang="en-US" dirty="0"/>
              <a:t> </a:t>
            </a:r>
            <a:r>
              <a:rPr lang="en-US" dirty="0" err="1"/>
              <a:t>faktov</a:t>
            </a:r>
            <a:r>
              <a:rPr lang="en-US" dirty="0"/>
              <a:t> a </a:t>
            </a:r>
            <a:r>
              <a:rPr lang="en-US" dirty="0" err="1"/>
              <a:t>komplexných</a:t>
            </a:r>
            <a:r>
              <a:rPr lang="en-US" dirty="0"/>
              <a:t> </a:t>
            </a:r>
            <a:r>
              <a:rPr lang="en-US" dirty="0" err="1"/>
              <a:t>vzťahov</a:t>
            </a:r>
            <a:r>
              <a:rPr lang="en-US" dirty="0"/>
              <a:t>.</a:t>
            </a:r>
          </a:p>
          <a:p>
            <a:r>
              <a:rPr lang="en-US" b="1" dirty="0" err="1"/>
              <a:t>Efektivita</a:t>
            </a:r>
            <a:r>
              <a:rPr lang="en-US" dirty="0"/>
              <a:t>: </a:t>
            </a:r>
            <a:r>
              <a:rPr lang="en-US" dirty="0" err="1"/>
              <a:t>Asynchrónne</a:t>
            </a:r>
            <a:r>
              <a:rPr lang="en-US" dirty="0"/>
              <a:t> </a:t>
            </a:r>
            <a:r>
              <a:rPr lang="en-US" dirty="0" err="1"/>
              <a:t>spracovanie</a:t>
            </a:r>
            <a:r>
              <a:rPr lang="en-US" dirty="0"/>
              <a:t> </a:t>
            </a:r>
            <a:r>
              <a:rPr lang="en-US" dirty="0" err="1"/>
              <a:t>znížilo</a:t>
            </a:r>
            <a:r>
              <a:rPr lang="en-US" dirty="0"/>
              <a:t> </a:t>
            </a:r>
            <a:r>
              <a:rPr lang="en-US" dirty="0" err="1"/>
              <a:t>čas</a:t>
            </a:r>
            <a:r>
              <a:rPr lang="en-US" dirty="0"/>
              <a:t> z 12 min </a:t>
            </a:r>
            <a:r>
              <a:rPr lang="en-US" dirty="0" err="1"/>
              <a:t>na</a:t>
            </a:r>
            <a:r>
              <a:rPr lang="en-US" dirty="0"/>
              <a:t> 2 min (6x </a:t>
            </a:r>
            <a:r>
              <a:rPr lang="en-US" dirty="0" err="1"/>
              <a:t>zrýchlenie</a:t>
            </a:r>
            <a:r>
              <a:rPr lang="en-US" dirty="0"/>
              <a:t>).</a:t>
            </a:r>
          </a:p>
          <a:p>
            <a:r>
              <a:rPr lang="en-US" b="1" dirty="0" err="1"/>
              <a:t>Presnosť</a:t>
            </a:r>
            <a:r>
              <a:rPr lang="en-US" dirty="0"/>
              <a:t>: </a:t>
            </a:r>
            <a:r>
              <a:rPr lang="en-US" dirty="0" err="1"/>
              <a:t>Napriek</a:t>
            </a:r>
            <a:r>
              <a:rPr lang="en-US" dirty="0"/>
              <a:t> </a:t>
            </a:r>
            <a:r>
              <a:rPr lang="en-US" dirty="0" err="1"/>
              <a:t>nekonzistentnosti</a:t>
            </a:r>
            <a:r>
              <a:rPr lang="en-US" dirty="0"/>
              <a:t> v </a:t>
            </a:r>
            <a:r>
              <a:rPr lang="en-US" dirty="0" err="1"/>
              <a:t>otvorenej</a:t>
            </a:r>
            <a:r>
              <a:rPr lang="en-US" dirty="0"/>
              <a:t> </a:t>
            </a:r>
            <a:r>
              <a:rPr lang="en-US" dirty="0" err="1"/>
              <a:t>doméne</a:t>
            </a:r>
            <a:r>
              <a:rPr lang="en-US" dirty="0"/>
              <a:t> (5 </a:t>
            </a:r>
            <a:r>
              <a:rPr lang="en-US" dirty="0" err="1"/>
              <a:t>rôznych</a:t>
            </a:r>
            <a:r>
              <a:rPr lang="en-US" dirty="0"/>
              <a:t> </a:t>
            </a:r>
            <a:r>
              <a:rPr lang="en-US" dirty="0" err="1"/>
              <a:t>vzťahov</a:t>
            </a:r>
            <a:r>
              <a:rPr lang="en-US" dirty="0"/>
              <a:t> pre "</a:t>
            </a:r>
            <a:r>
              <a:rPr lang="en-US" dirty="0" err="1"/>
              <a:t>lásku</a:t>
            </a:r>
            <a:r>
              <a:rPr lang="en-US" dirty="0"/>
              <a:t>") </a:t>
            </a:r>
            <a:r>
              <a:rPr lang="en-US" dirty="0" err="1"/>
              <a:t>systém</a:t>
            </a:r>
            <a:r>
              <a:rPr lang="en-US" dirty="0"/>
              <a:t> </a:t>
            </a:r>
            <a:r>
              <a:rPr lang="en-US" dirty="0" err="1"/>
              <a:t>vďaka</a:t>
            </a:r>
            <a:r>
              <a:rPr lang="en-US" dirty="0"/>
              <a:t> </a:t>
            </a:r>
            <a:r>
              <a:rPr lang="en-US" dirty="0" err="1"/>
              <a:t>grafu</a:t>
            </a:r>
            <a:r>
              <a:rPr lang="en-US" dirty="0"/>
              <a:t> </a:t>
            </a:r>
            <a:r>
              <a:rPr lang="en-US" dirty="0" err="1"/>
              <a:t>vždy</a:t>
            </a:r>
            <a:r>
              <a:rPr lang="en-US" dirty="0"/>
              <a:t> </a:t>
            </a:r>
            <a:r>
              <a:rPr lang="en-US" dirty="0" err="1"/>
              <a:t>našiel</a:t>
            </a:r>
            <a:r>
              <a:rPr lang="en-US" dirty="0"/>
              <a:t> </a:t>
            </a:r>
            <a:r>
              <a:rPr lang="en-US" dirty="0" err="1"/>
              <a:t>správnu</a:t>
            </a:r>
            <a:r>
              <a:rPr lang="en-US" dirty="0"/>
              <a:t> </a:t>
            </a:r>
            <a:r>
              <a:rPr lang="en-US" dirty="0" err="1"/>
              <a:t>odpoveď</a:t>
            </a:r>
            <a:r>
              <a:rPr lang="en-US" dirty="0"/>
              <a:t>.</a:t>
            </a:r>
          </a:p>
          <a:p>
            <a:r>
              <a:rPr lang="en-US" b="1" dirty="0" err="1"/>
              <a:t>Aktuálny</a:t>
            </a:r>
            <a:r>
              <a:rPr lang="en-US" b="1" dirty="0"/>
              <a:t> </a:t>
            </a:r>
            <a:r>
              <a:rPr lang="en-US" b="1" dirty="0" err="1"/>
              <a:t>stav</a:t>
            </a:r>
            <a:r>
              <a:rPr lang="en-US" dirty="0"/>
              <a:t>: </a:t>
            </a:r>
            <a:r>
              <a:rPr lang="en-US" dirty="0" err="1"/>
              <a:t>Prechod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reálne</a:t>
            </a:r>
            <a:r>
              <a:rPr lang="en-US" dirty="0"/>
              <a:t> </a:t>
            </a:r>
            <a:r>
              <a:rPr lang="en-US" dirty="0" err="1"/>
              <a:t>dáta</a:t>
            </a:r>
            <a:r>
              <a:rPr lang="en-US" dirty="0"/>
              <a:t> zo </a:t>
            </a:r>
            <a:r>
              <a:rPr lang="en-US" dirty="0" err="1"/>
              <a:t>Slov</a:t>
            </a:r>
            <a:r>
              <a:rPr lang="en-US" dirty="0"/>
              <a:t>-Lex.</a:t>
            </a:r>
          </a:p>
        </p:txBody>
      </p:sp>
    </p:spTree>
    <p:extLst>
      <p:ext uri="{BB962C8B-B14F-4D97-AF65-F5344CB8AC3E}">
        <p14:creationId xmlns:p14="http://schemas.microsoft.com/office/powerpoint/2010/main" val="3560601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8A3C7-F223-AA8E-EE63-F48CDCB79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Plán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letný</a:t>
            </a:r>
            <a:r>
              <a:rPr lang="en-US" b="1" dirty="0"/>
              <a:t> semester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8E4B7-9F38-8AFD-A7E7-54C998F93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Optimalizácia</a:t>
            </a:r>
            <a:r>
              <a:rPr lang="en-US" dirty="0"/>
              <a:t>: </a:t>
            </a:r>
            <a:r>
              <a:rPr lang="en-US" dirty="0" err="1"/>
              <a:t>Ladenie</a:t>
            </a:r>
            <a:r>
              <a:rPr lang="en-US" dirty="0"/>
              <a:t> </a:t>
            </a:r>
            <a:r>
              <a:rPr lang="en-US" dirty="0" err="1"/>
              <a:t>promptov</a:t>
            </a:r>
            <a:r>
              <a:rPr lang="en-US" dirty="0"/>
              <a:t> pre </a:t>
            </a:r>
            <a:r>
              <a:rPr lang="en-US" dirty="0" err="1"/>
              <a:t>rýchlejšie</a:t>
            </a:r>
            <a:r>
              <a:rPr lang="en-US" dirty="0"/>
              <a:t> multi-hop </a:t>
            </a:r>
            <a:r>
              <a:rPr lang="en-US" dirty="0" err="1"/>
              <a:t>hľadanie</a:t>
            </a:r>
            <a:r>
              <a:rPr lang="en-US" dirty="0"/>
              <a:t>.</a:t>
            </a:r>
          </a:p>
          <a:p>
            <a:r>
              <a:rPr lang="en-US" b="1" dirty="0" err="1"/>
              <a:t>Webová</a:t>
            </a:r>
            <a:r>
              <a:rPr lang="en-US" b="1" dirty="0"/>
              <a:t> </a:t>
            </a:r>
            <a:r>
              <a:rPr lang="en-US" b="1" dirty="0" err="1"/>
              <a:t>aplikácia</a:t>
            </a:r>
            <a:r>
              <a:rPr lang="en-US" dirty="0"/>
              <a:t>: </a:t>
            </a:r>
            <a:r>
              <a:rPr lang="en-US" dirty="0" err="1"/>
              <a:t>Používateľské</a:t>
            </a:r>
            <a:r>
              <a:rPr lang="en-US" dirty="0"/>
              <a:t> </a:t>
            </a:r>
            <a:r>
              <a:rPr lang="en-US" dirty="0" err="1"/>
              <a:t>rozhranie</a:t>
            </a:r>
            <a:r>
              <a:rPr lang="en-US" dirty="0"/>
              <a:t> pre </a:t>
            </a:r>
            <a:r>
              <a:rPr lang="en-US" dirty="0" err="1"/>
              <a:t>vkladanie</a:t>
            </a:r>
            <a:r>
              <a:rPr lang="en-US" dirty="0"/>
              <a:t> </a:t>
            </a:r>
            <a:r>
              <a:rPr lang="en-US" dirty="0" err="1"/>
              <a:t>otázok</a:t>
            </a:r>
            <a:r>
              <a:rPr lang="en-US" dirty="0"/>
              <a:t> a </a:t>
            </a:r>
            <a:r>
              <a:rPr lang="en-US" dirty="0" err="1"/>
              <a:t>vizualizáciu</a:t>
            </a:r>
            <a:r>
              <a:rPr lang="en-US" dirty="0"/>
              <a:t> </a:t>
            </a:r>
            <a:r>
              <a:rPr lang="en-US" dirty="0" err="1"/>
              <a:t>nájdených</a:t>
            </a:r>
            <a:r>
              <a:rPr lang="en-US" dirty="0"/>
              <a:t> </a:t>
            </a:r>
            <a:r>
              <a:rPr lang="en-US" dirty="0" err="1"/>
              <a:t>grafov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138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7052B0-35C3-E1C7-23C9-64241666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 err="1"/>
              <a:t>Ďakujem</a:t>
            </a:r>
            <a:r>
              <a:rPr lang="en-US" dirty="0"/>
              <a:t> za </a:t>
            </a:r>
            <a:r>
              <a:rPr lang="en-US" dirty="0" err="1"/>
              <a:t>pozornosť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1617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460</Words>
  <Application>Microsoft Macintosh PowerPoint</Application>
  <PresentationFormat>Widescreen</PresentationFormat>
  <Paragraphs>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CMU Serif</vt:lpstr>
      <vt:lpstr>CMU Serif Roman</vt:lpstr>
      <vt:lpstr>CMU Typewriter Text</vt:lpstr>
      <vt:lpstr>Office Theme</vt:lpstr>
      <vt:lpstr>Využitie LLM pre analýzu právnych dokumentov</vt:lpstr>
      <vt:lpstr>Úvod a motivácia</vt:lpstr>
      <vt:lpstr>Systémový prehľad</vt:lpstr>
      <vt:lpstr>Spracovanie dokumentu I.</vt:lpstr>
      <vt:lpstr>Spracovanie dokumentu II.</vt:lpstr>
      <vt:lpstr>Hybridný GraphRAG dopyt</vt:lpstr>
      <vt:lpstr>Overenie a Generovanie</vt:lpstr>
      <vt:lpstr>Validácia na literárnom diele</vt:lpstr>
      <vt:lpstr>Plán na letný semester</vt:lpstr>
      <vt:lpstr>Ďakujem za pozornosť.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Bagín</dc:creator>
  <cp:lastModifiedBy>Samuel Bagín</cp:lastModifiedBy>
  <cp:revision>5</cp:revision>
  <dcterms:created xsi:type="dcterms:W3CDTF">2026-02-10T23:27:55Z</dcterms:created>
  <dcterms:modified xsi:type="dcterms:W3CDTF">2026-02-11T00:28:03Z</dcterms:modified>
</cp:coreProperties>
</file>