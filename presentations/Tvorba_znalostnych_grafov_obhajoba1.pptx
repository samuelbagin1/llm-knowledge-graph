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82" r:id="rId8"/>
    <p:sldId id="262" r:id="rId9"/>
    <p:sldId id="283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80" r:id="rId25"/>
    <p:sldId id="284" r:id="rId26"/>
    <p:sldId id="285" r:id="rId27"/>
    <p:sldId id="286" r:id="rId28"/>
    <p:sldId id="281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89"/>
    <p:restoredTop sz="94610"/>
  </p:normalViewPr>
  <p:slideViewPr>
    <p:cSldViewPr snapToGrid="0" snapToObjects="1">
      <p:cViewPr>
        <p:scale>
          <a:sx n="225" d="100"/>
          <a:sy n="225" d="100"/>
        </p:scale>
        <p:origin x="2208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1247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B0217-67A8-49B4-D741-D3E6D9E50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778AF4-65F3-C34B-829A-70D5052BA9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D82BAE-042A-2F6D-7F09-1FB309AC1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24FFE-4DEC-EFAC-4129-2F73916E3A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7458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E4944-3F6E-1455-D622-E259D8214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77A05F-BC9D-2A86-5110-9C774BCAA8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F5315F-8FD3-1E5A-1B11-6BB4545BB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7B81C-408D-9BCE-A8C4-0E131918EB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615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4C627-76A3-329C-C4AE-690267DB8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09E586-A183-1C7E-E6BE-46700FDC19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E2B143-E8EB-4BCF-F463-6E61BAA1B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8948C-8237-B9D9-2CF1-FE3EBDB3E8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4354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6446C-9C8E-1E17-768E-A9ED008B2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716FE0-48AF-8CD6-4F4D-8E26169959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AFF539-61A8-7325-49B2-2A5A82C06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91BCB-F1BC-2468-B81B-230F4DAB3B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1884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A9CC2-4904-5BC4-1FF9-B2FAA6511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01530F-023B-6B5E-DB2A-95C41BD4E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43DDB8-58CD-B04D-B8AD-F84B389283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8D401-AF69-7A5C-30D6-F00D9D9C7C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5962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601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95959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Slovenská technická univerzita v Bratislave · FEI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Tvorba znalostných grafov pomocou AI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0" y="3456432"/>
            <a:ext cx="27432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639312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Samuel Bagín</a:t>
            </a:r>
            <a:endParaRPr lang="en-US" sz="17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rgbClr val="595959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Vedúci práce: Ing. Marek Vančo, PhD.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4526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Bakalárska práca · 2026</a:t>
            </a:r>
            <a:endParaRPr lang="en-US" sz="12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9F47B8-CADF-006B-98AB-1B32D2F92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49" y="4729402"/>
            <a:ext cx="1003528" cy="3699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Čo je to znalostný graf?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176354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Grafová reprezentácia údajov: uzly sú entity, hrany zachytávajú vzťahy medzi nimi.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Fakty o reálnom svete v strojovo spracovateľnej podobe.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Vzťah modelovaný ako trojica (eₕ, r, eₜ) — orientovaná hrana eₕ →ʳ eₜ.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Najznámejšie grafy: DBpedia, Wikidata, YAGO, Freebase.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2918889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Formálna definícia (property graph)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3220641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G = (V, E, L, P, U, e, l, p)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3610863"/>
            <a:ext cx="5420552" cy="1051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50" b="1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V, E</a:t>
            </a:r>
            <a:r>
              <a:rPr lang="en-US" sz="1150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</a:t>
            </a:r>
            <a:r>
              <a:rPr lang="en-US" sz="11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uzly a hrany   </a:t>
            </a:r>
            <a:r>
              <a:rPr lang="en-US" sz="1150" b="1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L</a:t>
            </a:r>
            <a:r>
              <a:rPr lang="en-US" sz="11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typy   </a:t>
            </a:r>
            <a:r>
              <a:rPr lang="en-US" sz="1150" b="1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P, U</a:t>
            </a:r>
            <a:r>
              <a:rPr lang="en-US" sz="1150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mená</a:t>
            </a:r>
            <a:r>
              <a:rPr lang="en-US" sz="11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(</a:t>
            </a:r>
            <a:r>
              <a:rPr lang="en-US" sz="115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kľúče</a:t>
            </a:r>
            <a:r>
              <a:rPr lang="en-US" sz="11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) a hodnoty vlastností
</a:t>
            </a:r>
            <a:r>
              <a:rPr lang="en-US" sz="1150" b="1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e</a:t>
            </a:r>
            <a:r>
              <a:rPr lang="en-US" sz="115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: </a:t>
            </a:r>
            <a:r>
              <a:rPr lang="en-US" sz="12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E →V ×V</a:t>
            </a:r>
            <a:r>
              <a:rPr lang="en-US" sz="1000" i="1" dirty="0">
                <a:solidFill>
                  <a:srgbClr val="0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1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priradí hranu </a:t>
            </a:r>
            <a:r>
              <a:rPr lang="en-US" sz="115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dvojici</a:t>
            </a:r>
            <a:r>
              <a:rPr lang="en-US" sz="11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</a:t>
            </a:r>
            <a:r>
              <a:rPr lang="en-US" sz="115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uzlov</a:t>
            </a:r>
            <a:endParaRPr lang="en-US" sz="1150" dirty="0">
              <a:solidFill>
                <a:srgbClr val="000000"/>
              </a:solidFill>
              <a:latin typeface="CMU Serif" pitchFamily="34" charset="0"/>
              <a:ea typeface="CMU Serif" pitchFamily="34" charset="-122"/>
              <a:cs typeface="CMU Serif" pitchFamily="34" charset="-120"/>
            </a:endParaRPr>
          </a:p>
          <a:p>
            <a:pPr>
              <a:lnSpc>
                <a:spcPct val="110000"/>
              </a:lnSpc>
            </a:pPr>
            <a:r>
              <a:rPr lang="en-US" sz="1150" b="1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l</a:t>
            </a:r>
            <a:r>
              <a:rPr lang="en-US" sz="115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: </a:t>
            </a:r>
            <a:r>
              <a:rPr lang="en-US" sz="12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V 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∪</a:t>
            </a:r>
            <a:r>
              <a:rPr lang="en-US" sz="12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E →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2</a:t>
            </a:r>
            <a:r>
              <a:rPr lang="en-US" sz="1200" i="1" baseline="30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L</a:t>
            </a:r>
            <a:r>
              <a:rPr lang="en-US" sz="1000" b="1" i="1" dirty="0">
                <a:solidFill>
                  <a:srgbClr val="0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1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priraďuje</a:t>
            </a:r>
            <a:r>
              <a:rPr lang="en-US" sz="11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1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uzlom</a:t>
            </a:r>
            <a:r>
              <a:rPr lang="en-US" sz="11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a </a:t>
            </a:r>
            <a:r>
              <a:rPr lang="en-US" sz="11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hranám</a:t>
            </a:r>
            <a:r>
              <a:rPr lang="en-US" sz="11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1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množinu</a:t>
            </a:r>
            <a:r>
              <a:rPr lang="en-US" sz="11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1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typov</a:t>
            </a:r>
            <a:endParaRPr lang="en-US" sz="1000" i="1" dirty="0">
              <a:solidFill>
                <a:srgbClr val="000000"/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>
              <a:lnSpc>
                <a:spcPct val="110000"/>
              </a:lnSpc>
            </a:pPr>
            <a:r>
              <a:rPr lang="en-US" sz="1150" b="1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</a:t>
            </a:r>
            <a:r>
              <a:rPr lang="en-US" sz="115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: </a:t>
            </a:r>
            <a:r>
              <a:rPr lang="en-US" sz="12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V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∪</a:t>
            </a:r>
            <a:r>
              <a:rPr lang="en-US" sz="12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E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→2</a:t>
            </a:r>
            <a:r>
              <a:rPr lang="en-US" sz="1200" i="1" baseline="30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P×U </a:t>
            </a:r>
            <a:r>
              <a:rPr lang="en-US" sz="115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priraďuje</a:t>
            </a:r>
            <a:r>
              <a:rPr lang="en-US" sz="115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15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uzlom</a:t>
            </a:r>
            <a:r>
              <a:rPr lang="en-US" sz="115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a </a:t>
            </a:r>
            <a:r>
              <a:rPr lang="en-US" sz="115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hranám</a:t>
            </a:r>
            <a:r>
              <a:rPr lang="en-US" sz="115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15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množinu</a:t>
            </a:r>
            <a:r>
              <a:rPr lang="en-US" sz="115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15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dvojíc</a:t>
            </a:r>
            <a:r>
              <a:rPr lang="en-US" sz="115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15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(</a:t>
            </a:r>
            <a:r>
              <a:rPr lang="en-US" sz="1150" i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vlastnosť</a:t>
            </a:r>
            <a:r>
              <a:rPr lang="en-US" sz="115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, </a:t>
            </a:r>
            <a:r>
              <a:rPr lang="en-US" sz="1150" i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hodnota</a:t>
            </a:r>
            <a:r>
              <a:rPr lang="en-US" sz="115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)</a:t>
            </a:r>
            <a:r>
              <a:rPr lang="en-US" sz="1150" b="1" i="1" dirty="0">
                <a:solidFill>
                  <a:srgbClr val="0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endParaRPr lang="en-US" sz="1150" i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55280" y="48646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2 / 26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1B1EA2-C4BB-E049-B22F-223A4D8B5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49" y="4729402"/>
            <a:ext cx="1003528" cy="3699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31EB284-734D-166B-9CD8-7844D2E52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931" y="2263614"/>
            <a:ext cx="3540280" cy="19140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 čom vynikajú a kde sa využívajú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258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 čom vynikajú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1655064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Integrácia rôznorodých dát z mnohých zdrojov.</a:t>
            </a:r>
            <a:endParaRPr lang="en-US" sz="1400" dirty="0"/>
          </a:p>
          <a:p>
            <a:pPr marL="0" indent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Flexibilná schéma — dáta sa môžu voľne rozvíjať.</a:t>
            </a:r>
            <a:endParaRPr lang="en-US" sz="1400" dirty="0"/>
          </a:p>
          <a:p>
            <a:pPr marL="0" indent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Navigačné operátory: rekurzívne cesty (multi-hop).</a:t>
            </a:r>
            <a:endParaRPr lang="en-US" sz="1400" dirty="0"/>
          </a:p>
          <a:p>
            <a:pPr marL="0" indent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Uzemnenie LLM → menej halucinácií.</a:t>
            </a:r>
            <a:endParaRPr lang="en-US" sz="1400" dirty="0"/>
          </a:p>
          <a:p>
            <a:pPr marL="0" indent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Cielené podgrafy namiesto veľkých textov v prompte.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892040" y="13258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Praktické využitia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92040" y="1655064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Softvérové inžinierstvo</a:t>
            </a:r>
            <a:r>
              <a:rPr lang="en-US" sz="14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— repozitár ako graf kódu.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Diagnostika porúch</a:t>
            </a:r>
            <a:r>
              <a:rPr lang="en-US" sz="14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— stroje a súčiastky.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Kybernetická bezpečnosť</a:t>
            </a:r>
            <a:r>
              <a:rPr lang="en-US" sz="14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— spravodajstvo o hrozbách.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Medicína</a:t>
            </a:r>
            <a:r>
              <a:rPr lang="en-US" sz="14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— diagnostické uvažovanie.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Financie</a:t>
            </a:r>
            <a:r>
              <a:rPr lang="en-US" sz="14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— numerické uvažovanie, </a:t>
            </a:r>
            <a:r>
              <a:rPr lang="en-US" sz="140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odporúčania</a:t>
            </a:r>
            <a:r>
              <a:rPr lang="en-US" sz="14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.</a:t>
            </a:r>
          </a:p>
        </p:txBody>
      </p:sp>
      <p:sp>
        <p:nvSpPr>
          <p:cNvPr id="7" name="Text 5"/>
          <p:cNvSpPr/>
          <p:nvPr/>
        </p:nvSpPr>
        <p:spPr>
          <a:xfrm>
            <a:off x="7955280" y="48646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3 / 26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5CB04F-2986-9EF7-4430-0FF32DA26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49" y="4729402"/>
            <a:ext cx="1003528" cy="3699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Klasické metódy extrakcie informácií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984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Information Extraction (IE): neštruktúrovaný text → trojice entita – vzťah – entita.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NER — rozpoznávanie entít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112264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Nájde a zaradí názvy do typov (Osoba, Miesto, </a:t>
            </a:r>
            <a:r>
              <a:rPr lang="en-US" sz="135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Organizácia</a:t>
            </a: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, …).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Pravidlové systémy: </a:t>
            </a:r>
            <a:r>
              <a:rPr lang="en-US" sz="1350" dirty="0">
                <a:solidFill>
                  <a:srgbClr val="000000"/>
                </a:solidFill>
                <a:latin typeface="CMU Typewriter Text" pitchFamily="34" charset="0"/>
                <a:ea typeface="CMU Typewriter Text" pitchFamily="34" charset="-122"/>
                <a:cs typeface="CMU Typewriter Text" pitchFamily="34" charset="-120"/>
              </a:rPr>
              <a:t>TextRunner, KnowItAll</a:t>
            </a: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.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Štatistické: HMM, CRF, schéma BIES.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Hlboké siete: CNN, RNN, Bi-LSTM-CRF.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800600" y="178308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RE — extrakcia vzťahov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00600" y="2112264"/>
            <a:ext cx="3886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Klasifikuje vzťah medzi nájdenými entitami.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Schématická vs. otvorená extrakcia.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Kernelové metódy, CNN / LSTM / GCN.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Distant supervision, joint NER+RE, few/zero-shot.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437083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Trend: spájať NER a RE do spoločných modelov → menej prenosu chýb medzi krokmi.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55280" y="48646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4 / 26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05AF62-FF98-3523-CD3B-3F29EAEC9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49" y="4729402"/>
            <a:ext cx="1003528" cy="3699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Medze v práve a otvorená otázka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2588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Slovenčina ako málo zastúpená doména: </a:t>
            </a:r>
            <a:r>
              <a:rPr lang="en-US" sz="14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chýbajú právne modely a datasety (LEGAL-BERT, Lawformer </a:t>
            </a:r>
            <a:r>
              <a:rPr lang="en-US" sz="140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ju</a:t>
            </a:r>
            <a:r>
              <a:rPr lang="en-US" sz="14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nepokrývajú</a:t>
            </a:r>
            <a:r>
              <a:rPr lang="en-US" sz="14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SlovakBERT</a:t>
            </a:r>
            <a:r>
              <a:rPr lang="en-US" sz="14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pre NER). </a:t>
            </a:r>
            <a:r>
              <a:rPr lang="en-US" sz="140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Špecifická</a:t>
            </a:r>
            <a:r>
              <a:rPr lang="en-US" sz="14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morfológia, diakritika a </a:t>
            </a:r>
            <a:r>
              <a:rPr lang="en-US" sz="140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terminológia</a:t>
            </a:r>
            <a:r>
              <a:rPr lang="en-US" sz="14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Právna doména: </a:t>
            </a:r>
            <a:r>
              <a:rPr lang="en-US" sz="14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konštrukcia KG z práva je málo preskúmaná — pre SK finančné právo neexistuje verejná schéma ani </a:t>
            </a:r>
            <a:r>
              <a:rPr lang="en-US" sz="140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anotovaný</a:t>
            </a:r>
            <a:r>
              <a:rPr lang="en-US" sz="14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dataset, hustá sieť krížových odkazov.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Hybridné spracovanie: </a:t>
            </a:r>
            <a:r>
              <a:rPr lang="en-US" sz="14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sadzby a limity sú v tabuľkách, vzorce ako grafika — pri prevode na čistý text sa tabuľky rozsypú a vzorce zaniknú.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3611880"/>
            <a:ext cx="813816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69417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Otvorená výskumná otázka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58368" y="3950208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Dá sa zo slovenského zákona automaticky postaviť znalostný graf, ktorý LLM pomôže nájsť vecne správne ustanovenie — nie iba textovo podobný úryvok?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0" y="48646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5 / 26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AAA825-DB84-954F-6323-E5470A8A5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49" y="4729402"/>
            <a:ext cx="1003528" cy="3699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Opis navrhnutého riešenia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PDF zákona → štruktúrovaný znalostný graf v Neo4j (+ tri vektorové indexy).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19" y="1691640"/>
            <a:ext cx="6426967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Hybridné spracovanie</a:t>
            </a:r>
            <a:r>
              <a:rPr lang="en-US" sz="14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— text, tabuľky a vzorce samostatnými trasami.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Schéma odvodená z dát</a:t>
            </a:r>
            <a:r>
              <a:rPr lang="en-US" sz="14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— ontológia sa objaví, zjednotí a vynúti.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Jazyková normalizácia</a:t>
            </a:r>
            <a:r>
              <a:rPr lang="en-US" sz="14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— jednotná ASCII reprezentácia ID a typov.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Zachovanie pôvodu</a:t>
            </a:r>
            <a:r>
              <a:rPr lang="en-US" sz="14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— každá entita viazaná na chunk → dokument.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457409"/>
            <a:ext cx="224332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457409"/>
            <a:ext cx="213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Predspracovanie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95959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tabuľky · vzorce · text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47416" y="3740873"/>
            <a:ext cx="43891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50336" y="3457409"/>
            <a:ext cx="224332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5200" y="3457409"/>
            <a:ext cx="213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Extrakcia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95959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ODD → SR → SDE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57672" y="3740873"/>
            <a:ext cx="43891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60592" y="3457409"/>
            <a:ext cx="224332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5456" y="3457409"/>
            <a:ext cx="213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Vloženie do DB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95959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Neo4j + vektory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55280" y="48646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6 / 26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336C238-5D5D-0AB3-202C-0140D14DA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49" y="4729402"/>
            <a:ext cx="1003528" cy="3699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C6F7F6-5BC9-D74D-00D0-B545D5CAB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13">
            <a:extLst>
              <a:ext uri="{FF2B5EF4-FFF2-40B4-BE49-F238E27FC236}">
                <a16:creationId xmlns:a16="http://schemas.microsoft.com/office/drawing/2014/main" id="{C772DD5D-506A-7B4A-252C-7017D8506060}"/>
              </a:ext>
            </a:extLst>
          </p:cNvPr>
          <p:cNvSpPr/>
          <p:nvPr/>
        </p:nvSpPr>
        <p:spPr>
          <a:xfrm>
            <a:off x="7955280" y="48646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7 / 26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1B426F3-DD39-9691-0E70-CF374A2AA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49" y="4729402"/>
            <a:ext cx="1003528" cy="3699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59852B-ABD0-B428-DCFC-AD96A24F64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7358" y="47713"/>
            <a:ext cx="3603240" cy="4755829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1E0A091A-9BFE-4082-18CD-3BBEFC8E3090}"/>
              </a:ext>
            </a:extLst>
          </p:cNvPr>
          <p:cNvSpPr/>
          <p:nvPr/>
        </p:nvSpPr>
        <p:spPr>
          <a:xfrm>
            <a:off x="454179" y="46177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Sekvenčný</a:t>
            </a:r>
            <a:r>
              <a:rPr lang="en-US" sz="12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diagram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40550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Predspracovanie: tabuľky a vzorce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25880"/>
            <a:ext cx="45324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Detekcia rozloženia: </a:t>
            </a:r>
            <a:r>
              <a:rPr lang="en-US" sz="13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DocLayout-YOLO, 200 DPI, </a:t>
            </a:r>
            <a:r>
              <a:rPr lang="en-US" sz="130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prah</a:t>
            </a:r>
            <a:r>
              <a:rPr lang="en-US" sz="13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istoty 0,3.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Tabuľky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112264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Skupiny po stranách → po 2 obrázkoch do </a:t>
            </a:r>
            <a:r>
              <a:rPr lang="en-US" sz="125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GPT 5.4 mini</a:t>
            </a: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→ HTML (doslovný text, žiadna sumarizácia).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Druhé LLM volanie → hierarchia: koreň </a:t>
            </a:r>
            <a:r>
              <a:rPr lang="en-US" sz="1250" dirty="0">
                <a:solidFill>
                  <a:srgbClr val="000000"/>
                </a:solidFill>
                <a:latin typeface="CMU Typewriter Text" pitchFamily="34" charset="0"/>
                <a:ea typeface="CMU Typewriter Text" pitchFamily="34" charset="-122"/>
                <a:cs typeface="CMU Typewriter Text" pitchFamily="34" charset="-120"/>
              </a:rPr>
              <a:t>Tabuľka</a:t>
            </a: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+ listy </a:t>
            </a:r>
            <a:r>
              <a:rPr lang="en-US" sz="1250" dirty="0" err="1">
                <a:solidFill>
                  <a:srgbClr val="000000"/>
                </a:solidFill>
                <a:latin typeface="CMU Typewriter Text" pitchFamily="34" charset="0"/>
                <a:ea typeface="CMU Typewriter Text" pitchFamily="34" charset="-122"/>
                <a:cs typeface="CMU Typewriter Text" pitchFamily="34" charset="-120"/>
              </a:rPr>
              <a:t>Riadok</a:t>
            </a: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(</a:t>
            </a:r>
            <a:r>
              <a:rPr lang="en-US" sz="125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stĺpce</a:t>
            </a: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ako</a:t>
            </a: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vlastnosti</a:t>
            </a: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).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324612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Vzorce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3575304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Orezané PNG → </a:t>
            </a:r>
            <a:r>
              <a:rPr lang="en-US" sz="125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GPT 5.4 mini</a:t>
            </a: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→ doslovný LaTeX prepis bez komentára.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Uložené ako vlastnosť uzla </a:t>
            </a:r>
            <a:r>
              <a:rPr lang="en-US" sz="1250" dirty="0">
                <a:solidFill>
                  <a:srgbClr val="000000"/>
                </a:solidFill>
                <a:latin typeface="CMU Typewriter Text" pitchFamily="34" charset="0"/>
                <a:ea typeface="CMU Typewriter Text" pitchFamily="34" charset="-122"/>
                <a:cs typeface="CMU Typewriter Text" pitchFamily="34" charset="-120"/>
              </a:rPr>
              <a:t>Vzorec</a:t>
            </a: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55280" y="48646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8 / 26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A32F956-04B1-9CD8-604F-A4B45C8EE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49" y="4729402"/>
            <a:ext cx="1003528" cy="3699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8EBA3F7-89D9-64E2-8B64-5FBEBACC28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4814" y="3107725"/>
            <a:ext cx="2976266" cy="154753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AD4D068-CF44-AAFB-0B01-3EC150F624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4814" y="1347805"/>
            <a:ext cx="2972559" cy="15289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7B1F98-ADEE-8D2B-A87D-956350DD5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41A9726-2214-04D6-FFEE-1A979D13ABE0}"/>
              </a:ext>
            </a:extLst>
          </p:cNvPr>
          <p:cNvSpPr/>
          <p:nvPr/>
        </p:nvSpPr>
        <p:spPr>
          <a:xfrm>
            <a:off x="502920" y="38404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Tabuľky</a:t>
            </a:r>
            <a:endParaRPr lang="en-US" sz="3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0043A5C-26D6-0B12-E0F7-3322BFDFE049}"/>
              </a:ext>
            </a:extLst>
          </p:cNvPr>
          <p:cNvSpPr/>
          <p:nvPr/>
        </p:nvSpPr>
        <p:spPr>
          <a:xfrm>
            <a:off x="7955280" y="48646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9 / 26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8D7A2AC-ECEC-A34C-0498-E9A8363DF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49" y="4729402"/>
            <a:ext cx="1003528" cy="3699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1BA032-8A31-78C7-2BC6-2BB4C8BC7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683" y="925448"/>
            <a:ext cx="2779190" cy="39757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5382206-91B6-B476-D8A2-62043D162F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5753" y="1834979"/>
            <a:ext cx="4576767" cy="20185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F9110ED-F7BB-4BBB-8586-9394BBC3A7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8640" y="1346887"/>
            <a:ext cx="3579919" cy="25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075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Trojkroková extrakcia: ODD a SR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463040" y="1371600"/>
            <a:ext cx="1694688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17904" y="1371600"/>
            <a:ext cx="158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ODD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21736" y="1600200"/>
            <a:ext cx="43891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724656" y="1371600"/>
            <a:ext cx="1694688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79520" y="1371600"/>
            <a:ext cx="158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3352" y="1600200"/>
            <a:ext cx="43891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986272" y="1371600"/>
            <a:ext cx="1694688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41136" y="1371600"/>
            <a:ext cx="158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0574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ODD — detekcia v otvorenej doméne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2386584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Hľadá TYPY entít a vzťahov, nie inštancie.</a:t>
            </a:r>
            <a:endParaRPr lang="en-US" sz="1250" dirty="0"/>
          </a:p>
          <a:p>
            <a:pPr marL="0" indent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Chunk 1200 znakov, prekryv 200 — širšie okno = kontext.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GPT 5.4 mini</a:t>
            </a: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, paralelne.</a:t>
            </a:r>
            <a:endParaRPr lang="en-US" sz="1250" dirty="0"/>
          </a:p>
          <a:p>
            <a:pPr marL="0" indent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Výstup: zjednotený </a:t>
            </a:r>
            <a:r>
              <a:rPr lang="en-US" sz="125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zoznam</a:t>
            </a: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typov</a:t>
            </a: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: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00600" y="20574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SR — úprava a spresnenie schémy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00600" y="2386584"/>
            <a:ext cx="500448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Surové typy → koherentná schéma bez duplicít.</a:t>
            </a:r>
            <a:endParaRPr lang="en-US" sz="1250" dirty="0"/>
          </a:p>
          <a:p>
            <a:pPr marL="0" indent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Zachová odlišné kategórie (Dokument ≠ Osoba).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</a:t>
            </a:r>
            <a:r>
              <a:rPr lang="en-US" sz="1100" dirty="0">
                <a:solidFill>
                  <a:srgbClr val="000000"/>
                </a:solidFill>
                <a:latin typeface="CMU Concrete Roman" panose="02000603000000000000" pitchFamily="2" charset="0"/>
                <a:ea typeface="CMU Concrete Roman" panose="02000603000000000000" pitchFamily="2" charset="0"/>
                <a:cs typeface="CMU Concrete Roman" panose="02000603000000000000" pitchFamily="2" charset="0"/>
              </a:rPr>
              <a:t>JE_OSLOBODENE_OD_DANE, JE_PREDMETOM_DANE, NIE_JE_PREDMETOM_DANE</a:t>
            </a:r>
            <a:endParaRPr lang="en-US" sz="1100" dirty="0">
              <a:latin typeface="CMU Concrete Roman" panose="02000603000000000000" pitchFamily="2" charset="0"/>
              <a:ea typeface="CMU Concrete Roman" panose="02000603000000000000" pitchFamily="2" charset="0"/>
              <a:cs typeface="CMU Concrete Roman" panose="02000603000000000000" pitchFamily="2" charset="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Chain-of-Thought, väčší model </a:t>
            </a:r>
            <a:r>
              <a:rPr lang="en-US" sz="125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GPT 5.5</a:t>
            </a: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.</a:t>
            </a:r>
            <a:endParaRPr lang="en-US" sz="1250" dirty="0"/>
          </a:p>
          <a:p>
            <a:pPr marL="0" indent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Konštantná základná schéma ako </a:t>
            </a:r>
            <a:r>
              <a:rPr lang="en-US" sz="125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kotva</a:t>
            </a: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955280" y="48646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8 / 26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CEDB6B4-DB55-35CF-4B53-E9022AB15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49" y="4729402"/>
            <a:ext cx="1003528" cy="3699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DC033C3-9B42-9FCB-E545-B84BC3D51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7728" y="3288886"/>
            <a:ext cx="1105353" cy="28641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D97C830-F2E1-BB13-2CB4-64BC4A6BBE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9713" y="3621937"/>
            <a:ext cx="1430624" cy="37473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97800E9-70B9-A17D-440E-F94258A09A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8771" y="3885420"/>
            <a:ext cx="1793757" cy="3930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Schémou riadená extrakcia (SDE)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2588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Vynútená extrakcia inštancií podľa schémy </a:t>
            </a:r>
            <a:r>
              <a:rPr lang="en-US" sz="1350" b="1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S*</a:t>
            </a: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(spojený NER + RE), GPT 5.4 mini.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Chunkovanie po paragrafoch / odsekoch / </a:t>
            </a:r>
            <a:r>
              <a:rPr lang="en-US" sz="135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písmenách</a:t>
            </a: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, paralelne s limitom a opakovaním.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Normalizácia: id → Title Case, vzťahy → </a:t>
            </a:r>
            <a:r>
              <a:rPr lang="en-US" sz="1350" dirty="0">
                <a:solidFill>
                  <a:srgbClr val="000000"/>
                </a:solidFill>
                <a:latin typeface="CMU Typewriter Text" pitchFamily="34" charset="0"/>
                <a:ea typeface="CMU Typewriter Text" pitchFamily="34" charset="-122"/>
                <a:cs typeface="CMU Typewriter Text" pitchFamily="34" charset="-120"/>
              </a:rPr>
              <a:t>UPPER_SNAKE_CASE</a:t>
            </a: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, neúplné trojice sa vynechajú.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Väzba </a:t>
            </a:r>
            <a:r>
              <a:rPr lang="en-US" sz="1350" dirty="0">
                <a:solidFill>
                  <a:srgbClr val="000000"/>
                </a:solidFill>
                <a:latin typeface="CMU Typewriter Text" pitchFamily="34" charset="0"/>
                <a:ea typeface="CMU Typewriter Text" pitchFamily="34" charset="-122"/>
                <a:cs typeface="CMU Typewriter Text" pitchFamily="34" charset="-120"/>
              </a:rPr>
              <a:t>IN_CHUNK</a:t>
            </a: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→ spätná stopa k pôvodnému textu.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Pravidlá promptu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3493008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Najšpecifickejší typ.</a:t>
            </a:r>
            <a:endParaRPr lang="en-US" sz="1200" dirty="0"/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closest-or-skip (radšej nič ako halucinovaný typ).</a:t>
            </a:r>
            <a:endParaRPr lang="en-US" sz="1200" dirty="0"/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Vlastnosti len ak sú v texte explicitné.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MU Typewriter Text" pitchFamily="34" charset="0"/>
                <a:ea typeface="CMU Typewriter Text" pitchFamily="34" charset="-122"/>
                <a:cs typeface="CMU Typewriter Text" pitchFamily="34" charset="-120"/>
              </a:rPr>
              <a:t>•  evidence</a:t>
            </a:r>
            <a:r>
              <a:rPr lang="en-US" sz="12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: spresnenie všeobecného vzťahu;  </a:t>
            </a:r>
            <a:r>
              <a:rPr lang="en-US" sz="1200" dirty="0">
                <a:solidFill>
                  <a:srgbClr val="000000"/>
                </a:solidFill>
                <a:latin typeface="CMU Typewriter Text" pitchFamily="34" charset="0"/>
                <a:ea typeface="CMU Typewriter Text" pitchFamily="34" charset="-122"/>
                <a:cs typeface="CMU Typewriter Text" pitchFamily="34" charset="-120"/>
              </a:rPr>
              <a:t>section</a:t>
            </a:r>
            <a:r>
              <a:rPr lang="en-US" sz="12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: stopa na paragraf.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0" y="48646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9 / 26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E8BCAA-97BB-3599-7618-0BDCA14B6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49" y="4729402"/>
            <a:ext cx="1003528" cy="3699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9A3ED6E-AE75-4890-5190-7A9821FFB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963" y="1233981"/>
            <a:ext cx="3054117" cy="15835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7809C5C-2308-A1FE-13EA-374F37217F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6963" y="2954182"/>
            <a:ext cx="3054117" cy="181280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Ako to vyzerá v databáze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25880"/>
            <a:ext cx="4617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Vkladanie cez </a:t>
            </a:r>
            <a:r>
              <a:rPr lang="en-US" sz="1300" dirty="0">
                <a:solidFill>
                  <a:srgbClr val="000000"/>
                </a:solidFill>
                <a:latin typeface="CMU Typewriter Text" pitchFamily="34" charset="0"/>
                <a:ea typeface="CMU Typewriter Text" pitchFamily="34" charset="-122"/>
                <a:cs typeface="CMU Typewriter Text" pitchFamily="34" charset="-120"/>
              </a:rPr>
              <a:t>MERGE</a:t>
            </a:r>
            <a:r>
              <a:rPr lang="en-US" sz="13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nad normalizovaným ID → zjednotenie opakovaní, žiadne duplicity.</a:t>
            </a:r>
            <a:endParaRPr lang="en-US" sz="130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Hierarchia: Document → Chunk / Vzorec / Tabuľka → Paragraf → Odsek → Písmeno → Entita.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Väzby: </a:t>
            </a:r>
            <a:r>
              <a:rPr lang="en-US" sz="1300" dirty="0">
                <a:solidFill>
                  <a:srgbClr val="000000"/>
                </a:solidFill>
                <a:latin typeface="CMU Typewriter Text" pitchFamily="34" charset="0"/>
                <a:ea typeface="CMU Typewriter Text" pitchFamily="34" charset="-122"/>
                <a:cs typeface="CMU Typewriter Text" pitchFamily="34" charset="-120"/>
              </a:rPr>
              <a:t>IN_DOCUMENT, IN_SECTION, IN_CHUNK, IN_TABLE</a:t>
            </a:r>
            <a:r>
              <a:rPr lang="en-US" sz="13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ID dokumentu, napr. </a:t>
            </a:r>
            <a:r>
              <a:rPr lang="en-US" sz="1300" dirty="0">
                <a:solidFill>
                  <a:srgbClr val="000000"/>
                </a:solidFill>
                <a:latin typeface="CMU Typewriter Text" pitchFamily="34" charset="0"/>
                <a:ea typeface="CMU Typewriter Text" pitchFamily="34" charset="-122"/>
                <a:cs typeface="CMU Typewriter Text" pitchFamily="34" charset="-120"/>
              </a:rPr>
              <a:t>ZZ_2004_222_20260101</a:t>
            </a:r>
            <a:r>
              <a:rPr lang="en-US" sz="13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(zbierka, rok, číslo, dátum).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Tri vektorové indexy (</a:t>
            </a:r>
            <a:r>
              <a:rPr lang="en-US" sz="1300" dirty="0">
                <a:solidFill>
                  <a:srgbClr val="000000"/>
                </a:solidFill>
                <a:latin typeface="CMU Typewriter Text" pitchFamily="34" charset="0"/>
                <a:ea typeface="CMU Typewriter Text" pitchFamily="34" charset="-122"/>
                <a:cs typeface="CMU Typewriter Text" pitchFamily="34" charset="-120"/>
              </a:rPr>
              <a:t>text-embedding-3-large</a:t>
            </a:r>
            <a:r>
              <a:rPr lang="en-US" sz="13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): chunky, entity, vzťahy → hybridné vyhľadávanie.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0" y="48646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10 / 26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EB95D5-5BA5-9A9E-3856-1201C1A65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49" y="4729402"/>
            <a:ext cx="1003528" cy="3699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8406F0-B380-5F1B-9147-EE6FED1CFA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3548" y="982363"/>
            <a:ext cx="3856392" cy="18844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499FE01-F239-3B08-A71A-85D6696AD1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7333" y="2866768"/>
            <a:ext cx="3488822" cy="18123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Technologický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229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Python</a:t>
            </a:r>
            <a:r>
              <a:rPr lang="en-US" sz="14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— orchestračný jazyk; typové anotácie a dátové triedy.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LangChain</a:t>
            </a:r>
            <a:r>
              <a:rPr lang="en-US" sz="14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— abstrakcia nad LLM, reťazenie, nástroje, štruktúrovaný výstup.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Neo4j</a:t>
            </a:r>
            <a:r>
              <a:rPr lang="en-US" sz="14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— property graph + vektorové úložisko, jazyk Cypher.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DocLayout-YOLO</a:t>
            </a:r>
            <a:r>
              <a:rPr lang="en-US" sz="14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— detekcia prvkov dokumentu (+ pdf2image).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GPT 5.4 mini</a:t>
            </a:r>
            <a:r>
              <a:rPr lang="en-US" sz="14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— extrakcia · 0,75 / 4,50 $ za 1M tokenov.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GPT 5.5</a:t>
            </a:r>
            <a:r>
              <a:rPr lang="en-US" sz="14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— úprava schémy · 5,00 / 30,00 $ za 1M tokenov.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424331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Modely sú volené podľa kompromisu cena / latencia / kvalita uvažovania.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955280" y="48646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11 / 26</a:t>
            </a: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4C94CE-7814-5DD5-3C92-290EFE452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49" y="4729402"/>
            <a:ext cx="1003528" cy="36990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Semafor a štruktúrovaný výstup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Mechanizmus semaforu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1700784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Každý chunk = </a:t>
            </a:r>
            <a:r>
              <a:rPr lang="en-US" sz="130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asynchrónna</a:t>
            </a:r>
            <a:r>
              <a:rPr lang="en-US" sz="13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úloha</a:t>
            </a:r>
            <a:r>
              <a:rPr lang="en-US" sz="13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, desiatky–stovky chunkov narazia na rate-limity (TPM).</a:t>
            </a:r>
            <a:endParaRPr lang="en-US" sz="1300" dirty="0"/>
          </a:p>
          <a:p>
            <a:pPr marL="0" indent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Semafor: max 5 paralelných úloh + globálny prepínač + zámok.</a:t>
            </a:r>
            <a:endParaRPr lang="en-US" sz="1300" dirty="0"/>
          </a:p>
          <a:p>
            <a:pPr marL="0" indent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Najviac 3 pokusy na úlohu.</a:t>
            </a:r>
            <a:endParaRPr lang="en-US" sz="1300" dirty="0"/>
          </a:p>
          <a:p>
            <a:pPr marL="0" indent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Pri zlyhaní prvá úloha vypne prepínač, počká 60 s a znova zapne — jeden spoločný signál.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800600" y="13716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Štruktúrovaný výstup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00600" y="1700784"/>
            <a:ext cx="3886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Odpoveď modelu zodpovedá vopred danej schéme → priamo do Python objektu (Pydantic).</a:t>
            </a:r>
            <a:endParaRPr lang="en-US" sz="1300" dirty="0"/>
          </a:p>
          <a:p>
            <a:pPr marL="0" indent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Netreba parsovať voľný text.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MU Typewriter Text" pitchFamily="34" charset="0"/>
                <a:ea typeface="CMU Typewriter Text" pitchFamily="34" charset="-122"/>
                <a:cs typeface="CMU Typewriter Text" pitchFamily="34" charset="-120"/>
              </a:rPr>
              <a:t>•  ProviderStrategy</a:t>
            </a:r>
            <a:r>
              <a:rPr lang="en-US" sz="13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(response_format) — pri agentoch s natívnou podporou.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MU Typewriter Text" pitchFamily="34" charset="0"/>
                <a:ea typeface="CMU Typewriter Text" pitchFamily="34" charset="-122"/>
                <a:cs typeface="CMU Typewriter Text" pitchFamily="34" charset="-120"/>
              </a:rPr>
              <a:t>•  with_structured_output</a:t>
            </a:r>
            <a:r>
              <a:rPr lang="en-US" sz="13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— pri priamych volaniach modelu.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0" y="48646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12 / 26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97D630-C833-FED4-08D5-773072D3B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49" y="4729402"/>
            <a:ext cx="1003528" cy="36990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Chunkovacia stratégia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4480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MU Typewriter Text" pitchFamily="34" charset="0"/>
                <a:ea typeface="CMU Typewriter Text" pitchFamily="34" charset="-122"/>
                <a:cs typeface="CMU Typewriter Text" pitchFamily="34" charset="-120"/>
              </a:rPr>
              <a:t>•  PyPDFLoader</a:t>
            </a: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; odstránenie opakujúcich sa hlavičiek; mapovanie znak → strana.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Rozdelenie podľa paragrafov (</a:t>
            </a:r>
            <a:r>
              <a:rPr lang="en-US" sz="1350" dirty="0">
                <a:solidFill>
                  <a:srgbClr val="000000"/>
                </a:solidFill>
                <a:latin typeface="CMU Typewriter Text" pitchFamily="34" charset="0"/>
                <a:ea typeface="CMU Typewriter Text" pitchFamily="34" charset="-122"/>
                <a:cs typeface="CMU Typewriter Text" pitchFamily="34" charset="-120"/>
              </a:rPr>
              <a:t>\n§ 16a\n</a:t>
            </a: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), priradenie nadpisu, oddelenie úvodného textu.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Vnorená štruktúra: paragraf → odsek → písmeno → bod (značky (1), a), 1.).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Linearizácia: chunk na najhlbšej úrovni + nadradený kontext → čitateľný samostatne.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Príliš dlhé chunky → 3000 znakov, prekryv 300.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955280" y="48646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13 / 26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0C66F8-2CCB-87A4-5CC9-E0F39DD70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49" y="4729402"/>
            <a:ext cx="1003528" cy="3699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3788C0-EB19-E783-26E8-86CD9DD361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217141"/>
            <a:ext cx="4053708" cy="286367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Validačný a koreferenčný krok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Cieľ: odstrániť duplicitné pomenovania tej istej entity (variantné odkazy na zákon).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Problémy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112264"/>
            <a:ext cx="619444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LLM krok zdvojnásobuje cenu SDE (každý typ × každý dokument).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MU Typewriter Text" pitchFamily="34" charset="0"/>
                <a:ea typeface="CMU Typewriter Text" pitchFamily="34" charset="-122"/>
                <a:cs typeface="CMU Typewriter Text" pitchFamily="34" charset="-120"/>
              </a:rPr>
              <a:t>• </a:t>
            </a:r>
            <a:r>
              <a:rPr lang="en-US" sz="1250" dirty="0" err="1">
                <a:solidFill>
                  <a:srgbClr val="000000"/>
                </a:solidFill>
                <a:latin typeface="CMU Typewriter Text" pitchFamily="34" charset="0"/>
                <a:ea typeface="CMU Typewriter Text" pitchFamily="34" charset="-122"/>
                <a:cs typeface="CMU Typewriter Text" pitchFamily="34" charset="-120"/>
              </a:rPr>
              <a:t>RapidFuzz</a:t>
            </a: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(prah 75 %): textovo podobné, sémanticky odlišné odkazy sa zle </a:t>
            </a:r>
            <a:r>
              <a:rPr lang="en-US" sz="125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zlúčia</a:t>
            </a: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.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Generický embedding: Faktúra vs. Bloček </a:t>
            </a:r>
            <a:r>
              <a:rPr lang="en-US" sz="1250" dirty="0">
                <a:solidFill>
                  <a:srgbClr val="0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~</a:t>
            </a: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86 % → nesprávne zlúčenie.</a:t>
            </a:r>
            <a:endParaRPr lang="en-US" sz="1250" dirty="0"/>
          </a:p>
          <a:p>
            <a:pPr marL="0" indent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Markdown pamäť: lineárny rast ceny, strata pozornosti, </a:t>
            </a:r>
            <a:r>
              <a:rPr lang="en-US" sz="125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redundancia</a:t>
            </a: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</a:t>
            </a:r>
            <a:r>
              <a:rPr lang="en-US" sz="125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Striktná</a:t>
            </a: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validácia</a:t>
            </a: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= </a:t>
            </a:r>
            <a:r>
              <a:rPr lang="en-US" sz="125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kompromis</a:t>
            </a: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: </a:t>
            </a:r>
            <a:r>
              <a:rPr lang="en-US" sz="125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čistota</a:t>
            </a: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grafu</a:t>
            </a: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vs. </a:t>
            </a:r>
            <a:r>
              <a:rPr lang="en-US" sz="125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cena</a:t>
            </a: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budovania</a:t>
            </a: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0" y="48646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14 / 26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ACE46C-8EBC-B785-254C-DCA09E5E1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49" y="4729402"/>
            <a:ext cx="1003528" cy="36990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Ako sa testovala extrakcia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2588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Dataset: 100 grafových dokumentov zo zákona 222/2004 (DPH), 30 validácia / 70 test, tvorený s odborníkmi.</a:t>
            </a:r>
            <a:endParaRPr lang="en-US" sz="130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Porovnanie predikovaného grafu s ručne anotovaným referenčným grafom.</a:t>
            </a:r>
            <a:endParaRPr lang="en-US" sz="130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Normalizácia pred porovnaním: </a:t>
            </a:r>
            <a:r>
              <a:rPr lang="en-US" sz="130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diakritika</a:t>
            </a:r>
            <a:r>
              <a:rPr lang="en-US" sz="13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, veľkosť písmen, varianty odkazov, duplicity.</a:t>
            </a:r>
            <a:endParaRPr lang="en-US" sz="130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Hrany sa hodnotia podmienene namapovaním uzlov.</a:t>
            </a:r>
            <a:endParaRPr lang="en-US" sz="130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Konfigurácie: GPT 5.4 mini &amp; GPT 5.5 × {low, high} × {zero-shot, few-shot}.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Trojvrstvová zhoda uzlov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0" y="1700784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1.  Úplná zhoda ID + typ</a:t>
            </a: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— skóre 1,0.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2.  Rovnaký typ + podobnosť &gt; 0,75</a:t>
            </a: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— RapidFuzz </a:t>
            </a:r>
            <a:r>
              <a:rPr lang="en-US" sz="1250" dirty="0">
                <a:solidFill>
                  <a:srgbClr val="000000"/>
                </a:solidFill>
                <a:latin typeface="CMU Concrete Roman" panose="02000603000000000000" pitchFamily="2" charset="0"/>
                <a:ea typeface="CMU Concrete Roman" panose="02000603000000000000" pitchFamily="2" charset="0"/>
                <a:cs typeface="CMU Concrete Roman" panose="02000603000000000000" pitchFamily="2" charset="0"/>
              </a:rPr>
              <a:t>token_set_ratio</a:t>
            </a: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.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3.  LLM-sudca (prah 0,55)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→ kandidáti zoradení podľa skóre, greedy párovanie 1 : 1.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955280" y="48646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15 / 26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CB331E-C2B5-0133-3D86-D2013B80E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49" y="4729402"/>
            <a:ext cx="1003528" cy="36990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Metriky: vzorce a legenda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</a:t>
            </a:r>
            <a:r>
              <a:rPr lang="en-US" sz="17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=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5735" y="1495044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TP</a:t>
            </a:r>
            <a:endParaRPr lang="en-US" sz="1500" i="1" dirty="0"/>
          </a:p>
        </p:txBody>
      </p:sp>
      <p:sp>
        <p:nvSpPr>
          <p:cNvPr id="5" name="Shape 3"/>
          <p:cNvSpPr/>
          <p:nvPr/>
        </p:nvSpPr>
        <p:spPr>
          <a:xfrm>
            <a:off x="1673352" y="1792224"/>
            <a:ext cx="130479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3607" y="1804924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TP + FP</a:t>
            </a:r>
            <a:endParaRPr lang="en-US" sz="1500" i="1" dirty="0"/>
          </a:p>
        </p:txBody>
      </p:sp>
      <p:sp>
        <p:nvSpPr>
          <p:cNvPr id="7" name="Text 5"/>
          <p:cNvSpPr/>
          <p:nvPr/>
        </p:nvSpPr>
        <p:spPr>
          <a:xfrm>
            <a:off x="3188462" y="15087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presnosť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18541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R</a:t>
            </a:r>
            <a:r>
              <a:rPr lang="en-US" sz="17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=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73607" y="2165174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TP</a:t>
            </a:r>
            <a:endParaRPr lang="en-US" sz="1500" i="1" dirty="0"/>
          </a:p>
        </p:txBody>
      </p:sp>
      <p:sp>
        <p:nvSpPr>
          <p:cNvPr id="10" name="Shape 8"/>
          <p:cNvSpPr/>
          <p:nvPr/>
        </p:nvSpPr>
        <p:spPr>
          <a:xfrm>
            <a:off x="1673352" y="2468880"/>
            <a:ext cx="1327023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9000" y="2488311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TP + FN</a:t>
            </a:r>
            <a:endParaRPr lang="en-US" sz="1500" i="1" dirty="0"/>
          </a:p>
        </p:txBody>
      </p:sp>
      <p:sp>
        <p:nvSpPr>
          <p:cNvPr id="12" name="Text 10"/>
          <p:cNvSpPr/>
          <p:nvPr/>
        </p:nvSpPr>
        <p:spPr>
          <a:xfrm>
            <a:off x="3188462" y="218541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úplnosť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8620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F1</a:t>
            </a:r>
            <a:r>
              <a:rPr lang="en-US" sz="17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=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16152" y="2843784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2</a:t>
            </a:r>
            <a:r>
              <a:rPr lang="en-US" sz="1500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· P · R</a:t>
            </a:r>
            <a:endParaRPr lang="en-US" sz="1500" i="1" dirty="0"/>
          </a:p>
        </p:txBody>
      </p:sp>
      <p:sp>
        <p:nvSpPr>
          <p:cNvPr id="15" name="Shape 13"/>
          <p:cNvSpPr/>
          <p:nvPr/>
        </p:nvSpPr>
        <p:spPr>
          <a:xfrm>
            <a:off x="1673352" y="3145536"/>
            <a:ext cx="1327023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152" y="315544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 + R</a:t>
            </a:r>
            <a:endParaRPr lang="en-US" sz="1500" i="1" dirty="0"/>
          </a:p>
        </p:txBody>
      </p:sp>
      <p:sp>
        <p:nvSpPr>
          <p:cNvPr id="17" name="Text 15"/>
          <p:cNvSpPr/>
          <p:nvPr/>
        </p:nvSpPr>
        <p:spPr>
          <a:xfrm>
            <a:off x="3183255" y="286207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harm. priemer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5387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H</a:t>
            </a:r>
            <a:r>
              <a:rPr lang="en-US" sz="17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=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73607" y="352044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FP</a:t>
            </a:r>
            <a:endParaRPr lang="en-US" sz="1500" i="1" dirty="0"/>
          </a:p>
        </p:txBody>
      </p:sp>
      <p:sp>
        <p:nvSpPr>
          <p:cNvPr id="20" name="Shape 18"/>
          <p:cNvSpPr/>
          <p:nvPr/>
        </p:nvSpPr>
        <p:spPr>
          <a:xfrm>
            <a:off x="1673352" y="3822192"/>
            <a:ext cx="130479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39000" y="3835273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TP + FP</a:t>
            </a:r>
            <a:endParaRPr lang="en-US" sz="1500" i="1" dirty="0"/>
          </a:p>
        </p:txBody>
      </p:sp>
      <p:sp>
        <p:nvSpPr>
          <p:cNvPr id="22" name="Text 20"/>
          <p:cNvSpPr/>
          <p:nvPr/>
        </p:nvSpPr>
        <p:spPr>
          <a:xfrm>
            <a:off x="3183255" y="35387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halucinácie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160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</a:t>
            </a:r>
            <a:r>
              <a:rPr lang="en-US" sz="16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=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73607" y="4151376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FN</a:t>
            </a:r>
            <a:endParaRPr lang="en-US" sz="1400" i="1" dirty="0"/>
          </a:p>
        </p:txBody>
      </p:sp>
      <p:sp>
        <p:nvSpPr>
          <p:cNvPr id="25" name="Shape 23"/>
          <p:cNvSpPr/>
          <p:nvPr/>
        </p:nvSpPr>
        <p:spPr>
          <a:xfrm>
            <a:off x="1673352" y="4443984"/>
            <a:ext cx="130479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73607" y="4467479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TP + FN</a:t>
            </a:r>
            <a:endParaRPr lang="en-US" sz="1400" i="1" dirty="0"/>
          </a:p>
        </p:txBody>
      </p:sp>
      <p:sp>
        <p:nvSpPr>
          <p:cNvPr id="27" name="Text 25"/>
          <p:cNvSpPr/>
          <p:nvPr/>
        </p:nvSpPr>
        <p:spPr>
          <a:xfrm>
            <a:off x="3183255" y="4169664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vynechania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29790" y="1417320"/>
            <a:ext cx="33570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GED — </a:t>
            </a:r>
            <a:r>
              <a:rPr lang="en-US" sz="1250" b="1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normalizovaná</a:t>
            </a:r>
            <a:r>
              <a:rPr lang="en-US" sz="125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grafová</a:t>
            </a:r>
            <a:r>
              <a:rPr lang="en-US" sz="125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editovacia vzdialenosť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577840" y="17739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FP</a:t>
            </a:r>
            <a:r>
              <a:rPr lang="en-US" sz="1200" i="1" baseline="-250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</a:t>
            </a:r>
            <a:r>
              <a:rPr lang="en-US" sz="1200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+ FN</a:t>
            </a:r>
            <a:r>
              <a:rPr lang="en-US" sz="1200" i="1" baseline="-250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</a:t>
            </a:r>
            <a:r>
              <a:rPr lang="en-US" sz="1200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+ FP</a:t>
            </a:r>
            <a:r>
              <a:rPr lang="en-US" sz="1200" i="1" baseline="-250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E</a:t>
            </a:r>
            <a:r>
              <a:rPr lang="en-US" sz="1200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+ FN</a:t>
            </a:r>
            <a:r>
              <a:rPr lang="en-US" sz="1200" i="1" baseline="-250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E</a:t>
            </a:r>
            <a:r>
              <a:rPr lang="en-US" sz="1200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+ Δ</a:t>
            </a:r>
            <a:r>
              <a:rPr lang="en-US" sz="1200" i="1" baseline="-250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</a:t>
            </a:r>
            <a:endParaRPr lang="en-US" sz="1200" i="1" baseline="-25000" dirty="0"/>
          </a:p>
        </p:txBody>
      </p:sp>
      <p:sp>
        <p:nvSpPr>
          <p:cNvPr id="30" name="Shape 28"/>
          <p:cNvSpPr/>
          <p:nvPr/>
        </p:nvSpPr>
        <p:spPr>
          <a:xfrm>
            <a:off x="5806440" y="2084832"/>
            <a:ext cx="26517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21122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|V</a:t>
            </a:r>
            <a:r>
              <a:rPr lang="en-US" sz="1200" baseline="-250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G</a:t>
            </a:r>
            <a:r>
              <a:rPr lang="en-US" sz="12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| + |V</a:t>
            </a:r>
            <a:r>
              <a:rPr lang="en-US" sz="1200" baseline="-250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</a:t>
            </a:r>
            <a:r>
              <a:rPr lang="en-US" sz="12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| + |E</a:t>
            </a:r>
            <a:r>
              <a:rPr lang="en-US" sz="1200" baseline="-250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G</a:t>
            </a:r>
            <a:r>
              <a:rPr lang="en-US" sz="12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| + |E</a:t>
            </a:r>
            <a:r>
              <a:rPr lang="en-US" sz="1200" baseline="-250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</a:t>
            </a:r>
            <a:r>
              <a:rPr lang="en-US" sz="12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|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77840" y="243230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normalizovaná do [0, 1]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577840" y="2798064"/>
            <a:ext cx="310896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28895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Legenda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77840" y="3182112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TP</a:t>
            </a:r>
            <a:r>
              <a:rPr lang="en-US" sz="11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správne · </a:t>
            </a:r>
            <a:r>
              <a:rPr lang="en-US" sz="11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FP</a:t>
            </a:r>
            <a:r>
              <a:rPr lang="en-US" sz="11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navyše · </a:t>
            </a:r>
            <a:r>
              <a:rPr lang="en-US" sz="11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FN</a:t>
            </a:r>
            <a:r>
              <a:rPr lang="en-US" sz="11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nenájdené
</a:t>
            </a:r>
            <a:r>
              <a:rPr lang="en-US" sz="11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</a:t>
            </a:r>
            <a:r>
              <a:rPr lang="en-US" sz="11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uzly · </a:t>
            </a:r>
            <a:r>
              <a:rPr lang="en-US" sz="11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E</a:t>
            </a:r>
            <a:r>
              <a:rPr lang="en-US" sz="11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hrany · </a:t>
            </a:r>
            <a:r>
              <a:rPr lang="en-US" sz="11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G</a:t>
            </a:r>
            <a:r>
              <a:rPr lang="en-US" sz="11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gold · </a:t>
            </a:r>
            <a:r>
              <a:rPr lang="en-US" sz="11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</a:t>
            </a:r>
            <a:r>
              <a:rPr lang="en-US" sz="11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predikcia
</a:t>
            </a:r>
            <a:r>
              <a:rPr lang="en-US" sz="11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Δ</a:t>
            </a:r>
            <a:r>
              <a:rPr lang="en-US" sz="1100" b="1" i="1" baseline="-250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</a:t>
            </a:r>
            <a:r>
              <a:rPr lang="en-US" sz="11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zhodné ID, nezhodný typ
</a:t>
            </a:r>
            <a:r>
              <a:rPr lang="en-US" sz="11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F1</a:t>
            </a:r>
            <a:r>
              <a:rPr lang="en-US" sz="1100" b="1" baseline="-250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µ</a:t>
            </a:r>
            <a:r>
              <a:rPr lang="en-US" sz="11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mikro · </a:t>
            </a:r>
            <a:r>
              <a:rPr lang="en-US" sz="11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F1</a:t>
            </a:r>
            <a:r>
              <a:rPr lang="en-US" sz="1100" b="1" baseline="-250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M</a:t>
            </a:r>
            <a:r>
              <a:rPr lang="en-US" sz="11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makro priemer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955280" y="48646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16 / 26</a:t>
            </a:r>
            <a:endParaRPr lang="en-US" sz="9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A8200B1-03F4-7A4B-5216-6B8F947CB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49" y="4729402"/>
            <a:ext cx="1003528" cy="36990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Výsledky extrakcie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235567" y="3735935"/>
            <a:ext cx="21410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ZS = zero-shot · FS = few-shot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7955280" y="48646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17 / 26</a:t>
            </a:r>
            <a:endParaRPr lang="en-US" sz="9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3ED76F-B0EC-2487-96E2-A2DC1BA81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49" y="4729402"/>
            <a:ext cx="1003528" cy="3699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BD4BE1-7F40-4D78-4D42-682E2DAB65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868" y="1199609"/>
            <a:ext cx="5161487" cy="31329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0A37325-C1CF-46B7-C389-638FE759DA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8152" y="1736659"/>
            <a:ext cx="3675848" cy="205880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Porovnanie RAG s GraphRAG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21 otázok od daňového auditora k zákonu 222/2004. Ku každej: správna odpoveď + podporujúce paragrafy.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73736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Klasický chat</a:t>
            </a: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— GPT 5.5 bez </a:t>
            </a:r>
            <a:r>
              <a:rPr lang="en-US" sz="135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korpusu</a:t>
            </a: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, referencia zo všeobecných znalostí.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Vektorový RAG</a:t>
            </a: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— Qdrant + text-embedding-3-large, </a:t>
            </a:r>
            <a:r>
              <a:rPr lang="en-US" sz="1350" i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k</a:t>
            </a: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najbližších chunkov </a:t>
            </a:r>
            <a:r>
              <a:rPr lang="en-US" sz="135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podľa</a:t>
            </a: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</a:t>
            </a:r>
            <a:r>
              <a:rPr lang="en-US" sz="135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kosínusovej</a:t>
            </a: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</a:t>
            </a:r>
            <a:r>
              <a:rPr lang="en-US" sz="135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vzdialenosti</a:t>
            </a: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.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GraphRAG</a:t>
            </a:r>
            <a:r>
              <a:rPr lang="en-US" sz="13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— agent + Cypher, otázku rozdelí na 3–6 pojmov, 1–2 skoky, krížové a negatívne vzťahy.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37947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Metriky:  Správnosť odpovede</a:t>
            </a:r>
            <a:r>
              <a:rPr lang="en-US" sz="12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(binárne 1/0) a </a:t>
            </a:r>
            <a:r>
              <a:rPr lang="en-US" sz="12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úspešnosť referencovania</a:t>
            </a:r>
            <a:r>
              <a:rPr lang="en-US" sz="12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— úplnosť voči anotovaným ustanoveniam (nadbytočné sa nepenalizujú).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15000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Úspešnosť referencovania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0" y="48646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18 / 26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4DE1513-0272-119C-B712-8AC44AD28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49" y="4729402"/>
            <a:ext cx="1003528" cy="3699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436E934-65A5-B952-51B3-BA953E793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4643" y="2163617"/>
            <a:ext cx="2301681" cy="81626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Výsledky využiteľnosti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02920" y="3371494"/>
            <a:ext cx="33296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≈ 4× menej kontextu</a:t>
            </a:r>
            <a:r>
              <a:rPr lang="en-US" sz="12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— 258 ref. (GraphRAG) vs. 1050 (k=50).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⌀ 118 s / otázku</a:t>
            </a:r>
            <a:r>
              <a:rPr lang="en-US" sz="12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— špecialista ručne 10–15 min.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955280" y="48646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19 / 26</a:t>
            </a:r>
            <a:endParaRPr lang="en-US" sz="9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C11C31-E003-C5A6-03EE-8E786AB74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49" y="4729402"/>
            <a:ext cx="1003528" cy="3699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429B27-AD54-C021-25CC-3338C4426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893" y="1097280"/>
            <a:ext cx="5084530" cy="17303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0AD9D57-8F58-E862-FCB6-505768C1B9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7931" y="2827596"/>
            <a:ext cx="4474589" cy="193363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Načo práca slúži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2588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Automaticky postaví znalostný graf zo slovenského zákona → LLM nájde vecne správne ustanovenie, nie iba podobný úryvok.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Odpoveď je ukotvená v konkrétnych paragrafoch (stopa </a:t>
            </a:r>
            <a:r>
              <a:rPr lang="en-US" sz="1300" dirty="0">
                <a:solidFill>
                  <a:srgbClr val="000000"/>
                </a:solidFill>
                <a:latin typeface="CMU Typewriter Text" pitchFamily="34" charset="0"/>
                <a:ea typeface="CMU Typewriter Text" pitchFamily="34" charset="-122"/>
                <a:cs typeface="CMU Typewriter Text" pitchFamily="34" charset="-120"/>
              </a:rPr>
              <a:t>section</a:t>
            </a:r>
            <a:r>
              <a:rPr lang="en-US" sz="13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, </a:t>
            </a:r>
            <a:r>
              <a:rPr lang="en-US" sz="1300" dirty="0">
                <a:solidFill>
                  <a:srgbClr val="000000"/>
                </a:solidFill>
                <a:latin typeface="CMU Typewriter Text" pitchFamily="34" charset="0"/>
                <a:ea typeface="CMU Typewriter Text" pitchFamily="34" charset="-122"/>
                <a:cs typeface="CMU Typewriter Text" pitchFamily="34" charset="-120"/>
              </a:rPr>
              <a:t>IN_CHUNK</a:t>
            </a:r>
            <a:r>
              <a:rPr lang="en-US" sz="13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).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2606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Cieľová skupina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88950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Daňoví poradcovia a </a:t>
            </a:r>
            <a:r>
              <a:rPr lang="en-US" sz="125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auditori</a:t>
            </a: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· </a:t>
            </a:r>
            <a:r>
              <a:rPr lang="en-US" sz="1250" dirty="0" err="1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právnici</a:t>
            </a: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34564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Praktické využitie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7490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Zrýchlenie vyhľadávania právnej opory (⌀ 118 s vs. 10–15 min).</a:t>
            </a:r>
            <a:endParaRPr lang="en-US" sz="1250" dirty="0"/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Podpora pri tvorbe vecne podložených odpovedí.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303520" y="13716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Kľúčové výsledky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700784"/>
          <a:ext cx="3383280" cy="14630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Prístup</a:t>
                      </a:r>
                      <a:endParaRPr lang="en-US" sz="105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Správne</a:t>
                      </a:r>
                      <a:endParaRPr lang="en-US" sz="105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Pokrytie</a:t>
                      </a:r>
                      <a:endParaRPr lang="en-US" sz="105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Klasický chat</a:t>
                      </a:r>
                      <a:endParaRPr lang="en-US" sz="105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9 / 21</a:t>
                      </a:r>
                      <a:endParaRPr lang="en-US" sz="105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20,3 %</a:t>
                      </a:r>
                      <a:endParaRPr lang="en-US" sz="105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Vektorový RAG (k=50)</a:t>
                      </a:r>
                      <a:endParaRPr lang="en-US" sz="105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20 / 21</a:t>
                      </a:r>
                      <a:endParaRPr lang="en-US" sz="105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71,7 %</a:t>
                      </a:r>
                      <a:endParaRPr lang="en-US" sz="105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GraphRAG</a:t>
                      </a:r>
                      <a:endParaRPr lang="en-US" sz="105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20 / 21</a:t>
                      </a:r>
                      <a:endParaRPr lang="en-US" sz="105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74,6 %</a:t>
                      </a:r>
                      <a:endParaRPr lang="en-US" sz="105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303520" y="1700784"/>
            <a:ext cx="338328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03520" y="2066544"/>
            <a:ext cx="33832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03520" y="3163824"/>
            <a:ext cx="338328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03520" y="34290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Limity a ďalší vývoj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303520" y="3712464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Cena: 8–15 € / 150-stranový dokument.</a:t>
            </a:r>
            <a:endParaRPr lang="en-US" sz="1100" dirty="0"/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Lokálne modely (Llama / Mistral), fine-tuning na SK právo.</a:t>
            </a:r>
            <a:endParaRPr lang="en-US" sz="1100" dirty="0"/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•  Validačný krok, väčší anotovaný dataset.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955280" y="48646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20 / 26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07BCB9-A306-C91C-4248-D5D5A7971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49" y="4729402"/>
            <a:ext cx="1003528" cy="36990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225171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Odpovede na otázky oponenta</a:t>
            </a: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F415DA-2B6E-902F-51E3-46DC38967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49" y="4729402"/>
            <a:ext cx="1003528" cy="36990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11"/>
          <p:cNvSpPr/>
          <p:nvPr/>
        </p:nvSpPr>
        <p:spPr>
          <a:xfrm>
            <a:off x="7955280" y="48646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25 / 26</a:t>
            </a:r>
            <a:endParaRPr lang="en-US" sz="900" dirty="0"/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5814E93A-2BA3-6475-12F1-E1AA6BFDD9F6}"/>
              </a:ext>
            </a:extLst>
          </p:cNvPr>
          <p:cNvSpPr/>
          <p:nvPr/>
        </p:nvSpPr>
        <p:spPr>
          <a:xfrm>
            <a:off x="502920" y="192136"/>
            <a:ext cx="8229600" cy="846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1. 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V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práci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na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základe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experimentov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uvádzate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,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že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spracovanie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jedného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rozsiahlejšieho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dokumentu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môže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stáť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8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až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15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eur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kvôli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poplatkom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za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komerčné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API.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Vidíte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v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aktuálnom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stave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technológií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reálnu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cestu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k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optimalizácii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týchto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nákladov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pomocou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lokálnych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LLM s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využitím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fine-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tuningu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na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právnu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doménu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,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alebo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je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miera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porozumenia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komerčných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modelov</a:t>
            </a:r>
            <a:endParaRPr lang="en-US" sz="1200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pre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túto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úlohu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nateraz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nevyhnutná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2681C8-3DCB-D76C-CF67-9D64CAAE9923}"/>
              </a:ext>
            </a:extLst>
          </p:cNvPr>
          <p:cNvSpPr txBox="1"/>
          <p:nvPr/>
        </p:nvSpPr>
        <p:spPr>
          <a:xfrm>
            <a:off x="857956" y="1924756"/>
            <a:ext cx="7097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Mistral</a:t>
            </a:r>
          </a:p>
          <a:p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GLM, 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Qwen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9976A6A-8729-9563-9256-72CA388F1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49" y="4729402"/>
            <a:ext cx="1003528" cy="36990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AD9DB1-0117-1865-66A4-789C93182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11">
            <a:extLst>
              <a:ext uri="{FF2B5EF4-FFF2-40B4-BE49-F238E27FC236}">
                <a16:creationId xmlns:a16="http://schemas.microsoft.com/office/drawing/2014/main" id="{196B795F-1A3E-FA61-E6A1-9BCF4E7C1433}"/>
              </a:ext>
            </a:extLst>
          </p:cNvPr>
          <p:cNvSpPr/>
          <p:nvPr/>
        </p:nvSpPr>
        <p:spPr>
          <a:xfrm>
            <a:off x="7955280" y="48646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25 / 26</a:t>
            </a:r>
            <a:endParaRPr lang="en-US" sz="900" dirty="0"/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3A2783FB-1E59-92B8-DFD9-B3747579D869}"/>
              </a:ext>
            </a:extLst>
          </p:cNvPr>
          <p:cNvSpPr/>
          <p:nvPr/>
        </p:nvSpPr>
        <p:spPr>
          <a:xfrm>
            <a:off x="502920" y="192136"/>
            <a:ext cx="8229600" cy="846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2.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Kým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GraphRAG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jasne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dominuje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pri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riešení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komplexných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otázok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vyžadujúcich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sledovanie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krížových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odkazov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,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existujú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podľa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Vášho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výskumu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špecifické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prípady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v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právnej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doméne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,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kedy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by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bol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klasický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vektorový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RAG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stále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vhodnejšou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(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rýchlejšou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či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presnejšou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)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voľbou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F4915D-C05D-439B-7015-19FE83B282FF}"/>
              </a:ext>
            </a:extLst>
          </p:cNvPr>
          <p:cNvSpPr txBox="1"/>
          <p:nvPr/>
        </p:nvSpPr>
        <p:spPr>
          <a:xfrm>
            <a:off x="857956" y="1924756"/>
            <a:ext cx="7097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Menej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strukturovane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zakony</a:t>
            </a:r>
            <a:endParaRPr lang="en-US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6D60525-96D1-53AD-6830-3DA4B2809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49" y="4729402"/>
            <a:ext cx="1003528" cy="36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451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6EE4FF-8D73-FD7D-47AD-4BDCA19B6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11">
            <a:extLst>
              <a:ext uri="{FF2B5EF4-FFF2-40B4-BE49-F238E27FC236}">
                <a16:creationId xmlns:a16="http://schemas.microsoft.com/office/drawing/2014/main" id="{545A469D-B0EC-09CE-93B9-AEC6E8E31571}"/>
              </a:ext>
            </a:extLst>
          </p:cNvPr>
          <p:cNvSpPr/>
          <p:nvPr/>
        </p:nvSpPr>
        <p:spPr>
          <a:xfrm>
            <a:off x="7955280" y="48646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25 / 26</a:t>
            </a:r>
            <a:endParaRPr lang="en-US" sz="900" dirty="0"/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99B5B085-7CE3-C0C9-4F82-AE30548D8694}"/>
              </a:ext>
            </a:extLst>
          </p:cNvPr>
          <p:cNvSpPr/>
          <p:nvPr/>
        </p:nvSpPr>
        <p:spPr>
          <a:xfrm>
            <a:off x="502920" y="192136"/>
            <a:ext cx="8229600" cy="846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3. 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Ako by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navrhnutý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systém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z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pohľadu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architektúry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zvládal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neskoršie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novelizácie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a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zmeny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v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už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spracovanom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zákone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? Bolo by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nutné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extrahovať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a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generovať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celý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graf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na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novo,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alebo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vaša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štruktúra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reprezentácie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v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databáze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Neo4j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umožňuje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čiastočnú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aktualizáciu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špecifických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uzlov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a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hrán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07A10C-9DAB-16E5-E426-5305FF5F37FB}"/>
              </a:ext>
            </a:extLst>
          </p:cNvPr>
          <p:cNvSpPr txBox="1"/>
          <p:nvPr/>
        </p:nvSpPr>
        <p:spPr>
          <a:xfrm>
            <a:off x="857956" y="1924756"/>
            <a:ext cx="70973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Netreba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nanovo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extrahovat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,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implementacia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podporuje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aktualizaciu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podgrafov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,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pomocou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Cypher queries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dokazeme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najst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dany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podgraf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,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uzly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na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jeden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skok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a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hrany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oznacene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s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vlastnostou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v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akom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odseku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sa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nachadzaju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. Ak je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uzol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prepojeny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iba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v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danom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podgrafe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,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mozme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ho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nahradit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,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ak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nie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musime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preverit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(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problematika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prepojovania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entit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– Entity Linking).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B4C41B8-8B50-4DAA-9CE7-DAA7264F3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49" y="4729402"/>
            <a:ext cx="1003528" cy="36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2782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9F6754-195D-0617-17BA-6CA94AF5E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11">
            <a:extLst>
              <a:ext uri="{FF2B5EF4-FFF2-40B4-BE49-F238E27FC236}">
                <a16:creationId xmlns:a16="http://schemas.microsoft.com/office/drawing/2014/main" id="{C53CCC00-3419-3C5D-2E8B-BEEACD19F40F}"/>
              </a:ext>
            </a:extLst>
          </p:cNvPr>
          <p:cNvSpPr/>
          <p:nvPr/>
        </p:nvSpPr>
        <p:spPr>
          <a:xfrm>
            <a:off x="7955280" y="48646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25 / 26</a:t>
            </a:r>
            <a:endParaRPr lang="en-US" sz="900" dirty="0"/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34F79F8D-D65F-D10E-6364-FB61EC7FB2ED}"/>
              </a:ext>
            </a:extLst>
          </p:cNvPr>
          <p:cNvSpPr/>
          <p:nvPr/>
        </p:nvSpPr>
        <p:spPr>
          <a:xfrm>
            <a:off x="502920" y="192136"/>
            <a:ext cx="8229600" cy="846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4.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Väčšina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vašej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práce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sa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zameriava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na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robustný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backend a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spracovanie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dát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. Ako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si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v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praxi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predstavujete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ideálne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používateľské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rozhranie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pre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koncového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používateľa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(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napr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.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daňového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poradcu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či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právnika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)?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Postačuje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podľa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vás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klasické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chatovacie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okno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v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štýle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ChatGPT,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alebo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vidíte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pridanú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hodnotu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aj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vo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vizualizácii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samotného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znalostného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grafu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pre 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použí</a:t>
            </a:r>
            <a:r>
              <a:rPr lang="en-US" sz="12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vateľa</a:t>
            </a:r>
            <a:r>
              <a:rPr lang="en-US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5E6FDA-0196-0BC6-5D55-C318BC1CF4AE}"/>
              </a:ext>
            </a:extLst>
          </p:cNvPr>
          <p:cNvSpPr txBox="1"/>
          <p:nvPr/>
        </p:nvSpPr>
        <p:spPr>
          <a:xfrm>
            <a:off x="857956" y="1924756"/>
            <a:ext cx="70973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MCP</a:t>
            </a:r>
          </a:p>
          <a:p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Frontend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implementovany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,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avsak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rychlost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inovacie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firiem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,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kde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chat s LLM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podporuje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aj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graficke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rozhranie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(Claude), je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vhodnejsie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vytvorenie</a:t>
            </a:r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MCP (multi context protocol)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D04213A-1249-27EA-A16E-EE3F97A5F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49" y="4729402"/>
            <a:ext cx="1003528" cy="36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5575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Ďakujem za pozornosť.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299923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95959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Poďakovanie patrí vedúcemu práce Ing. Marekovi Vančovi, PhD., za odborné vedenie a cenné rady.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Samuel Bagín</a:t>
            </a:r>
            <a:endParaRPr lang="en-US" sz="14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dirty="0">
                <a:solidFill>
                  <a:srgbClr val="80808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Tvorba znalostných grafov pomocou AI · FEI STU ·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2315</Words>
  <Application>Microsoft Macintosh PowerPoint</Application>
  <PresentationFormat>On-screen Show (16:9)</PresentationFormat>
  <Paragraphs>277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CMU CONCRETE ROMAN</vt:lpstr>
      <vt:lpstr>CMU Serif</vt:lpstr>
      <vt:lpstr>CMU Serif Roman</vt:lpstr>
      <vt:lpstr>CMU Serif Roman</vt:lpstr>
      <vt:lpstr>CMU Typewriter Text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Tvorba znalostnych grafov pomocou AI</dc:title>
  <dc:subject>PptxGenJS Presentation</dc:subject>
  <dc:creator>Samuel Bagin</dc:creator>
  <cp:lastModifiedBy>Samuel Bagín</cp:lastModifiedBy>
  <cp:revision>3</cp:revision>
  <dcterms:created xsi:type="dcterms:W3CDTF">2026-06-07T16:57:52Z</dcterms:created>
  <dcterms:modified xsi:type="dcterms:W3CDTF">2026-06-15T22:09:35Z</dcterms:modified>
</cp:coreProperties>
</file>