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3" r:id="rId9"/>
    <p:sldId id="263" r:id="rId10"/>
    <p:sldId id="264" r:id="rId11"/>
    <p:sldId id="265" r:id="rId12"/>
    <p:sldId id="267" r:id="rId13"/>
    <p:sldId id="268" r:id="rId14"/>
    <p:sldId id="269" r:id="rId15"/>
    <p:sldId id="270" r:id="rId16"/>
    <p:sldId id="272" r:id="rId17"/>
    <p:sldId id="273" r:id="rId18"/>
    <p:sldId id="274" r:id="rId19"/>
    <p:sldId id="281" r:id="rId20"/>
    <p:sldId id="280" r:id="rId21"/>
    <p:sldId id="284" r:id="rId22"/>
    <p:sldId id="285" r:id="rId23"/>
    <p:sldId id="286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79"/>
    <p:restoredTop sz="94599"/>
  </p:normalViewPr>
  <p:slideViewPr>
    <p:cSldViewPr snapToGrid="0" snapToObjects="1">
      <p:cViewPr>
        <p:scale>
          <a:sx n="99" d="100"/>
          <a:sy n="99" d="100"/>
        </p:scale>
        <p:origin x="8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1247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E4944-3F6E-1455-D622-E259D8214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77A05F-BC9D-2A86-5110-9C774BCAA8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F5315F-8FD3-1E5A-1B11-6BB4545BB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27B81C-408D-9BCE-A8C4-0E131918EB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0615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4C627-76A3-329C-C4AE-690267DB8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09E586-A183-1C7E-E6BE-46700FDC19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E2B143-E8EB-4BCF-F463-6E61BAA1B3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8948C-8237-B9D9-2CF1-FE3EBDB3E8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4354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6446C-9C8E-1E17-768E-A9ED008B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16FE0-48AF-8CD6-4F4D-8E26169959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539-61A8-7325-49B2-2A5A82C06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91BCB-F1BC-2468-B81B-230F4DAB3B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1884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A9CC2-4904-5BC4-1FF9-B2FAA6511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01530F-023B-6B5E-DB2A-95C41BD4E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43DDB8-58CD-B04D-B8AD-F84B38928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8D401-AF69-7A5C-30D6-F00D9D9C7C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596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1300" dirty="0">
                <a:solidFill>
                  <a:srgbClr val="595959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Slovenská technická univerzita v Bratislave · FEI</a:t>
            </a:r>
            <a:endParaRPr lang="sk-SK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sk-SK" sz="36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Tvorba znalostných grafov pomocou AI</a:t>
            </a:r>
            <a:endParaRPr lang="sk-SK" sz="3600" dirty="0"/>
          </a:p>
        </p:txBody>
      </p:sp>
      <p:sp>
        <p:nvSpPr>
          <p:cNvPr id="5" name="Shape 3"/>
          <p:cNvSpPr/>
          <p:nvPr/>
        </p:nvSpPr>
        <p:spPr>
          <a:xfrm>
            <a:off x="3200400" y="3456432"/>
            <a:ext cx="274320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6" name="Text 4"/>
          <p:cNvSpPr/>
          <p:nvPr/>
        </p:nvSpPr>
        <p:spPr>
          <a:xfrm>
            <a:off x="914400" y="3639312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sk-SK" sz="17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Samuel Bagín</a:t>
            </a:r>
            <a:endParaRPr lang="sk-SK" sz="17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sk-SK" sz="1300" dirty="0">
                <a:solidFill>
                  <a:srgbClr val="595959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Vedúci práce: Ing. Marek Vančo, PhD.</a:t>
            </a:r>
            <a:endParaRPr lang="sk-SK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4526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125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Bakalárska práca · 2026</a:t>
            </a:r>
            <a:endParaRPr lang="sk-SK" sz="12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D9F47B8-CADF-006B-98AB-1B32D2F92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Čo je to znalostný graf?</a:t>
            </a:r>
            <a:endParaRPr lang="sk-SK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12149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Grafová reprezentácia údajov: uzly sú entity, hrany zachytávajú vzťahy medzi nimi.</a:t>
            </a:r>
            <a:endParaRPr lang="sk-SK" sz="1350" dirty="0"/>
          </a:p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Fakty o reálnom svete v strojovo spracovateľnej podobe.</a:t>
            </a:r>
            <a:endParaRPr lang="sk-SK" sz="1350" dirty="0"/>
          </a:p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Vzťah modelovaný ako trojica (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ₕ, r,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ₜ) — orientovaná hrana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ₕ →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ʳ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ₜ.</a:t>
            </a:r>
            <a:endParaRPr lang="sk-SK" sz="1350" dirty="0"/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Najznámejšie grafy: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DBpedia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Wikidata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YAGO,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Freebase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(</a:t>
            </a:r>
            <a:r>
              <a:rPr lang="sk-SK" sz="135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Znalostný graf údajov verejnej správy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)</a:t>
            </a:r>
            <a:endParaRPr lang="sk-SK" sz="1350" dirty="0"/>
          </a:p>
        </p:txBody>
      </p:sp>
      <p:sp>
        <p:nvSpPr>
          <p:cNvPr id="4" name="Text 2"/>
          <p:cNvSpPr/>
          <p:nvPr/>
        </p:nvSpPr>
        <p:spPr>
          <a:xfrm>
            <a:off x="502920" y="3010329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Formálna definícia (</a:t>
            </a:r>
            <a:r>
              <a:rPr lang="sk-SK" sz="1400" b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property</a:t>
            </a: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</a:t>
            </a:r>
            <a:r>
              <a:rPr lang="sk-SK" sz="1400" b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graph</a:t>
            </a: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)</a:t>
            </a:r>
            <a:endParaRPr lang="sk-SK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3312081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20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 = (V, </a:t>
            </a:r>
            <a:r>
              <a:rPr lang="sk-SK" sz="2000" i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20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L, P, U, </a:t>
            </a:r>
            <a:r>
              <a:rPr lang="sk-SK" sz="2000" i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20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l, p)</a:t>
            </a:r>
            <a:endParaRPr lang="sk-SK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3702303"/>
            <a:ext cx="5420552" cy="1051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sk-SK" sz="1150" b="1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V, </a:t>
            </a:r>
            <a:r>
              <a:rPr lang="sk-SK" sz="1150" b="1" i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115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</a:t>
            </a:r>
            <a:r>
              <a:rPr lang="sk-SK" sz="11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uzly a hrany   </a:t>
            </a:r>
            <a:r>
              <a:rPr lang="sk-SK" sz="1150" b="1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L</a:t>
            </a:r>
            <a:r>
              <a:rPr lang="sk-SK" sz="11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typy   </a:t>
            </a:r>
            <a:r>
              <a:rPr lang="sk-SK" sz="1150" b="1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P, U</a:t>
            </a:r>
            <a:r>
              <a:rPr lang="sk-SK" sz="115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</a:t>
            </a:r>
            <a:r>
              <a:rPr lang="sk-SK" sz="11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mená (kľúče) a hodnoty vlastností
</a:t>
            </a:r>
            <a:r>
              <a:rPr lang="sk-SK" sz="1150" b="1" i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115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: </a:t>
            </a:r>
            <a:r>
              <a:rPr lang="sk-SK" sz="1200" i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</a:t>
            </a:r>
            <a:r>
              <a:rPr lang="sk-SK" sz="12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→V ×V</a:t>
            </a:r>
            <a:r>
              <a:rPr lang="sk-SK" sz="1000" i="1" dirty="0">
                <a:solidFill>
                  <a:srgbClr val="00000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</a:t>
            </a:r>
            <a:r>
              <a:rPr lang="sk-SK" sz="11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priradí hranu dvojici uzlov</a:t>
            </a:r>
          </a:p>
          <a:p>
            <a:pPr>
              <a:lnSpc>
                <a:spcPct val="110000"/>
              </a:lnSpc>
            </a:pPr>
            <a:r>
              <a:rPr lang="sk-SK" sz="1150" b="1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l</a:t>
            </a:r>
            <a:r>
              <a:rPr lang="sk-SK" sz="115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: </a:t>
            </a:r>
            <a:r>
              <a:rPr lang="sk-SK" sz="12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V 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∪</a:t>
            </a:r>
            <a:r>
              <a:rPr lang="sk-SK" sz="1200" i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</a:t>
            </a:r>
            <a:r>
              <a:rPr lang="sk-SK" sz="12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→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2</a:t>
            </a:r>
            <a:r>
              <a:rPr lang="sk-SK" sz="1200" i="1" baseline="300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</a:t>
            </a:r>
            <a:r>
              <a:rPr lang="sk-SK" sz="1000" b="1" i="1" dirty="0">
                <a:solidFill>
                  <a:srgbClr val="00000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</a:t>
            </a:r>
            <a:r>
              <a:rPr lang="sk-SK" sz="11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priraďuje uzlom a hranám množinu typov</a:t>
            </a:r>
            <a:endParaRPr lang="sk-SK" sz="1000" i="1" dirty="0">
              <a:solidFill>
                <a:srgbClr val="000000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>
              <a:lnSpc>
                <a:spcPct val="110000"/>
              </a:lnSpc>
            </a:pPr>
            <a:r>
              <a:rPr lang="sk-SK" sz="1150" b="1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</a:t>
            </a:r>
            <a:r>
              <a:rPr lang="sk-SK" sz="115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: </a:t>
            </a:r>
            <a:r>
              <a:rPr lang="sk-SK" sz="12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V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∪</a:t>
            </a:r>
            <a:r>
              <a:rPr lang="sk-SK" sz="1200" i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→2</a:t>
            </a:r>
            <a:r>
              <a:rPr lang="sk-SK" sz="1200" i="1" baseline="300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P×U </a:t>
            </a:r>
            <a:r>
              <a:rPr lang="sk-SK" sz="115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priraďuje uzlom a hranám množinu dvojíc </a:t>
            </a:r>
            <a:r>
              <a:rPr lang="sk-SK" sz="115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(</a:t>
            </a:r>
            <a:r>
              <a:rPr lang="sk-SK" sz="115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vlastnosť, hodnota)</a:t>
            </a:r>
            <a:r>
              <a:rPr lang="sk-SK" sz="1150" b="1" i="1" dirty="0">
                <a:solidFill>
                  <a:srgbClr val="00000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</a:t>
            </a:r>
            <a:endParaRPr lang="sk-SK" sz="1150" i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2 / 19</a:t>
            </a:r>
            <a:endParaRPr lang="sk-SK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1B1EA2-C4BB-E049-B22F-223A4D8B5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1EB284-734D-166B-9CD8-7844D2E52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931" y="2263614"/>
            <a:ext cx="3540280" cy="19140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 čom vynikajú a kde sa využívajú</a:t>
            </a:r>
            <a:endParaRPr lang="sk-SK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6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 čom vynikajú</a:t>
            </a:r>
            <a:endParaRPr lang="sk-SK" sz="1600" dirty="0"/>
          </a:p>
        </p:txBody>
      </p:sp>
      <p:sp>
        <p:nvSpPr>
          <p:cNvPr id="4" name="Text 2"/>
          <p:cNvSpPr/>
          <p:nvPr/>
        </p:nvSpPr>
        <p:spPr>
          <a:xfrm>
            <a:off x="502920" y="1655064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None/>
            </a:pP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Integrácia rôznorodých dát z mnohých zdrojov.</a:t>
            </a:r>
            <a:endParaRPr lang="sk-SK" sz="1400" dirty="0"/>
          </a:p>
          <a:p>
            <a:pPr marL="0" indent="0">
              <a:lnSpc>
                <a:spcPct val="106000"/>
              </a:lnSpc>
              <a:spcAft>
                <a:spcPts val="700"/>
              </a:spcAft>
              <a:buNone/>
            </a:pP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Flexibilná schéma — dáta sa môžu voľne rozvíjať.</a:t>
            </a:r>
            <a:endParaRPr lang="sk-SK" sz="1400" dirty="0"/>
          </a:p>
          <a:p>
            <a:pPr marL="0" indent="0">
              <a:lnSpc>
                <a:spcPct val="106000"/>
              </a:lnSpc>
              <a:spcAft>
                <a:spcPts val="700"/>
              </a:spcAft>
              <a:buNone/>
            </a:pP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Navigačné operátory: rekurzívne cesty (</a:t>
            </a:r>
            <a:r>
              <a:rPr lang="sk-SK" sz="14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multi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-hop).</a:t>
            </a:r>
            <a:endParaRPr lang="sk-SK" sz="1400" dirty="0"/>
          </a:p>
          <a:p>
            <a:pPr marL="0" indent="0">
              <a:lnSpc>
                <a:spcPct val="106000"/>
              </a:lnSpc>
              <a:spcAft>
                <a:spcPts val="700"/>
              </a:spcAft>
              <a:buNone/>
            </a:pP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Uzemnenie LLM → menej halucinácií.</a:t>
            </a:r>
            <a:endParaRPr lang="sk-SK" sz="1400" dirty="0"/>
          </a:p>
          <a:p>
            <a:pPr marL="0" indent="0">
              <a:lnSpc>
                <a:spcPct val="106000"/>
              </a:lnSpc>
              <a:spcAft>
                <a:spcPts val="700"/>
              </a:spcAft>
              <a:buNone/>
            </a:pP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Cielené </a:t>
            </a:r>
            <a:r>
              <a:rPr lang="sk-SK" sz="14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podgrafy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namiesto veľkých textov v </a:t>
            </a:r>
            <a:r>
              <a:rPr lang="sk-SK" sz="14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prompte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.</a:t>
            </a:r>
            <a:endParaRPr lang="sk-SK" sz="1400" dirty="0"/>
          </a:p>
        </p:txBody>
      </p:sp>
      <p:sp>
        <p:nvSpPr>
          <p:cNvPr id="5" name="Text 3"/>
          <p:cNvSpPr/>
          <p:nvPr/>
        </p:nvSpPr>
        <p:spPr>
          <a:xfrm>
            <a:off x="4892040" y="132588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6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Praktické využitia</a:t>
            </a:r>
            <a:endParaRPr lang="sk-SK" sz="1600" dirty="0"/>
          </a:p>
        </p:txBody>
      </p:sp>
      <p:sp>
        <p:nvSpPr>
          <p:cNvPr id="6" name="Text 4"/>
          <p:cNvSpPr/>
          <p:nvPr/>
        </p:nvSpPr>
        <p:spPr>
          <a:xfrm>
            <a:off x="4892040" y="1655064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Softvérové inžinierstvo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repozitár ako graf kódu.</a:t>
            </a:r>
            <a:endParaRPr lang="sk-SK" sz="1400" dirty="0"/>
          </a:p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Diagnostika porúch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stroje a súčiastky.</a:t>
            </a:r>
            <a:endParaRPr lang="sk-SK" sz="1400" dirty="0"/>
          </a:p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Kybernetická bezpečnosť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spravodajstvo o hrozbách.</a:t>
            </a:r>
            <a:endParaRPr lang="sk-SK" sz="1400" dirty="0"/>
          </a:p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Medicína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diagnostické uvažovanie.</a:t>
            </a:r>
            <a:endParaRPr lang="sk-SK" sz="1400" dirty="0"/>
          </a:p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Financie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numerické uvažovanie, odporúčania.</a:t>
            </a:r>
          </a:p>
        </p:txBody>
      </p:sp>
      <p:sp>
        <p:nvSpPr>
          <p:cNvPr id="7" name="Text 5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3 / 19</a:t>
            </a:r>
            <a:endParaRPr lang="sk-SK" sz="9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C5CB04F-2986-9EF7-4430-0FF32DA26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Klasické metódy extrakcie informácií</a:t>
            </a:r>
            <a:endParaRPr lang="sk-SK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29844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400" i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Information</a:t>
            </a:r>
            <a:r>
              <a:rPr lang="sk-SK" sz="14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</a:t>
            </a:r>
            <a:r>
              <a:rPr lang="sk-SK" sz="1400" i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Extraction</a:t>
            </a:r>
            <a:r>
              <a:rPr lang="sk-SK" sz="14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(IE): neštruktúrovaný text → trojice entita – vzťah – entita.</a:t>
            </a:r>
            <a:endParaRPr lang="sk-SK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6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NER — rozpoznávanie entít</a:t>
            </a:r>
            <a:endParaRPr lang="sk-SK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2112264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Nájde a zaradí názvy do typov (Osoba, Miesto, Organizácia, …).</a:t>
            </a:r>
            <a:endParaRPr lang="sk-SK" sz="1350" dirty="0"/>
          </a:p>
          <a:p>
            <a:pPr marL="0" indent="0"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Pravidlové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systémy: </a:t>
            </a:r>
            <a:r>
              <a:rPr lang="sk-SK" sz="1350" dirty="0" err="1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TextRunner</a:t>
            </a:r>
            <a:r>
              <a:rPr lang="sk-SK" sz="135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, </a:t>
            </a:r>
            <a:r>
              <a:rPr lang="sk-SK" sz="1350" dirty="0" err="1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KnowItAll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.</a:t>
            </a:r>
            <a:endParaRPr lang="sk-SK" sz="1350" dirty="0"/>
          </a:p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Štatistické: HMM, CRF.</a:t>
            </a:r>
            <a:endParaRPr lang="sk-SK" sz="1350" dirty="0"/>
          </a:p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HNS: CNN, RNN, Bi-LSTM-CRF.</a:t>
            </a:r>
            <a:endParaRPr lang="sk-SK" sz="1350" dirty="0"/>
          </a:p>
        </p:txBody>
      </p:sp>
      <p:sp>
        <p:nvSpPr>
          <p:cNvPr id="6" name="Text 4"/>
          <p:cNvSpPr/>
          <p:nvPr/>
        </p:nvSpPr>
        <p:spPr>
          <a:xfrm>
            <a:off x="4800600" y="178308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6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RE — extrakcia vzťahov</a:t>
            </a:r>
            <a:endParaRPr lang="sk-SK" sz="1600" dirty="0"/>
          </a:p>
        </p:txBody>
      </p:sp>
      <p:sp>
        <p:nvSpPr>
          <p:cNvPr id="7" name="Text 5"/>
          <p:cNvSpPr/>
          <p:nvPr/>
        </p:nvSpPr>
        <p:spPr>
          <a:xfrm>
            <a:off x="4800600" y="2112264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Klasifikuje vzťah medzi nájdenými entitami.</a:t>
            </a:r>
            <a:endParaRPr lang="sk-SK" sz="1350" dirty="0"/>
          </a:p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Schématická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vs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. otvorená extrakcia.</a:t>
            </a:r>
            <a:endParaRPr lang="sk-SK" sz="1350" dirty="0"/>
          </a:p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Kernelové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metódy, CNN / LSTM / GCN</a:t>
            </a:r>
            <a:endParaRPr lang="sk-SK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435254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13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Trend: spájať NER a RE do spoločného kroku → menej prenosu chýb medzi krokmi.</a:t>
            </a:r>
            <a:endParaRPr lang="sk-SK" sz="1300" dirty="0"/>
          </a:p>
        </p:txBody>
      </p:sp>
      <p:sp>
        <p:nvSpPr>
          <p:cNvPr id="9" name="Text 7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4 / 19</a:t>
            </a:r>
            <a:endParaRPr lang="sk-SK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205AF62-FF98-3523-CD3B-3F29EAEC9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sp>
        <p:nvSpPr>
          <p:cNvPr id="10" name="Text 6">
            <a:extLst>
              <a:ext uri="{FF2B5EF4-FFF2-40B4-BE49-F238E27FC236}">
                <a16:creationId xmlns:a16="http://schemas.microsoft.com/office/drawing/2014/main" id="{002684FC-A009-1A5A-808D-1A6D1B5D3C14}"/>
              </a:ext>
            </a:extLst>
          </p:cNvPr>
          <p:cNvSpPr/>
          <p:nvPr/>
        </p:nvSpPr>
        <p:spPr>
          <a:xfrm>
            <a:off x="457200" y="404164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LLM, BERT, 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SpaCy</a:t>
            </a:r>
            <a:endParaRPr lang="sk-SK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Medze a výzvy v práve</a:t>
            </a:r>
            <a:endParaRPr lang="sk-SK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Slovenčina ako málo zastúpená doména: 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chýbajú právne modely a </a:t>
            </a:r>
            <a:r>
              <a:rPr lang="sk-SK" sz="14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datasety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(LEGAL-BERT, </a:t>
            </a:r>
            <a:r>
              <a:rPr lang="sk-SK" sz="14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Lawformer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ju nepokrývajú, </a:t>
            </a:r>
            <a:r>
              <a:rPr lang="sk-SK" sz="14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SlovakBERT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pre NER). Špecifická morfológia a terminológia.</a:t>
            </a:r>
            <a:endParaRPr lang="sk-SK" sz="1400" dirty="0"/>
          </a:p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Právna doména: 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konštrukcia KG z práva je málo preskúmaná — pre SK finančné právo neexistuje jednotná verejná schéma ani anotovaný </a:t>
            </a:r>
            <a:r>
              <a:rPr lang="sk-SK" sz="14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dataset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hustá sieť krížových odkazov.</a:t>
            </a:r>
            <a:endParaRPr lang="sk-SK" sz="1400" dirty="0"/>
          </a:p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Hybridné spracovanie: 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sadzby a limity sú v tabuľkách, vzorce ako grafika — pri prevode na čistý text sa tabuľky rozsypú a vzorce zaniknú.</a:t>
            </a:r>
            <a:endParaRPr lang="sk-SK" sz="1400" dirty="0"/>
          </a:p>
        </p:txBody>
      </p:sp>
      <p:sp>
        <p:nvSpPr>
          <p:cNvPr id="7" name="Text 5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5 / 19</a:t>
            </a:r>
            <a:endParaRPr lang="sk-SK" sz="9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AAA825-DB84-954F-6323-E5470A8A5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6E7AF3-033E-2348-DC10-F4DDC738CD9D}"/>
              </a:ext>
            </a:extLst>
          </p:cNvPr>
          <p:cNvSpPr txBox="1"/>
          <p:nvPr/>
        </p:nvSpPr>
        <p:spPr>
          <a:xfrm>
            <a:off x="3335165" y="3092231"/>
            <a:ext cx="24645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sz="14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SmartLex</a:t>
            </a:r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Praktik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Opis navrhnutého riešenia</a:t>
            </a:r>
            <a:endParaRPr lang="sk-SK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2984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4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PDF zákona → štruktúrovaný znalostný graf v Neo4j (+ tri vektorové indexy).</a:t>
            </a:r>
            <a:endParaRPr lang="sk-SK" sz="1400" dirty="0"/>
          </a:p>
        </p:txBody>
      </p:sp>
      <p:sp>
        <p:nvSpPr>
          <p:cNvPr id="4" name="Text 2"/>
          <p:cNvSpPr/>
          <p:nvPr/>
        </p:nvSpPr>
        <p:spPr>
          <a:xfrm>
            <a:off x="502919" y="1691640"/>
            <a:ext cx="642696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Hybridné spracovanie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text, tabuľky a vzorce samostatnými trasami.</a:t>
            </a:r>
            <a:endParaRPr lang="sk-SK" sz="1400" dirty="0"/>
          </a:p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Schéma odvodená z dát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schéma sa objaví, zjednotí a vynúti.</a:t>
            </a:r>
            <a:endParaRPr lang="sk-SK" sz="1400" dirty="0"/>
          </a:p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Jazyková normalizácia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jednotná ASCII reprezentácia ID a typov.</a:t>
            </a:r>
            <a:endParaRPr lang="sk-SK" sz="1400" dirty="0"/>
          </a:p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Zachovanie pôvodu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každá entita viazaná na </a:t>
            </a:r>
            <a:r>
              <a:rPr lang="sk-SK" sz="14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chunk</a:t>
            </a: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→ dokument.</a:t>
            </a:r>
            <a:endParaRPr lang="sk-SK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457409"/>
            <a:ext cx="22433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8" name="Text 6"/>
          <p:cNvSpPr/>
          <p:nvPr/>
        </p:nvSpPr>
        <p:spPr>
          <a:xfrm>
            <a:off x="694944" y="3457409"/>
            <a:ext cx="213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Predspracovanie</a:t>
            </a:r>
            <a:endParaRPr lang="sk-SK" sz="14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sk-SK" sz="950" i="1" dirty="0">
                <a:solidFill>
                  <a:srgbClr val="595959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tabuľky · vzorce</a:t>
            </a:r>
            <a:endParaRPr lang="sk-SK" sz="1400" dirty="0"/>
          </a:p>
        </p:txBody>
      </p:sp>
      <p:sp>
        <p:nvSpPr>
          <p:cNvPr id="9" name="Shape 7"/>
          <p:cNvSpPr/>
          <p:nvPr/>
        </p:nvSpPr>
        <p:spPr>
          <a:xfrm>
            <a:off x="2947416" y="3740873"/>
            <a:ext cx="43891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lstStyle/>
          <a:p>
            <a:endParaRPr lang="sk-SK" dirty="0"/>
          </a:p>
        </p:txBody>
      </p:sp>
      <p:sp>
        <p:nvSpPr>
          <p:cNvPr id="10" name="Shape 8"/>
          <p:cNvSpPr/>
          <p:nvPr/>
        </p:nvSpPr>
        <p:spPr>
          <a:xfrm>
            <a:off x="3450336" y="3457409"/>
            <a:ext cx="22433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11" name="Text 9"/>
          <p:cNvSpPr/>
          <p:nvPr/>
        </p:nvSpPr>
        <p:spPr>
          <a:xfrm>
            <a:off x="3505200" y="3457409"/>
            <a:ext cx="213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Extrakcia</a:t>
            </a:r>
            <a:endParaRPr lang="sk-SK" sz="14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sk-SK" sz="950" i="1" dirty="0">
                <a:solidFill>
                  <a:srgbClr val="595959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ODD → SR → SDE</a:t>
            </a:r>
            <a:endParaRPr lang="sk-SK" sz="1400" dirty="0"/>
          </a:p>
        </p:txBody>
      </p:sp>
      <p:sp>
        <p:nvSpPr>
          <p:cNvPr id="12" name="Shape 10"/>
          <p:cNvSpPr/>
          <p:nvPr/>
        </p:nvSpPr>
        <p:spPr>
          <a:xfrm>
            <a:off x="5757672" y="3740873"/>
            <a:ext cx="43891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lstStyle/>
          <a:p>
            <a:endParaRPr lang="sk-SK" dirty="0"/>
          </a:p>
        </p:txBody>
      </p:sp>
      <p:sp>
        <p:nvSpPr>
          <p:cNvPr id="13" name="Shape 11"/>
          <p:cNvSpPr/>
          <p:nvPr/>
        </p:nvSpPr>
        <p:spPr>
          <a:xfrm>
            <a:off x="6260592" y="3457409"/>
            <a:ext cx="22433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14" name="Text 12"/>
          <p:cNvSpPr/>
          <p:nvPr/>
        </p:nvSpPr>
        <p:spPr>
          <a:xfrm>
            <a:off x="6315456" y="3457409"/>
            <a:ext cx="213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Vloženie do DB</a:t>
            </a:r>
            <a:endParaRPr lang="sk-SK" sz="14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sk-SK" sz="950" i="1" dirty="0">
                <a:solidFill>
                  <a:srgbClr val="595959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Neo4j + vektory</a:t>
            </a:r>
            <a:endParaRPr lang="sk-SK" sz="1400" dirty="0"/>
          </a:p>
        </p:txBody>
      </p:sp>
      <p:sp>
        <p:nvSpPr>
          <p:cNvPr id="15" name="Text 13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6 / 19</a:t>
            </a:r>
            <a:endParaRPr lang="sk-SK" sz="9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36C238-5D5D-0AB3-202C-0140D14DA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Predspracovanie: tabuľky a vzorce</a:t>
            </a:r>
            <a:endParaRPr lang="sk-SK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45324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3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Detekcia rozloženia: 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DocLayout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-YOLO, 200 DPI, prah istoty 0,3.</a:t>
            </a:r>
            <a:endParaRPr lang="sk-SK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6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Tabuľky</a:t>
            </a:r>
            <a:endParaRPr lang="sk-SK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2112264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Skupiny po stranách → po 2 obrázkoch do </a:t>
            </a:r>
            <a:r>
              <a:rPr lang="sk-SK" sz="125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GPT 5.4 mini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→ HTML (doslovný text, žiadna sumarizácia).</a:t>
            </a:r>
            <a:endParaRPr lang="sk-SK" sz="1250" dirty="0"/>
          </a:p>
          <a:p>
            <a:pPr marL="0" indent="0"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Druhé LLM volanie → hierarchia: koreň </a:t>
            </a:r>
            <a:r>
              <a:rPr lang="sk-SK" sz="125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Tabuľka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+ listy </a:t>
            </a:r>
            <a:r>
              <a:rPr lang="sk-SK" sz="125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Riadok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(stĺpce ako vlastnosti).</a:t>
            </a:r>
            <a:endParaRPr lang="sk-SK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324612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6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Vzorce</a:t>
            </a:r>
            <a:endParaRPr lang="sk-SK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3575304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Orezané PNG → </a:t>
            </a:r>
            <a:r>
              <a:rPr lang="sk-SK" sz="125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GPT 5.4 mini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→ doslovný </a:t>
            </a:r>
            <a:r>
              <a:rPr lang="sk-SK" sz="12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LaTeX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prepis bez komentára.</a:t>
            </a:r>
            <a:endParaRPr lang="sk-SK" sz="1250" dirty="0"/>
          </a:p>
          <a:p>
            <a:pPr marL="0" indent="0"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Uložené ako vlastnosť uzla </a:t>
            </a:r>
            <a:r>
              <a:rPr lang="sk-SK" sz="125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Vzorec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.</a:t>
            </a:r>
            <a:endParaRPr lang="sk-SK" sz="1250" dirty="0"/>
          </a:p>
        </p:txBody>
      </p:sp>
      <p:sp>
        <p:nvSpPr>
          <p:cNvPr id="12" name="Text 10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7 / 19</a:t>
            </a:r>
            <a:endParaRPr lang="sk-SK" sz="9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A32F956-04B1-9CD8-604F-A4B45C8EEC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EBA3F7-89D9-64E2-8B64-5FBEBACC28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814" y="3107725"/>
            <a:ext cx="2976266" cy="154753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AD4D068-CF44-AAFB-0B01-3EC150F624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4814" y="1347805"/>
            <a:ext cx="2972559" cy="15289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B1F98-ADEE-8D2B-A87D-956350DD5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41A9726-2214-04D6-FFEE-1A979D13ABE0}"/>
              </a:ext>
            </a:extLst>
          </p:cNvPr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Tabuľky</a:t>
            </a:r>
            <a:endParaRPr lang="sk-SK" sz="3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0043A5C-26D6-0B12-E0F7-3322BFDFE049}"/>
              </a:ext>
            </a:extLst>
          </p:cNvPr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8 / 19</a:t>
            </a:r>
            <a:endParaRPr lang="sk-SK" sz="9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8D7A2AC-ECEC-A34C-0498-E9A8363DF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51BA032-8A31-78C7-2BC6-2BB4C8BC7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683" y="925448"/>
            <a:ext cx="2779190" cy="39757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5382206-91B6-B476-D8A2-62043D162F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5753" y="1834979"/>
            <a:ext cx="4576767" cy="20185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F9110ED-F7BB-4BBB-8586-9394BBC3A7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8640" y="1346887"/>
            <a:ext cx="3579919" cy="2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075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Trojkroková extrakcia: ODD a SR</a:t>
            </a:r>
            <a:endParaRPr lang="sk-SK" sz="3000" dirty="0"/>
          </a:p>
        </p:txBody>
      </p:sp>
      <p:sp>
        <p:nvSpPr>
          <p:cNvPr id="3" name="Shape 1"/>
          <p:cNvSpPr/>
          <p:nvPr/>
        </p:nvSpPr>
        <p:spPr>
          <a:xfrm>
            <a:off x="1463040" y="1371600"/>
            <a:ext cx="1694688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4" name="Text 2"/>
          <p:cNvSpPr/>
          <p:nvPr/>
        </p:nvSpPr>
        <p:spPr>
          <a:xfrm>
            <a:off x="1517904" y="1371600"/>
            <a:ext cx="158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ODD</a:t>
            </a:r>
            <a:endParaRPr lang="sk-SK" sz="1400" dirty="0"/>
          </a:p>
        </p:txBody>
      </p:sp>
      <p:sp>
        <p:nvSpPr>
          <p:cNvPr id="5" name="Shape 3"/>
          <p:cNvSpPr/>
          <p:nvPr/>
        </p:nvSpPr>
        <p:spPr>
          <a:xfrm>
            <a:off x="3221736" y="1600200"/>
            <a:ext cx="43891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lstStyle/>
          <a:p>
            <a:endParaRPr lang="sk-SK" dirty="0"/>
          </a:p>
        </p:txBody>
      </p:sp>
      <p:sp>
        <p:nvSpPr>
          <p:cNvPr id="6" name="Shape 4"/>
          <p:cNvSpPr/>
          <p:nvPr/>
        </p:nvSpPr>
        <p:spPr>
          <a:xfrm>
            <a:off x="3724656" y="1371600"/>
            <a:ext cx="1694688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7" name="Text 5"/>
          <p:cNvSpPr/>
          <p:nvPr/>
        </p:nvSpPr>
        <p:spPr>
          <a:xfrm>
            <a:off x="3779520" y="1371600"/>
            <a:ext cx="158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SR</a:t>
            </a:r>
            <a:endParaRPr lang="sk-SK" sz="1400" dirty="0"/>
          </a:p>
        </p:txBody>
      </p:sp>
      <p:sp>
        <p:nvSpPr>
          <p:cNvPr id="8" name="Shape 6"/>
          <p:cNvSpPr/>
          <p:nvPr/>
        </p:nvSpPr>
        <p:spPr>
          <a:xfrm>
            <a:off x="5483352" y="1600200"/>
            <a:ext cx="43891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lstStyle/>
          <a:p>
            <a:endParaRPr lang="sk-SK" dirty="0"/>
          </a:p>
        </p:txBody>
      </p:sp>
      <p:sp>
        <p:nvSpPr>
          <p:cNvPr id="9" name="Shape 7"/>
          <p:cNvSpPr/>
          <p:nvPr/>
        </p:nvSpPr>
        <p:spPr>
          <a:xfrm>
            <a:off x="5986272" y="1371600"/>
            <a:ext cx="1694688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8B8B8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10" name="Text 8"/>
          <p:cNvSpPr/>
          <p:nvPr/>
        </p:nvSpPr>
        <p:spPr>
          <a:xfrm>
            <a:off x="6041136" y="1371600"/>
            <a:ext cx="158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sk-SK" sz="14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SDE</a:t>
            </a:r>
            <a:endParaRPr lang="sk-SK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0574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6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ODD — detekcia v otvorenej doméne</a:t>
            </a:r>
            <a:endParaRPr lang="sk-SK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2386584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Hľadá TYPY entít a vzťahov, nie inštancie.</a:t>
            </a:r>
            <a:endParaRPr lang="sk-SK" sz="1250" dirty="0"/>
          </a:p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</a:t>
            </a:r>
            <a:r>
              <a:rPr lang="sk-SK" sz="12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Chunk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1200 znakov, </a:t>
            </a:r>
            <a:r>
              <a:rPr lang="sk-SK" sz="12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prekryv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200 — širšie okno = kontext.</a:t>
            </a:r>
            <a:endParaRPr lang="sk-SK" sz="1250" dirty="0"/>
          </a:p>
          <a:p>
            <a:pPr marL="0" indent="0">
              <a:buNone/>
            </a:pPr>
            <a:r>
              <a:rPr lang="sk-SK" sz="125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GPT 5.4 mini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paralelne.</a:t>
            </a:r>
            <a:endParaRPr lang="sk-SK" sz="1250" dirty="0"/>
          </a:p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Výstup: zjednotený zoznam typov:</a:t>
            </a:r>
            <a:endParaRPr lang="sk-SK" sz="1250" dirty="0"/>
          </a:p>
        </p:txBody>
      </p:sp>
      <p:sp>
        <p:nvSpPr>
          <p:cNvPr id="13" name="Text 11"/>
          <p:cNvSpPr/>
          <p:nvPr/>
        </p:nvSpPr>
        <p:spPr>
          <a:xfrm>
            <a:off x="4800600" y="205740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6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SR — úprava a spresnenie schémy</a:t>
            </a:r>
            <a:endParaRPr lang="sk-SK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2386584"/>
            <a:ext cx="500448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Surové typy → koherentná schéma bez duplicít.</a:t>
            </a:r>
            <a:endParaRPr lang="sk-SK" sz="1250" dirty="0"/>
          </a:p>
          <a:p>
            <a:pPr>
              <a:spcAft>
                <a:spcPts val="600"/>
              </a:spcAft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</a:t>
            </a:r>
            <a:r>
              <a:rPr lang="sk-SK" sz="1100" dirty="0">
                <a:solidFill>
                  <a:srgbClr val="000000"/>
                </a:solidFill>
                <a:latin typeface="CMU Concrete Roman" panose="02000603000000000000" pitchFamily="2" charset="0"/>
                <a:ea typeface="CMU Concrete Roman" panose="02000603000000000000" pitchFamily="2" charset="0"/>
                <a:cs typeface="CMU Concrete Roman" panose="02000603000000000000" pitchFamily="2" charset="0"/>
              </a:rPr>
              <a:t>JE_OSLOBODENE_OD_DANE, JE_PREDMETOM_DANE, NIE_JE_PREDMETOM_DANE, JE_PODLA, ODKAZUJE_NA</a:t>
            </a:r>
            <a:endParaRPr lang="sk-SK" sz="1100" dirty="0">
              <a:latin typeface="CMU Concrete Roman" panose="02000603000000000000" pitchFamily="2" charset="0"/>
              <a:ea typeface="CMU Concrete Roman" panose="02000603000000000000" pitchFamily="2" charset="0"/>
              <a:cs typeface="CMU Concrete Roman" panose="02000603000000000000" pitchFamily="2" charset="0"/>
            </a:endParaRPr>
          </a:p>
          <a:p>
            <a:pPr marL="0" indent="0"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</a:t>
            </a:r>
            <a:r>
              <a:rPr lang="sk-SK" sz="12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Chain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-of-</a:t>
            </a:r>
            <a:r>
              <a:rPr lang="sk-SK" sz="12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Thought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väčší model </a:t>
            </a:r>
            <a:r>
              <a:rPr lang="sk-SK" sz="125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GPT 5.5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.</a:t>
            </a:r>
            <a:endParaRPr lang="sk-SK" sz="1250" dirty="0"/>
          </a:p>
          <a:p>
            <a:pPr marL="0" indent="0">
              <a:spcAft>
                <a:spcPts val="600"/>
              </a:spcAft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Konštantná základná schéma ako uzemnenie.</a:t>
            </a:r>
          </a:p>
          <a:p>
            <a:pPr>
              <a:spcAft>
                <a:spcPts val="600"/>
              </a:spcAft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Schéma/taxonómia a ontológia.</a:t>
            </a:r>
            <a:endParaRPr lang="sk-SK" sz="1250" dirty="0"/>
          </a:p>
        </p:txBody>
      </p:sp>
      <p:sp>
        <p:nvSpPr>
          <p:cNvPr id="15" name="Text 13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9 / 19</a:t>
            </a:r>
            <a:endParaRPr lang="sk-SK" sz="9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CEDB6B4-DB55-35CF-4B53-E9022AB15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DC033C3-9B42-9FCB-E545-B84BC3D51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7728" y="3288886"/>
            <a:ext cx="1105353" cy="28641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D97C830-F2E1-BB13-2CB4-64BC4A6BBE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9713" y="3621937"/>
            <a:ext cx="1430624" cy="37473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7800E9-70B9-A17D-440E-F94258A09A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2894" y="3895424"/>
            <a:ext cx="1793757" cy="3930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Schémou riadená extrakcia (SDE)</a:t>
            </a:r>
            <a:endParaRPr lang="sk-SK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Vynútená extrakcia inštancií podľa schémy </a:t>
            </a:r>
            <a:r>
              <a:rPr lang="sk-SK" sz="1350" b="1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S*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(spojený NER + RE), GPT 5.4 mini.</a:t>
            </a:r>
            <a:endParaRPr lang="sk-SK" sz="1350" dirty="0"/>
          </a:p>
          <a:p>
            <a:pPr marL="0" indent="0">
              <a:spcAft>
                <a:spcPts val="800"/>
              </a:spcAft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Chunkovanie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po paragrafoch / odsekoch / písmenách, paralelne s limitom a opakovaním.</a:t>
            </a:r>
            <a:endParaRPr lang="sk-SK" sz="1350" dirty="0"/>
          </a:p>
          <a:p>
            <a:pPr marL="0" indent="0"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Normalizácia: id → Title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Case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vzťahy → </a:t>
            </a:r>
            <a:r>
              <a:rPr lang="sk-SK" sz="135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UPPER_SNAKE_CASE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neúplné trojice sa vynechajú.</a:t>
            </a:r>
            <a:endParaRPr lang="sk-SK" sz="1350" dirty="0"/>
          </a:p>
          <a:p>
            <a:pPr marL="0" indent="0"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Väzba </a:t>
            </a:r>
            <a:r>
              <a:rPr lang="sk-SK" sz="135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IN_CHUNK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→ spätná stopa k pôvodnému textu a sekcii.</a:t>
            </a:r>
            <a:endParaRPr lang="sk-SK" sz="1350" dirty="0"/>
          </a:p>
        </p:txBody>
      </p:sp>
      <p:sp>
        <p:nvSpPr>
          <p:cNvPr id="4" name="Text 2"/>
          <p:cNvSpPr/>
          <p:nvPr/>
        </p:nvSpPr>
        <p:spPr>
          <a:xfrm>
            <a:off x="502920" y="3200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5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Pravidlá </a:t>
            </a:r>
            <a:r>
              <a:rPr lang="sk-SK" sz="1500" b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promptu</a:t>
            </a:r>
            <a:endParaRPr lang="sk-SK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349300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Najšpecifickejší typ, id v neurčitku.</a:t>
            </a:r>
            <a:endParaRPr lang="sk-SK" sz="1200" dirty="0"/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</a:t>
            </a:r>
            <a:r>
              <a:rPr lang="sk-SK" sz="12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closest</a:t>
            </a: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-or-</a:t>
            </a:r>
            <a:r>
              <a:rPr lang="sk-SK" sz="12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skip</a:t>
            </a: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(radšej nič ako halucinovaný typ).</a:t>
            </a:r>
            <a:endParaRPr lang="sk-SK" sz="1200" dirty="0"/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Vlastnosti len ak sú v texte explicitné.</a:t>
            </a:r>
            <a:endParaRPr lang="sk-SK" sz="1200" dirty="0"/>
          </a:p>
          <a:p>
            <a:pPr marL="0" indent="0">
              <a:buNone/>
            </a:pPr>
            <a:r>
              <a:rPr lang="sk-SK" sz="120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•  </a:t>
            </a:r>
            <a:r>
              <a:rPr lang="sk-SK" sz="1200" dirty="0" err="1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evidence</a:t>
            </a: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: spresnenie všeobecného vzťahu,  </a:t>
            </a:r>
            <a:r>
              <a:rPr lang="sk-SK" sz="1200" dirty="0" err="1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section</a:t>
            </a: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: stopa na paragraf.</a:t>
            </a:r>
            <a:endParaRPr lang="sk-SK" sz="1200" dirty="0"/>
          </a:p>
        </p:txBody>
      </p:sp>
      <p:sp>
        <p:nvSpPr>
          <p:cNvPr id="8" name="Text 6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10 / 19</a:t>
            </a:r>
            <a:endParaRPr lang="sk-SK" sz="9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E8BCAA-97BB-3599-7618-0BDCA14B6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9A3ED6E-AE75-4890-5190-7A9821FFB1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2264" y="1139055"/>
            <a:ext cx="2368317" cy="12279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6152FE-CF55-582F-5BA2-6866FAAFA3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1480" y="2036153"/>
            <a:ext cx="2398201" cy="1598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7809C5C-2308-A1FE-13EA-374F37217F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5881" y="2844039"/>
            <a:ext cx="2368317" cy="14057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Ako to vyzerá v databáze</a:t>
            </a:r>
            <a:endParaRPr lang="sk-SK" sz="3000" dirty="0"/>
          </a:p>
        </p:txBody>
      </p:sp>
      <p:sp>
        <p:nvSpPr>
          <p:cNvPr id="3" name="Text 1"/>
          <p:cNvSpPr/>
          <p:nvPr/>
        </p:nvSpPr>
        <p:spPr>
          <a:xfrm>
            <a:off x="2706048" y="3982389"/>
            <a:ext cx="4617720" cy="991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k-SK" sz="10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Vkladanie cez </a:t>
            </a:r>
            <a:r>
              <a:rPr lang="sk-SK" sz="105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MERGE</a:t>
            </a:r>
            <a:r>
              <a:rPr lang="sk-SK" sz="10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nad normalizovaným ID → zjednotenie opakovaní, žiadne duplicity.</a:t>
            </a:r>
            <a:endParaRPr lang="sk-SK" sz="1050" dirty="0"/>
          </a:p>
          <a:p>
            <a:pPr marL="0" indent="0">
              <a:buNone/>
            </a:pPr>
            <a:r>
              <a:rPr lang="sk-SK" sz="10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ID dokumentu, napr. </a:t>
            </a:r>
            <a:r>
              <a:rPr lang="sk-SK" sz="105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ZZ_2004_222_20260101</a:t>
            </a:r>
            <a:r>
              <a:rPr lang="sk-SK" sz="10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(zbierka, rok, číslo, dátum).</a:t>
            </a:r>
            <a:endParaRPr lang="sk-SK" sz="1050" dirty="0"/>
          </a:p>
          <a:p>
            <a:pPr marL="0" indent="0">
              <a:buNone/>
            </a:pPr>
            <a:r>
              <a:rPr lang="sk-SK" sz="10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Tri vektorové indexy (</a:t>
            </a:r>
            <a:r>
              <a:rPr lang="sk-SK" sz="105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text-embedding-3-large</a:t>
            </a:r>
            <a:r>
              <a:rPr lang="sk-SK" sz="10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): </a:t>
            </a:r>
            <a:r>
              <a:rPr lang="sk-SK" sz="10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chunky</a:t>
            </a:r>
            <a:r>
              <a:rPr lang="sk-SK" sz="10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entity, vzťahy → hybridné vyhľadávanie.</a:t>
            </a:r>
            <a:endParaRPr lang="sk-SK" sz="1050" dirty="0"/>
          </a:p>
        </p:txBody>
      </p:sp>
      <p:sp>
        <p:nvSpPr>
          <p:cNvPr id="8" name="Text 6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11 / 19</a:t>
            </a:r>
            <a:endParaRPr lang="sk-SK" sz="9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9EB95D5-5BA5-9A9E-3856-1201C1A654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E8406F0-B380-5F1B-9147-EE6FED1CFA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888" y="1240044"/>
            <a:ext cx="5183498" cy="25328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99FE01-F239-3B08-A71A-85D6696AD1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9357" y="1600324"/>
            <a:ext cx="3488822" cy="18123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Semafor a štruktúrovaný výstup</a:t>
            </a:r>
            <a:endParaRPr lang="sk-SK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71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6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Mechanizmus semaforu</a:t>
            </a:r>
            <a:endParaRPr lang="sk-SK" sz="1600" dirty="0"/>
          </a:p>
        </p:txBody>
      </p:sp>
      <p:sp>
        <p:nvSpPr>
          <p:cNvPr id="4" name="Text 2"/>
          <p:cNvSpPr/>
          <p:nvPr/>
        </p:nvSpPr>
        <p:spPr>
          <a:xfrm>
            <a:off x="502920" y="1700784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None/>
            </a:pP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Každý 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chunk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= asynchrónna úloha, desiatky–stovky 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chunkov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narazia na rate-limity (TPM).</a:t>
            </a:r>
            <a:endParaRPr lang="sk-SK" sz="1300" dirty="0"/>
          </a:p>
          <a:p>
            <a:pPr marL="0" indent="0">
              <a:lnSpc>
                <a:spcPct val="106000"/>
              </a:lnSpc>
              <a:spcAft>
                <a:spcPts val="700"/>
              </a:spcAft>
              <a:buNone/>
            </a:pP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Semafor: max 5 paralelných úloh + globálny prepínač + zámok.</a:t>
            </a:r>
            <a:endParaRPr lang="sk-SK" sz="1300" dirty="0"/>
          </a:p>
          <a:p>
            <a:pPr marL="0" indent="0">
              <a:lnSpc>
                <a:spcPct val="106000"/>
              </a:lnSpc>
              <a:spcAft>
                <a:spcPts val="700"/>
              </a:spcAft>
              <a:buNone/>
            </a:pP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Najviac 3 pokusy na úlohu.</a:t>
            </a:r>
            <a:endParaRPr lang="sk-SK" sz="1300" dirty="0"/>
          </a:p>
          <a:p>
            <a:pPr marL="0" indent="0">
              <a:lnSpc>
                <a:spcPct val="106000"/>
              </a:lnSpc>
              <a:spcAft>
                <a:spcPts val="700"/>
              </a:spcAft>
              <a:buNone/>
            </a:pP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Pri zlyhaní prvá úloha vypne prepínač, počká 60 s a znova zapne — jeden spoločný signál.</a:t>
            </a:r>
            <a:endParaRPr lang="sk-SK" sz="1300" dirty="0"/>
          </a:p>
        </p:txBody>
      </p:sp>
      <p:sp>
        <p:nvSpPr>
          <p:cNvPr id="5" name="Text 3"/>
          <p:cNvSpPr/>
          <p:nvPr/>
        </p:nvSpPr>
        <p:spPr>
          <a:xfrm>
            <a:off x="4800600" y="137160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6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Štruktúrovaný výstup</a:t>
            </a:r>
            <a:endParaRPr lang="sk-SK" sz="1600" dirty="0"/>
          </a:p>
        </p:txBody>
      </p:sp>
      <p:sp>
        <p:nvSpPr>
          <p:cNvPr id="6" name="Text 4"/>
          <p:cNvSpPr/>
          <p:nvPr/>
        </p:nvSpPr>
        <p:spPr>
          <a:xfrm>
            <a:off x="4800600" y="1700784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None/>
            </a:pP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Odpoveď modelu zodpovedá vopred danej schéme → priamo do 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Python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objektu (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Pydantic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).</a:t>
            </a:r>
            <a:endParaRPr lang="sk-SK" sz="1300" dirty="0"/>
          </a:p>
          <a:p>
            <a:pPr marL="0" indent="0">
              <a:lnSpc>
                <a:spcPct val="106000"/>
              </a:lnSpc>
              <a:spcAft>
                <a:spcPts val="700"/>
              </a:spcAft>
              <a:buNone/>
            </a:pP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Netreba 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parsovať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voľný text.</a:t>
            </a:r>
            <a:endParaRPr lang="sk-SK" sz="1300" dirty="0"/>
          </a:p>
          <a:p>
            <a:pPr marL="0" indent="0">
              <a:buNone/>
            </a:pPr>
            <a:r>
              <a:rPr lang="sk-SK" sz="130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•  </a:t>
            </a:r>
            <a:r>
              <a:rPr lang="sk-SK" sz="1300" dirty="0" err="1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ProviderStrategy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(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response_format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) — pri agentoch s natívnou podporou.</a:t>
            </a:r>
            <a:endParaRPr lang="sk-SK" sz="1300" dirty="0"/>
          </a:p>
          <a:p>
            <a:pPr marL="0" indent="0">
              <a:buNone/>
            </a:pPr>
            <a:r>
              <a:rPr lang="sk-SK" sz="130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•  </a:t>
            </a:r>
            <a:r>
              <a:rPr lang="sk-SK" sz="1300" dirty="0" err="1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with_structured_output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pri priamych volaniach modelu.</a:t>
            </a:r>
            <a:endParaRPr lang="sk-SK" sz="1300" dirty="0"/>
          </a:p>
        </p:txBody>
      </p:sp>
      <p:sp>
        <p:nvSpPr>
          <p:cNvPr id="7" name="Text 5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12 / 19</a:t>
            </a:r>
            <a:endParaRPr lang="sk-SK" sz="9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497D630-C833-FED4-08D5-773072D3B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Chunkovacia</a:t>
            </a: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stratégia</a:t>
            </a:r>
            <a:endParaRPr lang="sk-SK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71600"/>
            <a:ext cx="4480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k-SK" sz="135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•  </a:t>
            </a:r>
            <a:r>
              <a:rPr lang="sk-SK" sz="1350" dirty="0" err="1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PyPDFLoader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; odstránenie opakujúcich sa hlavičiek; mapovanie znak → strana.</a:t>
            </a:r>
            <a:endParaRPr lang="sk-SK" sz="1350" dirty="0"/>
          </a:p>
          <a:p>
            <a:pPr marL="0" indent="0"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Rozdelenie podľa paragrafov (</a:t>
            </a:r>
            <a:r>
              <a:rPr lang="sk-SK" sz="135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\n§ 16a\n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), priradenie nadpisu, oddelenie úvodného textu.</a:t>
            </a:r>
            <a:endParaRPr lang="sk-SK" sz="1350" dirty="0"/>
          </a:p>
          <a:p>
            <a:pPr marL="0" indent="0">
              <a:lnSpc>
                <a:spcPct val="106000"/>
              </a:lnSpc>
              <a:spcAft>
                <a:spcPts val="900"/>
              </a:spcAft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Vnorená štruktúra: paragraf → odsek → písmeno → bod (značky (1), a), 1.).</a:t>
            </a:r>
            <a:endParaRPr lang="sk-SK" sz="1350" dirty="0"/>
          </a:p>
          <a:p>
            <a:pPr marL="0" indent="0">
              <a:lnSpc>
                <a:spcPct val="106000"/>
              </a:lnSpc>
              <a:spcAft>
                <a:spcPts val="900"/>
              </a:spcAft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Linearizácia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: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chunk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na najhlbšej úrovni + nadradený kontext → čitateľný samostatne.</a:t>
            </a:r>
            <a:endParaRPr lang="sk-SK" sz="1350" dirty="0"/>
          </a:p>
          <a:p>
            <a:pPr marL="0" indent="0">
              <a:lnSpc>
                <a:spcPct val="106000"/>
              </a:lnSpc>
              <a:spcAft>
                <a:spcPts val="900"/>
              </a:spcAft>
              <a:buNone/>
            </a:pP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Príliš dlhé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chunky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→ 3000 znakov,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prekryv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300.</a:t>
            </a:r>
            <a:endParaRPr lang="sk-SK" sz="1350" dirty="0"/>
          </a:p>
        </p:txBody>
      </p:sp>
      <p:sp>
        <p:nvSpPr>
          <p:cNvPr id="6" name="Text 4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13 / 19</a:t>
            </a:r>
            <a:endParaRPr lang="sk-SK" sz="9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0C66F8-2CCB-87A4-5CC9-E0F39DD700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3788C0-EB19-E783-26E8-86CD9DD361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217141"/>
            <a:ext cx="4053708" cy="286367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Validačný a </a:t>
            </a:r>
            <a:r>
              <a:rPr lang="sk-SK" sz="3000" b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koreferenčný</a:t>
            </a: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krok</a:t>
            </a:r>
            <a:endParaRPr lang="sk-SK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2984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35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Cieľ: odstrániť duplicitné pomenovania tej istej entity (variantné odkazy na zákon).</a:t>
            </a:r>
            <a:endParaRPr lang="sk-SK" sz="135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6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Problémy</a:t>
            </a:r>
            <a:endParaRPr lang="sk-SK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2112264"/>
            <a:ext cx="6194442" cy="1732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LLM krok zvyšuje cenu SDE (každá </a:t>
            </a:r>
            <a:r>
              <a:rPr lang="sk-SK" sz="12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entia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× každý dokument, s rovnakým typom).</a:t>
            </a:r>
            <a:endParaRPr lang="sk-SK" sz="1250" dirty="0"/>
          </a:p>
          <a:p>
            <a:pPr marL="0" indent="0">
              <a:buNone/>
            </a:pPr>
            <a:r>
              <a:rPr lang="sk-SK" sz="1250" dirty="0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• </a:t>
            </a:r>
            <a:r>
              <a:rPr lang="sk-SK" sz="1250" dirty="0" err="1">
                <a:solidFill>
                  <a:srgbClr val="000000"/>
                </a:solidFill>
                <a:latin typeface="CMU Typewriter Text" pitchFamily="34" charset="0"/>
                <a:ea typeface="CMU Typewriter Text" pitchFamily="34" charset="-122"/>
                <a:cs typeface="CMU Typewriter Text" pitchFamily="34" charset="-120"/>
              </a:rPr>
              <a:t>RapidFuzz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(prah 75 %): textovo podobné, sémanticky odlišné odkazy sa zle zlúčia.</a:t>
            </a:r>
          </a:p>
          <a:p>
            <a:pPr marL="0" indent="0">
              <a:lnSpc>
                <a:spcPct val="150000"/>
              </a:lnSpc>
              <a:spcAft>
                <a:spcPts val="600"/>
              </a:spcAft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Generický </a:t>
            </a:r>
            <a:r>
              <a:rPr lang="sk-SK" sz="12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embedding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: Faktúra </a:t>
            </a:r>
            <a:r>
              <a:rPr lang="sk-SK" sz="12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vs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. Bloček </a:t>
            </a:r>
            <a:r>
              <a:rPr lang="sk-SK" sz="125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~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86 % → nesprávne zlúčenie.</a:t>
            </a:r>
            <a:endParaRPr lang="sk-SK" sz="1250" dirty="0"/>
          </a:p>
          <a:p>
            <a:pPr marL="0" indent="0">
              <a:lnSpc>
                <a:spcPct val="106000"/>
              </a:lnSpc>
              <a:spcAft>
                <a:spcPts val="600"/>
              </a:spcAft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</a:t>
            </a:r>
            <a:r>
              <a:rPr lang="sk-SK" sz="12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Markdown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pamäť: lineárny rast ceny, strata pozornosti, redundancia.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lang="sk-SK" sz="14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Striktná validácia = kompromis: čistota grafu </a:t>
            </a:r>
            <a:r>
              <a:rPr lang="sk-SK" sz="12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vs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. cena budovania.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</a:t>
            </a:r>
            <a:r>
              <a:rPr lang="sk-SK" sz="12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Agentické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validovanie: menší model posudok a návrh, väčší model rozhodne.</a:t>
            </a:r>
          </a:p>
        </p:txBody>
      </p:sp>
      <p:sp>
        <p:nvSpPr>
          <p:cNvPr id="9" name="Text 7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14 / 19</a:t>
            </a:r>
            <a:endParaRPr lang="sk-SK" sz="9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2ACE46C-8EBC-B785-254C-DCA09E5E1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143540-D2F0-0035-85F2-FB6C9B235BF4}"/>
              </a:ext>
            </a:extLst>
          </p:cNvPr>
          <p:cNvSpPr txBox="1"/>
          <p:nvPr/>
        </p:nvSpPr>
        <p:spPr>
          <a:xfrm>
            <a:off x="777571" y="4071842"/>
            <a:ext cx="556755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Tuzemsko</a:t>
            </a:r>
            <a:r>
              <a:rPr lang="en-US" sz="11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– </a:t>
            </a:r>
            <a:r>
              <a:rPr lang="en-US" sz="11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Územie</a:t>
            </a:r>
            <a:r>
              <a:rPr lang="en-US" sz="11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</a:t>
            </a:r>
            <a:r>
              <a:rPr lang="en-US" sz="11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Slovenskej</a:t>
            </a:r>
            <a:r>
              <a:rPr lang="en-US" sz="11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</a:t>
            </a:r>
            <a:r>
              <a:rPr lang="en-US" sz="11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Republiky</a:t>
            </a:r>
            <a:endParaRPr lang="en-US" sz="11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US" sz="11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Paragraf</a:t>
            </a:r>
            <a:r>
              <a:rPr lang="en-US" sz="11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§ 5 </a:t>
            </a:r>
            <a:r>
              <a:rPr lang="en-US" sz="11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Odsek</a:t>
            </a:r>
            <a:r>
              <a:rPr lang="en-US" sz="11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10 </a:t>
            </a:r>
            <a:r>
              <a:rPr lang="en-US" sz="11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Pismeno</a:t>
            </a:r>
            <a:r>
              <a:rPr lang="en-US" sz="11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a) – </a:t>
            </a:r>
            <a:r>
              <a:rPr lang="en-US" sz="11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Paragraf</a:t>
            </a:r>
            <a:r>
              <a:rPr lang="en-US" sz="11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§ 5 </a:t>
            </a:r>
            <a:r>
              <a:rPr lang="en-US" sz="11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Odsek</a:t>
            </a:r>
            <a:r>
              <a:rPr lang="en-US" sz="11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10 </a:t>
            </a:r>
            <a:r>
              <a:rPr lang="en-US" sz="11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Pismeno</a:t>
            </a:r>
            <a:r>
              <a:rPr lang="en-US" sz="11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A) </a:t>
            </a:r>
            <a:r>
              <a:rPr lang="en-US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(</a:t>
            </a:r>
            <a:r>
              <a:rPr lang="en-US" sz="1100" i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menší</a:t>
            </a:r>
            <a:r>
              <a:rPr lang="en-US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model)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Ako sa testovala extrakcia</a:t>
            </a:r>
            <a:endParaRPr lang="sk-SK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800"/>
              </a:spcAft>
              <a:buNone/>
            </a:pP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Dataset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: 100 grafových dokumentov zo zákona 222/2004 (DPH), 30 validácia / 70 test, tvorený s odborníkom.</a:t>
            </a:r>
            <a:endParaRPr lang="sk-SK" sz="1300" dirty="0"/>
          </a:p>
          <a:p>
            <a:pPr marL="0" indent="0">
              <a:lnSpc>
                <a:spcPct val="106000"/>
              </a:lnSpc>
              <a:spcAft>
                <a:spcPts val="800"/>
              </a:spcAft>
              <a:buNone/>
            </a:pP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Porovnanie predikovaného grafu s ručne anotovaným referenčným grafom.</a:t>
            </a:r>
            <a:endParaRPr lang="sk-SK" sz="1300" dirty="0"/>
          </a:p>
          <a:p>
            <a:pPr marL="0" indent="0">
              <a:lnSpc>
                <a:spcPct val="106000"/>
              </a:lnSpc>
              <a:spcAft>
                <a:spcPts val="800"/>
              </a:spcAft>
              <a:buNone/>
            </a:pP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Normalizácia pred porovnaním: diakritika, </a:t>
            </a:r>
            <a:r>
              <a:rPr lang="sk-SK" sz="130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veľkosť písmen.</a:t>
            </a:r>
          </a:p>
          <a:p>
            <a:pPr marL="0" indent="0">
              <a:lnSpc>
                <a:spcPct val="106000"/>
              </a:lnSpc>
              <a:spcAft>
                <a:spcPts val="800"/>
              </a:spcAft>
              <a:buNone/>
            </a:pP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Hrany sa hodnotia podmienene 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namapovaním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uzlov.</a:t>
            </a:r>
            <a:endParaRPr lang="sk-SK" sz="1300" dirty="0"/>
          </a:p>
          <a:p>
            <a:pPr marL="0" indent="0">
              <a:lnSpc>
                <a:spcPct val="106000"/>
              </a:lnSpc>
              <a:spcAft>
                <a:spcPts val="800"/>
              </a:spcAft>
              <a:buNone/>
            </a:pP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Konfigurácie: GPT 5.4 mini &amp; GPT 5.5 × {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low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high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} × {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zero-shot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</a:t>
            </a:r>
            <a:r>
              <a:rPr lang="sk-SK" sz="13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few-shot</a:t>
            </a:r>
            <a:r>
              <a:rPr lang="sk-SK" sz="13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}.</a:t>
            </a:r>
            <a:endParaRPr lang="sk-SK" sz="1300" dirty="0"/>
          </a:p>
        </p:txBody>
      </p:sp>
      <p:sp>
        <p:nvSpPr>
          <p:cNvPr id="4" name="Text 2"/>
          <p:cNvSpPr/>
          <p:nvPr/>
        </p:nvSpPr>
        <p:spPr>
          <a:xfrm>
            <a:off x="5486400" y="99059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5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Trojvrstvová zhoda uzlov</a:t>
            </a:r>
            <a:endParaRPr lang="sk-SK" sz="1500" dirty="0"/>
          </a:p>
        </p:txBody>
      </p:sp>
      <p:sp>
        <p:nvSpPr>
          <p:cNvPr id="5" name="Text 3"/>
          <p:cNvSpPr/>
          <p:nvPr/>
        </p:nvSpPr>
        <p:spPr>
          <a:xfrm>
            <a:off x="5486399" y="1319778"/>
            <a:ext cx="3610121" cy="1441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Font typeface="+mj-lt"/>
              <a:buAutoNum type="arabicPeriod"/>
            </a:pPr>
            <a:r>
              <a:rPr lang="sk-SK" sz="11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Úplná zhoda ID a typu</a:t>
            </a:r>
            <a:r>
              <a:rPr lang="sk-SK" sz="11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skóre 1,0.</a:t>
            </a:r>
            <a:endParaRPr lang="sk-SK" sz="1100" dirty="0"/>
          </a:p>
          <a:p>
            <a:pPr marL="228600" indent="-228600">
              <a:buFont typeface="+mj-lt"/>
              <a:buAutoNum type="arabicPeriod"/>
            </a:pPr>
            <a:r>
              <a:rPr lang="sk-SK" sz="11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Rovnaký typ a podobnosť id &gt; 0,75</a:t>
            </a:r>
            <a:r>
              <a:rPr lang="sk-SK" sz="11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skóre 0,9 + </a:t>
            </a:r>
            <a:r>
              <a:rPr lang="sk-SK" sz="11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RapidFuzz</a:t>
            </a:r>
            <a:r>
              <a:rPr lang="sk-SK" sz="11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</a:t>
            </a:r>
            <a:r>
              <a:rPr lang="sk-SK" sz="1100" dirty="0" err="1">
                <a:solidFill>
                  <a:srgbClr val="000000"/>
                </a:solidFill>
                <a:latin typeface="CMU Concrete Roman" panose="02000603000000000000" pitchFamily="2" charset="0"/>
                <a:ea typeface="CMU Concrete Roman" panose="02000603000000000000" pitchFamily="2" charset="0"/>
                <a:cs typeface="CMU Concrete Roman" panose="02000603000000000000" pitchFamily="2" charset="0"/>
              </a:rPr>
              <a:t>token_set_ratio</a:t>
            </a:r>
            <a:r>
              <a:rPr lang="sk-SK" sz="1100" dirty="0">
                <a:solidFill>
                  <a:srgbClr val="000000"/>
                </a:solidFill>
                <a:latin typeface="CMU Concrete Roman" panose="02000603000000000000" pitchFamily="2" charset="0"/>
                <a:ea typeface="CMU Concrete Roman" panose="02000603000000000000" pitchFamily="2" charset="0"/>
                <a:cs typeface="CMU Concrete Roman" panose="02000603000000000000" pitchFamily="2" charset="0"/>
              </a:rPr>
              <a:t> </a:t>
            </a:r>
            <a:r>
              <a:rPr lang="sk-SK" sz="1100" dirty="0">
                <a:solidFill>
                  <a:srgbClr val="00000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(0 - 1) / 100, </a:t>
            </a:r>
            <a:r>
              <a:rPr lang="sk-SK" sz="11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[0.9075 – 0.91]</a:t>
            </a:r>
            <a:r>
              <a:rPr lang="sk-SK" sz="1100" dirty="0">
                <a:solidFill>
                  <a:srgbClr val="00000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  <a:endParaRPr lang="sk-SK" sz="11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228600" indent="-228600">
              <a:buAutoNum type="arabicPeriod" startAt="3"/>
            </a:pPr>
            <a:r>
              <a:rPr lang="sk-SK" sz="11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LLM-sudca prah 0,55 </a:t>
            </a:r>
            <a:r>
              <a:rPr lang="sk-SK" sz="11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(</a:t>
            </a:r>
            <a:r>
              <a:rPr lang="sk-SK" sz="11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fallback</a:t>
            </a:r>
            <a:r>
              <a:rPr lang="sk-SK" sz="11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)</a:t>
            </a:r>
            <a:r>
              <a:rPr lang="sk-SK" sz="11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</a:t>
            </a:r>
            <a:r>
              <a:rPr lang="sk-SK" sz="11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– skóre 0,75 + LLM skóre (0 - 1) / 10, </a:t>
            </a:r>
            <a:r>
              <a:rPr lang="sk-SK" sz="11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[0.75 – 0.85].</a:t>
            </a:r>
          </a:p>
          <a:p>
            <a:pPr marL="228600" indent="-228600">
              <a:buAutoNum type="arabicPeriod" startAt="3"/>
            </a:pPr>
            <a:endParaRPr lang="sk-SK" sz="1100" i="1" dirty="0">
              <a:solidFill>
                <a:srgbClr val="000000"/>
              </a:solidFill>
              <a:latin typeface="CMU Serif" pitchFamily="34" charset="0"/>
              <a:ea typeface="CMU Serif" pitchFamily="34" charset="-122"/>
              <a:cs typeface="CMU Serif" pitchFamily="34" charset="-120"/>
            </a:endParaRPr>
          </a:p>
          <a:p>
            <a:r>
              <a:rPr lang="sk-SK" sz="1100" i="1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→ kandidáti zoradení podľa skóre, </a:t>
            </a:r>
            <a:r>
              <a:rPr lang="sk-SK" sz="1100" i="1" dirty="0" err="1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greedy</a:t>
            </a:r>
            <a:r>
              <a:rPr lang="sk-SK" sz="1100" i="1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párovanie 1 : 1.</a:t>
            </a:r>
            <a:endParaRPr lang="sk-SK" sz="1100" dirty="0"/>
          </a:p>
        </p:txBody>
      </p:sp>
      <p:sp>
        <p:nvSpPr>
          <p:cNvPr id="7" name="Text 5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15 / 19</a:t>
            </a:r>
            <a:endParaRPr lang="sk-SK" sz="9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CB331E-C2B5-0133-3D86-D2013B80E2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sp>
        <p:nvSpPr>
          <p:cNvPr id="9" name="Text 2">
            <a:extLst>
              <a:ext uri="{FF2B5EF4-FFF2-40B4-BE49-F238E27FC236}">
                <a16:creationId xmlns:a16="http://schemas.microsoft.com/office/drawing/2014/main" id="{3842F2AB-9B0A-1A0A-C752-51FA0AA37869}"/>
              </a:ext>
            </a:extLst>
          </p:cNvPr>
          <p:cNvSpPr/>
          <p:nvPr/>
        </p:nvSpPr>
        <p:spPr>
          <a:xfrm>
            <a:off x="5486399" y="2847535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5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Trojvrstvová zhoda vzťahov</a:t>
            </a:r>
            <a:endParaRPr lang="sk-SK" sz="15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F925F22C-0DA5-C595-43E6-F2DF62A5EBB6}"/>
              </a:ext>
            </a:extLst>
          </p:cNvPr>
          <p:cNvSpPr/>
          <p:nvPr/>
        </p:nvSpPr>
        <p:spPr>
          <a:xfrm>
            <a:off x="5486398" y="3176719"/>
            <a:ext cx="3610121" cy="1441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Font typeface="+mj-lt"/>
              <a:buAutoNum type="arabicPeriod"/>
            </a:pPr>
            <a:r>
              <a:rPr lang="sk-SK" sz="11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Úplná zhoda relácie </a:t>
            </a:r>
            <a:r>
              <a:rPr lang="sk-SK" sz="11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— skóre 1,0.</a:t>
            </a:r>
            <a:endParaRPr lang="sk-SK" sz="1100" dirty="0"/>
          </a:p>
          <a:p>
            <a:pPr marL="228600" indent="-228600">
              <a:buFont typeface="+mj-lt"/>
              <a:buAutoNum type="arabicPeriod"/>
            </a:pPr>
            <a:r>
              <a:rPr lang="sk-SK" sz="11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Rovnaké entity a nezhodný typ hrany </a:t>
            </a:r>
            <a:r>
              <a:rPr lang="sk-SK" sz="11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— skóre 0,75 + LLM skóre </a:t>
            </a:r>
            <a:r>
              <a:rPr lang="sk-SK" sz="1100" dirty="0">
                <a:solidFill>
                  <a:srgbClr val="00000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(0 - 1) / 10, </a:t>
            </a:r>
            <a:r>
              <a:rPr lang="sk-SK" sz="11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[0.75 – 0.85]</a:t>
            </a:r>
            <a:r>
              <a:rPr lang="sk-SK" sz="1100" dirty="0">
                <a:solidFill>
                  <a:srgbClr val="00000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  <a:endParaRPr lang="sk-SK" sz="11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228600" indent="-228600">
              <a:buAutoNum type="arabicPeriod" startAt="3"/>
            </a:pPr>
            <a:r>
              <a:rPr lang="sk-SK" sz="11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Nezhodné entity a vzťah, podobnosť &gt; 0,55 </a:t>
            </a:r>
            <a:r>
              <a:rPr lang="sk-SK" sz="11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(</a:t>
            </a:r>
            <a:r>
              <a:rPr lang="sk-SK" sz="11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fallback</a:t>
            </a:r>
            <a:r>
              <a:rPr lang="sk-SK" sz="11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) – skóre 0,6 + LLM skóre (0 - 1) / 10 + podobnosť (0 - 1) / 20, </a:t>
            </a:r>
            <a:r>
              <a:rPr lang="sk-SK" sz="11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[približne 0.65 – 0.76].</a:t>
            </a:r>
          </a:p>
          <a:p>
            <a:pPr marL="228600" indent="-228600">
              <a:buAutoNum type="arabicPeriod" startAt="3"/>
            </a:pPr>
            <a:endParaRPr lang="sk-SK" sz="1100" i="1" dirty="0">
              <a:solidFill>
                <a:srgbClr val="000000"/>
              </a:solidFill>
              <a:latin typeface="CMU Serif" pitchFamily="34" charset="0"/>
              <a:ea typeface="CMU Serif" pitchFamily="34" charset="-122"/>
              <a:cs typeface="CMU Serif" pitchFamily="34" charset="-120"/>
            </a:endParaRPr>
          </a:p>
          <a:p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Podobnosť (</a:t>
            </a:r>
            <a:r>
              <a:rPr lang="sk-SK" sz="8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RapidFuzz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</a:t>
            </a:r>
            <a:r>
              <a:rPr lang="sk-SK" sz="800" dirty="0" err="1">
                <a:solidFill>
                  <a:srgbClr val="000000"/>
                </a:solidFill>
                <a:latin typeface="CMU Concrete Roman" panose="02000603000000000000" pitchFamily="2" charset="0"/>
                <a:ea typeface="CMU Concrete Roman" panose="02000603000000000000" pitchFamily="2" charset="0"/>
                <a:cs typeface="CMU Concrete Roman" panose="02000603000000000000" pitchFamily="2" charset="0"/>
              </a:rPr>
              <a:t>token_set_ratio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)  = 0,3 * id </a:t>
            </a:r>
            <a:r>
              <a:rPr lang="sk-SK" sz="8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800" i="1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h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+ 0,3 * id </a:t>
            </a:r>
            <a:r>
              <a:rPr lang="sk-SK" sz="8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800" i="1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+ 0,25 * </a:t>
            </a:r>
            <a:r>
              <a:rPr lang="sk-SK" sz="8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r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+ 0,075 * typ </a:t>
            </a:r>
            <a:r>
              <a:rPr lang="sk-SK" sz="8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800" i="1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h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+ 0,075 * typ </a:t>
            </a:r>
            <a:r>
              <a:rPr lang="sk-SK" sz="8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800" i="1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</a:t>
            </a:r>
          </a:p>
          <a:p>
            <a:pPr marL="228600" indent="-228600">
              <a:buAutoNum type="arabicPeriod" startAt="3"/>
            </a:pPr>
            <a:endParaRPr lang="sk-SK" sz="1100" i="1" dirty="0">
              <a:solidFill>
                <a:srgbClr val="000000"/>
              </a:solidFill>
              <a:latin typeface="CMU Serif" pitchFamily="34" charset="0"/>
              <a:ea typeface="CMU Serif" pitchFamily="34" charset="-122"/>
              <a:cs typeface="CMU Serif" pitchFamily="34" charset="-120"/>
            </a:endParaRPr>
          </a:p>
          <a:p>
            <a:r>
              <a:rPr lang="sk-SK" sz="1100" i="1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→ kandidáti zoradení podľa skóre, </a:t>
            </a:r>
            <a:r>
              <a:rPr lang="sk-SK" sz="1100" i="1" dirty="0" err="1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greedy</a:t>
            </a:r>
            <a:r>
              <a:rPr lang="sk-SK" sz="1100" i="1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párovanie 1 : 1.</a:t>
            </a:r>
            <a:endParaRPr lang="sk-SK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391632-4A6E-0578-BC3F-DA405ECF791D}"/>
              </a:ext>
            </a:extLst>
          </p:cNvPr>
          <p:cNvSpPr txBox="1"/>
          <p:nvPr/>
        </p:nvSpPr>
        <p:spPr>
          <a:xfrm>
            <a:off x="1505624" y="4213782"/>
            <a:ext cx="274947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Legal-SBERT, </a:t>
            </a:r>
            <a:r>
              <a:rPr lang="en-US" sz="11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InLegal-Sbert</a:t>
            </a:r>
            <a:r>
              <a:rPr lang="en-US" sz="11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</a:t>
            </a:r>
            <a:r>
              <a:rPr lang="en-US" sz="11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JurisBERT</a:t>
            </a:r>
            <a:endParaRPr lang="en-US" sz="11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Výsledky extrakcie</a:t>
            </a:r>
            <a:endParaRPr lang="sk-SK" sz="3000" dirty="0"/>
          </a:p>
        </p:txBody>
      </p:sp>
      <p:sp>
        <p:nvSpPr>
          <p:cNvPr id="7" name="Text 4"/>
          <p:cNvSpPr/>
          <p:nvPr/>
        </p:nvSpPr>
        <p:spPr>
          <a:xfrm>
            <a:off x="6235567" y="3735935"/>
            <a:ext cx="21410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950" i="1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ZS = </a:t>
            </a:r>
            <a:r>
              <a:rPr lang="sk-SK" sz="950" i="1" dirty="0" err="1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zero-shot</a:t>
            </a:r>
            <a:r>
              <a:rPr lang="sk-SK" sz="950" i="1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· FS = </a:t>
            </a:r>
            <a:r>
              <a:rPr lang="sk-SK" sz="950" i="1" dirty="0" err="1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few-shot</a:t>
            </a:r>
            <a:endParaRPr lang="sk-SK" sz="950" dirty="0"/>
          </a:p>
        </p:txBody>
      </p:sp>
      <p:sp>
        <p:nvSpPr>
          <p:cNvPr id="9" name="Text 5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16 / 19</a:t>
            </a:r>
            <a:endParaRPr lang="sk-SK" sz="9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3ED76F-B0EC-2487-96E2-A2DC1BA81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DBD4BE1-7F40-4D78-4D42-682E2DAB6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868" y="1199609"/>
            <a:ext cx="5161487" cy="31329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0A37325-C1CF-46B7-C389-638FE759D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8152" y="2625252"/>
            <a:ext cx="3675848" cy="2058802"/>
          </a:xfrm>
          <a:prstGeom prst="rect">
            <a:avLst/>
          </a:prstGeom>
        </p:spPr>
      </p:pic>
      <p:sp>
        <p:nvSpPr>
          <p:cNvPr id="45" name="Text 1">
            <a:extLst>
              <a:ext uri="{FF2B5EF4-FFF2-40B4-BE49-F238E27FC236}">
                <a16:creationId xmlns:a16="http://schemas.microsoft.com/office/drawing/2014/main" id="{499D51DF-F8A6-9180-9B08-C12FF037E89E}"/>
              </a:ext>
            </a:extLst>
          </p:cNvPr>
          <p:cNvSpPr/>
          <p:nvPr/>
        </p:nvSpPr>
        <p:spPr>
          <a:xfrm>
            <a:off x="5010952" y="5943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</a:t>
            </a:r>
            <a:r>
              <a:rPr lang="sk-SK" sz="9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=</a:t>
            </a:r>
            <a:endParaRPr lang="sk-SK" sz="900" dirty="0"/>
          </a:p>
        </p:txBody>
      </p:sp>
      <p:sp>
        <p:nvSpPr>
          <p:cNvPr id="46" name="Text 2">
            <a:extLst>
              <a:ext uri="{FF2B5EF4-FFF2-40B4-BE49-F238E27FC236}">
                <a16:creationId xmlns:a16="http://schemas.microsoft.com/office/drawing/2014/main" id="{ACA658F7-482D-7441-85DC-3FBB96254DD5}"/>
              </a:ext>
            </a:extLst>
          </p:cNvPr>
          <p:cNvSpPr/>
          <p:nvPr/>
        </p:nvSpPr>
        <p:spPr>
          <a:xfrm>
            <a:off x="5712315" y="45720"/>
            <a:ext cx="1383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TP</a:t>
            </a:r>
            <a:endParaRPr lang="sk-SK" sz="900" i="1" dirty="0"/>
          </a:p>
        </p:txBody>
      </p:sp>
      <p:sp>
        <p:nvSpPr>
          <p:cNvPr id="47" name="Shape 3">
            <a:extLst>
              <a:ext uri="{FF2B5EF4-FFF2-40B4-BE49-F238E27FC236}">
                <a16:creationId xmlns:a16="http://schemas.microsoft.com/office/drawing/2014/main" id="{6676580B-0EFC-9914-4AFC-362D56158645}"/>
              </a:ext>
            </a:extLst>
          </p:cNvPr>
          <p:cNvSpPr/>
          <p:nvPr/>
        </p:nvSpPr>
        <p:spPr>
          <a:xfrm>
            <a:off x="6000308" y="342900"/>
            <a:ext cx="783596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48" name="Text 4">
            <a:extLst>
              <a:ext uri="{FF2B5EF4-FFF2-40B4-BE49-F238E27FC236}">
                <a16:creationId xmlns:a16="http://schemas.microsoft.com/office/drawing/2014/main" id="{923C7E5C-B473-74A9-F5DD-CA9EF2584634}"/>
              </a:ext>
            </a:extLst>
          </p:cNvPr>
          <p:cNvSpPr/>
          <p:nvPr/>
        </p:nvSpPr>
        <p:spPr>
          <a:xfrm>
            <a:off x="5700187" y="355600"/>
            <a:ext cx="1383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TP + FP</a:t>
            </a:r>
            <a:endParaRPr lang="sk-SK" sz="900" i="1" dirty="0"/>
          </a:p>
        </p:txBody>
      </p:sp>
      <p:sp>
        <p:nvSpPr>
          <p:cNvPr id="49" name="Text 5">
            <a:extLst>
              <a:ext uri="{FF2B5EF4-FFF2-40B4-BE49-F238E27FC236}">
                <a16:creationId xmlns:a16="http://schemas.microsoft.com/office/drawing/2014/main" id="{FFFAA8FD-3702-FD4B-F2BD-77ED45FECC91}"/>
              </a:ext>
            </a:extLst>
          </p:cNvPr>
          <p:cNvSpPr/>
          <p:nvPr/>
        </p:nvSpPr>
        <p:spPr>
          <a:xfrm>
            <a:off x="6886293" y="594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k-SK" sz="900" i="1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presnosť</a:t>
            </a:r>
            <a:endParaRPr lang="sk-SK" sz="900" dirty="0"/>
          </a:p>
        </p:txBody>
      </p:sp>
      <p:sp>
        <p:nvSpPr>
          <p:cNvPr id="50" name="Text 6">
            <a:extLst>
              <a:ext uri="{FF2B5EF4-FFF2-40B4-BE49-F238E27FC236}">
                <a16:creationId xmlns:a16="http://schemas.microsoft.com/office/drawing/2014/main" id="{9A8867DB-5D1C-2782-DA2D-4DE418495C7E}"/>
              </a:ext>
            </a:extLst>
          </p:cNvPr>
          <p:cNvSpPr/>
          <p:nvPr/>
        </p:nvSpPr>
        <p:spPr>
          <a:xfrm>
            <a:off x="6734403" y="75867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R</a:t>
            </a:r>
            <a:r>
              <a:rPr lang="sk-SK" sz="9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=</a:t>
            </a:r>
            <a:endParaRPr lang="sk-SK" sz="900" dirty="0"/>
          </a:p>
        </p:txBody>
      </p:sp>
      <p:sp>
        <p:nvSpPr>
          <p:cNvPr id="51" name="Text 7">
            <a:extLst>
              <a:ext uri="{FF2B5EF4-FFF2-40B4-BE49-F238E27FC236}">
                <a16:creationId xmlns:a16="http://schemas.microsoft.com/office/drawing/2014/main" id="{27332B64-5185-775A-9E31-45E780F2E62A}"/>
              </a:ext>
            </a:extLst>
          </p:cNvPr>
          <p:cNvSpPr/>
          <p:nvPr/>
        </p:nvSpPr>
        <p:spPr>
          <a:xfrm>
            <a:off x="7423638" y="55625"/>
            <a:ext cx="1383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TP</a:t>
            </a:r>
            <a:endParaRPr lang="sk-SK" sz="900" i="1" dirty="0"/>
          </a:p>
        </p:txBody>
      </p:sp>
      <p:sp>
        <p:nvSpPr>
          <p:cNvPr id="52" name="Shape 8">
            <a:extLst>
              <a:ext uri="{FF2B5EF4-FFF2-40B4-BE49-F238E27FC236}">
                <a16:creationId xmlns:a16="http://schemas.microsoft.com/office/drawing/2014/main" id="{39193F5B-6293-C9A6-290F-A2381C0AC582}"/>
              </a:ext>
            </a:extLst>
          </p:cNvPr>
          <p:cNvSpPr/>
          <p:nvPr/>
        </p:nvSpPr>
        <p:spPr>
          <a:xfrm>
            <a:off x="7728198" y="359331"/>
            <a:ext cx="796944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53" name="Text 9">
            <a:extLst>
              <a:ext uri="{FF2B5EF4-FFF2-40B4-BE49-F238E27FC236}">
                <a16:creationId xmlns:a16="http://schemas.microsoft.com/office/drawing/2014/main" id="{C03577D1-9D0D-2550-A712-5B5C678DD6F8}"/>
              </a:ext>
            </a:extLst>
          </p:cNvPr>
          <p:cNvSpPr/>
          <p:nvPr/>
        </p:nvSpPr>
        <p:spPr>
          <a:xfrm>
            <a:off x="7389031" y="378762"/>
            <a:ext cx="1383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TP + FN</a:t>
            </a:r>
            <a:endParaRPr lang="sk-SK" sz="900" i="1" dirty="0"/>
          </a:p>
        </p:txBody>
      </p:sp>
      <p:sp>
        <p:nvSpPr>
          <p:cNvPr id="54" name="Text 10">
            <a:extLst>
              <a:ext uri="{FF2B5EF4-FFF2-40B4-BE49-F238E27FC236}">
                <a16:creationId xmlns:a16="http://schemas.microsoft.com/office/drawing/2014/main" id="{D25EE853-6999-91D8-0914-6C84BE4F10C4}"/>
              </a:ext>
            </a:extLst>
          </p:cNvPr>
          <p:cNvSpPr/>
          <p:nvPr/>
        </p:nvSpPr>
        <p:spPr>
          <a:xfrm>
            <a:off x="8609744" y="75867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k-SK" sz="900" i="1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úplnosť</a:t>
            </a:r>
            <a:endParaRPr lang="sk-SK" sz="900" dirty="0"/>
          </a:p>
        </p:txBody>
      </p:sp>
      <p:sp>
        <p:nvSpPr>
          <p:cNvPr id="55" name="Text 11">
            <a:extLst>
              <a:ext uri="{FF2B5EF4-FFF2-40B4-BE49-F238E27FC236}">
                <a16:creationId xmlns:a16="http://schemas.microsoft.com/office/drawing/2014/main" id="{CF7E169C-BF64-2418-37CC-F5ECE85B35EA}"/>
              </a:ext>
            </a:extLst>
          </p:cNvPr>
          <p:cNvSpPr/>
          <p:nvPr/>
        </p:nvSpPr>
        <p:spPr>
          <a:xfrm>
            <a:off x="5744928" y="52248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F1</a:t>
            </a:r>
            <a:r>
              <a:rPr lang="sk-SK" sz="9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=</a:t>
            </a:r>
            <a:endParaRPr lang="sk-SK" sz="900" dirty="0"/>
          </a:p>
        </p:txBody>
      </p:sp>
      <p:sp>
        <p:nvSpPr>
          <p:cNvPr id="56" name="Text 12">
            <a:extLst>
              <a:ext uri="{FF2B5EF4-FFF2-40B4-BE49-F238E27FC236}">
                <a16:creationId xmlns:a16="http://schemas.microsoft.com/office/drawing/2014/main" id="{44062121-68CF-135B-64B0-3F5DD76C2AA9}"/>
              </a:ext>
            </a:extLst>
          </p:cNvPr>
          <p:cNvSpPr/>
          <p:nvPr/>
        </p:nvSpPr>
        <p:spPr>
          <a:xfrm>
            <a:off x="6476708" y="504196"/>
            <a:ext cx="1383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sk-SK" sz="9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2</a:t>
            </a: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· P · R</a:t>
            </a:r>
            <a:endParaRPr lang="sk-SK" sz="900" i="1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8E2C815B-0A14-64B3-1EBD-5210A08A0506}"/>
              </a:ext>
            </a:extLst>
          </p:cNvPr>
          <p:cNvSpPr/>
          <p:nvPr/>
        </p:nvSpPr>
        <p:spPr>
          <a:xfrm>
            <a:off x="6738723" y="805948"/>
            <a:ext cx="796944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7CB4D088-C1FA-0B71-0FE4-02F74A88DBF0}"/>
              </a:ext>
            </a:extLst>
          </p:cNvPr>
          <p:cNvSpPr/>
          <p:nvPr/>
        </p:nvSpPr>
        <p:spPr>
          <a:xfrm>
            <a:off x="6476708" y="815854"/>
            <a:ext cx="1383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 + R</a:t>
            </a:r>
            <a:endParaRPr lang="sk-SK" sz="900" i="1" dirty="0"/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9DB47CAC-38A1-0C5E-FB8E-F983344C2262}"/>
              </a:ext>
            </a:extLst>
          </p:cNvPr>
          <p:cNvSpPr/>
          <p:nvPr/>
        </p:nvSpPr>
        <p:spPr>
          <a:xfrm>
            <a:off x="7615062" y="52248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k-SK" sz="900" i="1" dirty="0" err="1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harm</a:t>
            </a:r>
            <a:r>
              <a:rPr lang="sk-SK" sz="900" i="1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. priemer</a:t>
            </a:r>
            <a:endParaRPr lang="sk-SK" sz="900" dirty="0"/>
          </a:p>
        </p:txBody>
      </p:sp>
      <p:sp>
        <p:nvSpPr>
          <p:cNvPr id="60" name="Text 16">
            <a:extLst>
              <a:ext uri="{FF2B5EF4-FFF2-40B4-BE49-F238E27FC236}">
                <a16:creationId xmlns:a16="http://schemas.microsoft.com/office/drawing/2014/main" id="{7592AA57-C312-EC10-C6C4-F3FAD5E19540}"/>
              </a:ext>
            </a:extLst>
          </p:cNvPr>
          <p:cNvSpPr/>
          <p:nvPr/>
        </p:nvSpPr>
        <p:spPr>
          <a:xfrm>
            <a:off x="4813220" y="997839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H</a:t>
            </a:r>
            <a:r>
              <a:rPr lang="sk-SK" sz="9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=</a:t>
            </a:r>
            <a:endParaRPr lang="sk-SK" sz="900" dirty="0"/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5BA7F1B3-4B72-461A-F127-120E5DC75E78}"/>
              </a:ext>
            </a:extLst>
          </p:cNvPr>
          <p:cNvSpPr/>
          <p:nvPr/>
        </p:nvSpPr>
        <p:spPr>
          <a:xfrm>
            <a:off x="5502455" y="979551"/>
            <a:ext cx="1383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FP</a:t>
            </a:r>
            <a:endParaRPr lang="sk-SK" sz="900" i="1" dirty="0"/>
          </a:p>
        </p:txBody>
      </p:sp>
      <p:sp>
        <p:nvSpPr>
          <p:cNvPr id="62" name="Shape 18">
            <a:extLst>
              <a:ext uri="{FF2B5EF4-FFF2-40B4-BE49-F238E27FC236}">
                <a16:creationId xmlns:a16="http://schemas.microsoft.com/office/drawing/2014/main" id="{BA10F262-DED6-905E-1B76-15CFD75DF4C9}"/>
              </a:ext>
            </a:extLst>
          </p:cNvPr>
          <p:cNvSpPr/>
          <p:nvPr/>
        </p:nvSpPr>
        <p:spPr>
          <a:xfrm>
            <a:off x="5802576" y="1281303"/>
            <a:ext cx="783596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63" name="Text 19">
            <a:extLst>
              <a:ext uri="{FF2B5EF4-FFF2-40B4-BE49-F238E27FC236}">
                <a16:creationId xmlns:a16="http://schemas.microsoft.com/office/drawing/2014/main" id="{CF2917B9-3584-A04D-39F7-A136E903C827}"/>
              </a:ext>
            </a:extLst>
          </p:cNvPr>
          <p:cNvSpPr/>
          <p:nvPr/>
        </p:nvSpPr>
        <p:spPr>
          <a:xfrm>
            <a:off x="5467848" y="1294384"/>
            <a:ext cx="1383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TP + FP</a:t>
            </a:r>
            <a:endParaRPr lang="sk-SK" sz="900" i="1" dirty="0"/>
          </a:p>
        </p:txBody>
      </p:sp>
      <p:sp>
        <p:nvSpPr>
          <p:cNvPr id="64" name="Text 20">
            <a:extLst>
              <a:ext uri="{FF2B5EF4-FFF2-40B4-BE49-F238E27FC236}">
                <a16:creationId xmlns:a16="http://schemas.microsoft.com/office/drawing/2014/main" id="{E6C84EF1-FF85-A48E-627A-4630FE039E1F}"/>
              </a:ext>
            </a:extLst>
          </p:cNvPr>
          <p:cNvSpPr/>
          <p:nvPr/>
        </p:nvSpPr>
        <p:spPr>
          <a:xfrm>
            <a:off x="6683354" y="997839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k-SK" sz="900" i="1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halucinácie</a:t>
            </a:r>
            <a:endParaRPr lang="sk-SK" sz="900" dirty="0"/>
          </a:p>
        </p:txBody>
      </p:sp>
      <p:sp>
        <p:nvSpPr>
          <p:cNvPr id="65" name="Text 21">
            <a:extLst>
              <a:ext uri="{FF2B5EF4-FFF2-40B4-BE49-F238E27FC236}">
                <a16:creationId xmlns:a16="http://schemas.microsoft.com/office/drawing/2014/main" id="{D10E8B68-EA5F-CC9C-2226-2A3869987FAB}"/>
              </a:ext>
            </a:extLst>
          </p:cNvPr>
          <p:cNvSpPr/>
          <p:nvPr/>
        </p:nvSpPr>
        <p:spPr>
          <a:xfrm>
            <a:off x="6644525" y="1011503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O</a:t>
            </a:r>
            <a:r>
              <a:rPr lang="sk-SK" sz="9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=</a:t>
            </a:r>
            <a:endParaRPr lang="sk-SK" sz="900" dirty="0"/>
          </a:p>
        </p:txBody>
      </p:sp>
      <p:sp>
        <p:nvSpPr>
          <p:cNvPr id="66" name="Text 22">
            <a:extLst>
              <a:ext uri="{FF2B5EF4-FFF2-40B4-BE49-F238E27FC236}">
                <a16:creationId xmlns:a16="http://schemas.microsoft.com/office/drawing/2014/main" id="{7C977498-23E7-F09E-CDB6-E51A3242F3C3}"/>
              </a:ext>
            </a:extLst>
          </p:cNvPr>
          <p:cNvSpPr/>
          <p:nvPr/>
        </p:nvSpPr>
        <p:spPr>
          <a:xfrm>
            <a:off x="7333760" y="1002359"/>
            <a:ext cx="1383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FN</a:t>
            </a:r>
            <a:endParaRPr lang="sk-SK" sz="900" i="1" dirty="0"/>
          </a:p>
        </p:txBody>
      </p:sp>
      <p:sp>
        <p:nvSpPr>
          <p:cNvPr id="67" name="Shape 23">
            <a:extLst>
              <a:ext uri="{FF2B5EF4-FFF2-40B4-BE49-F238E27FC236}">
                <a16:creationId xmlns:a16="http://schemas.microsoft.com/office/drawing/2014/main" id="{4E9EE377-0058-2EF6-D7DB-60F4DD4F06F7}"/>
              </a:ext>
            </a:extLst>
          </p:cNvPr>
          <p:cNvSpPr/>
          <p:nvPr/>
        </p:nvSpPr>
        <p:spPr>
          <a:xfrm>
            <a:off x="7633881" y="1294967"/>
            <a:ext cx="783596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68" name="Text 24">
            <a:extLst>
              <a:ext uri="{FF2B5EF4-FFF2-40B4-BE49-F238E27FC236}">
                <a16:creationId xmlns:a16="http://schemas.microsoft.com/office/drawing/2014/main" id="{A481ADCD-C4FB-22F7-2A90-798B1A7EBF93}"/>
              </a:ext>
            </a:extLst>
          </p:cNvPr>
          <p:cNvSpPr/>
          <p:nvPr/>
        </p:nvSpPr>
        <p:spPr>
          <a:xfrm>
            <a:off x="7333760" y="1318462"/>
            <a:ext cx="1383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sk-SK" sz="9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TP + FN</a:t>
            </a:r>
            <a:endParaRPr lang="sk-SK" sz="900" i="1" dirty="0"/>
          </a:p>
        </p:txBody>
      </p:sp>
      <p:sp>
        <p:nvSpPr>
          <p:cNvPr id="69" name="Text 25">
            <a:extLst>
              <a:ext uri="{FF2B5EF4-FFF2-40B4-BE49-F238E27FC236}">
                <a16:creationId xmlns:a16="http://schemas.microsoft.com/office/drawing/2014/main" id="{B74F5242-B834-0A1D-DE17-7314C2E95AE6}"/>
              </a:ext>
            </a:extLst>
          </p:cNvPr>
          <p:cNvSpPr/>
          <p:nvPr/>
        </p:nvSpPr>
        <p:spPr>
          <a:xfrm>
            <a:off x="8514659" y="1020647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k-SK" sz="900" i="1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vynechania</a:t>
            </a:r>
            <a:endParaRPr lang="sk-SK" sz="90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39EA0296-F630-F66C-ABE6-10F7690BB06C}"/>
              </a:ext>
            </a:extLst>
          </p:cNvPr>
          <p:cNvSpPr/>
          <p:nvPr/>
        </p:nvSpPr>
        <p:spPr>
          <a:xfrm>
            <a:off x="5655255" y="1639067"/>
            <a:ext cx="33570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8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GED — normalizovaná grafová </a:t>
            </a:r>
            <a:r>
              <a:rPr lang="sk-SK" sz="800" b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editovacia</a:t>
            </a:r>
            <a:r>
              <a:rPr lang="sk-SK" sz="8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vzdialenosť</a:t>
            </a:r>
            <a:endParaRPr lang="sk-SK" sz="800" dirty="0"/>
          </a:p>
        </p:txBody>
      </p:sp>
      <p:sp>
        <p:nvSpPr>
          <p:cNvPr id="71" name="Text 27">
            <a:extLst>
              <a:ext uri="{FF2B5EF4-FFF2-40B4-BE49-F238E27FC236}">
                <a16:creationId xmlns:a16="http://schemas.microsoft.com/office/drawing/2014/main" id="{6480B853-0218-8073-80C1-F352D7979BFB}"/>
              </a:ext>
            </a:extLst>
          </p:cNvPr>
          <p:cNvSpPr/>
          <p:nvPr/>
        </p:nvSpPr>
        <p:spPr>
          <a:xfrm>
            <a:off x="5779280" y="1724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sk-SK" sz="8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FP</a:t>
            </a:r>
            <a:r>
              <a:rPr lang="sk-SK" sz="800" i="1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</a:t>
            </a:r>
            <a:r>
              <a:rPr lang="sk-SK" sz="8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+ FN</a:t>
            </a:r>
            <a:r>
              <a:rPr lang="sk-SK" sz="800" i="1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</a:t>
            </a:r>
            <a:r>
              <a:rPr lang="sk-SK" sz="8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+ FP</a:t>
            </a:r>
            <a:r>
              <a:rPr lang="sk-SK" sz="800" i="1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8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+ FN</a:t>
            </a:r>
            <a:r>
              <a:rPr lang="sk-SK" sz="800" i="1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8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+ Δ</a:t>
            </a:r>
            <a:r>
              <a:rPr lang="sk-SK" sz="800" i="1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</a:t>
            </a:r>
            <a:endParaRPr lang="sk-SK" sz="800" i="1" baseline="-25000" dirty="0"/>
          </a:p>
        </p:txBody>
      </p:sp>
      <p:sp>
        <p:nvSpPr>
          <p:cNvPr id="72" name="Shape 28">
            <a:extLst>
              <a:ext uri="{FF2B5EF4-FFF2-40B4-BE49-F238E27FC236}">
                <a16:creationId xmlns:a16="http://schemas.microsoft.com/office/drawing/2014/main" id="{7011918E-70C1-D131-D859-BE8D67A6B392}"/>
              </a:ext>
            </a:extLst>
          </p:cNvPr>
          <p:cNvSpPr/>
          <p:nvPr/>
        </p:nvSpPr>
        <p:spPr>
          <a:xfrm>
            <a:off x="6440401" y="2035048"/>
            <a:ext cx="178671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73" name="Text 29">
            <a:extLst>
              <a:ext uri="{FF2B5EF4-FFF2-40B4-BE49-F238E27FC236}">
                <a16:creationId xmlns:a16="http://schemas.microsoft.com/office/drawing/2014/main" id="{4FC1BE70-D484-AD22-CDF4-1B44B389580E}"/>
              </a:ext>
            </a:extLst>
          </p:cNvPr>
          <p:cNvSpPr/>
          <p:nvPr/>
        </p:nvSpPr>
        <p:spPr>
          <a:xfrm>
            <a:off x="5779280" y="2062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|V</a:t>
            </a:r>
            <a:r>
              <a:rPr lang="sk-SK" sz="800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| + |V</a:t>
            </a:r>
            <a:r>
              <a:rPr lang="sk-SK" sz="800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| + |E</a:t>
            </a:r>
            <a:r>
              <a:rPr lang="sk-SK" sz="800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| + |E</a:t>
            </a:r>
            <a:r>
              <a:rPr lang="sk-SK" sz="800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|</a:t>
            </a:r>
            <a:endParaRPr lang="sk-SK" sz="800" dirty="0"/>
          </a:p>
        </p:txBody>
      </p:sp>
      <p:sp>
        <p:nvSpPr>
          <p:cNvPr id="74" name="Text 30">
            <a:extLst>
              <a:ext uri="{FF2B5EF4-FFF2-40B4-BE49-F238E27FC236}">
                <a16:creationId xmlns:a16="http://schemas.microsoft.com/office/drawing/2014/main" id="{9CACA42C-8D87-4831-5C93-AD420921619C}"/>
              </a:ext>
            </a:extLst>
          </p:cNvPr>
          <p:cNvSpPr/>
          <p:nvPr/>
        </p:nvSpPr>
        <p:spPr>
          <a:xfrm>
            <a:off x="5834551" y="2200691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700" i="1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normalizovaná do [0, 1]</a:t>
            </a:r>
            <a:endParaRPr lang="sk-SK" sz="700" dirty="0"/>
          </a:p>
        </p:txBody>
      </p:sp>
      <p:sp>
        <p:nvSpPr>
          <p:cNvPr id="75" name="Text 32">
            <a:extLst>
              <a:ext uri="{FF2B5EF4-FFF2-40B4-BE49-F238E27FC236}">
                <a16:creationId xmlns:a16="http://schemas.microsoft.com/office/drawing/2014/main" id="{B218FC11-7291-0106-F9E4-63BD1142F488}"/>
              </a:ext>
            </a:extLst>
          </p:cNvPr>
          <p:cNvSpPr/>
          <p:nvPr/>
        </p:nvSpPr>
        <p:spPr>
          <a:xfrm>
            <a:off x="1285390" y="44029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1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Legenda</a:t>
            </a:r>
            <a:endParaRPr lang="sk-SK" sz="1300" dirty="0"/>
          </a:p>
        </p:txBody>
      </p:sp>
      <p:sp>
        <p:nvSpPr>
          <p:cNvPr id="76" name="Text 33">
            <a:extLst>
              <a:ext uri="{FF2B5EF4-FFF2-40B4-BE49-F238E27FC236}">
                <a16:creationId xmlns:a16="http://schemas.microsoft.com/office/drawing/2014/main" id="{A5D65CD0-4C21-08D7-FC06-281BAF189B66}"/>
              </a:ext>
            </a:extLst>
          </p:cNvPr>
          <p:cNvSpPr/>
          <p:nvPr/>
        </p:nvSpPr>
        <p:spPr>
          <a:xfrm>
            <a:off x="1285390" y="4491908"/>
            <a:ext cx="3108960" cy="78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sk-SK" sz="8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TP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správne · </a:t>
            </a:r>
            <a:r>
              <a:rPr lang="sk-SK" sz="8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FP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navyše · </a:t>
            </a:r>
            <a:r>
              <a:rPr lang="sk-SK" sz="8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FN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nenájdené
</a:t>
            </a:r>
            <a:r>
              <a:rPr lang="sk-SK" sz="8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uzly · </a:t>
            </a:r>
            <a:r>
              <a:rPr lang="sk-SK" sz="800" b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E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hrany · </a:t>
            </a:r>
            <a:r>
              <a:rPr lang="sk-SK" sz="8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</a:t>
            </a:r>
            <a:r>
              <a:rPr lang="sk-SK" sz="8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gold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· </a:t>
            </a:r>
            <a:r>
              <a:rPr lang="sk-SK" sz="8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predikcia
</a:t>
            </a:r>
            <a:endParaRPr lang="sk-SK" sz="800" dirty="0"/>
          </a:p>
        </p:txBody>
      </p:sp>
      <p:sp>
        <p:nvSpPr>
          <p:cNvPr id="77" name="Text 33">
            <a:extLst>
              <a:ext uri="{FF2B5EF4-FFF2-40B4-BE49-F238E27FC236}">
                <a16:creationId xmlns:a16="http://schemas.microsoft.com/office/drawing/2014/main" id="{2798DA6B-3CDB-7565-DC03-6E534CBA553B}"/>
              </a:ext>
            </a:extLst>
          </p:cNvPr>
          <p:cNvSpPr/>
          <p:nvPr/>
        </p:nvSpPr>
        <p:spPr>
          <a:xfrm>
            <a:off x="3331441" y="4430727"/>
            <a:ext cx="3108960" cy="78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8000"/>
              </a:lnSpc>
            </a:pPr>
            <a:r>
              <a:rPr lang="sk-SK" sz="8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Δ</a:t>
            </a:r>
            <a:r>
              <a:rPr lang="sk-SK" sz="800" b="1" i="1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zhodné ID, nezhodný typ
</a:t>
            </a:r>
            <a:r>
              <a:rPr lang="sk-SK" sz="8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F1</a:t>
            </a:r>
            <a:r>
              <a:rPr lang="sk-SK" sz="800" b="1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µ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</a:t>
            </a:r>
            <a:r>
              <a:rPr lang="sk-SK" sz="8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mikro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· </a:t>
            </a:r>
            <a:r>
              <a:rPr lang="sk-SK" sz="8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F1</a:t>
            </a:r>
            <a:r>
              <a:rPr lang="sk-SK" sz="800" b="1" baseline="-250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M</a:t>
            </a:r>
            <a:r>
              <a:rPr lang="sk-SK" sz="8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makro striktný priemer</a:t>
            </a:r>
            <a:endParaRPr lang="sk-SK" sz="800" dirty="0"/>
          </a:p>
        </p:txBody>
      </p:sp>
      <p:sp>
        <p:nvSpPr>
          <p:cNvPr id="78" name="Text 33">
            <a:extLst>
              <a:ext uri="{FF2B5EF4-FFF2-40B4-BE49-F238E27FC236}">
                <a16:creationId xmlns:a16="http://schemas.microsoft.com/office/drawing/2014/main" id="{EF83EC03-4823-9E41-7FBA-30520B78A747}"/>
              </a:ext>
            </a:extLst>
          </p:cNvPr>
          <p:cNvSpPr/>
          <p:nvPr/>
        </p:nvSpPr>
        <p:spPr>
          <a:xfrm>
            <a:off x="5791180" y="4658971"/>
            <a:ext cx="3108960" cy="438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8000"/>
              </a:lnSpc>
            </a:pPr>
            <a:r>
              <a:rPr lang="sk-SK" sz="7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Skutočné makro F1 je +-3% rozdielne od </a:t>
            </a:r>
            <a:r>
              <a:rPr lang="sk-SK" sz="7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mikro</a:t>
            </a:r>
            <a:endParaRPr lang="sk-SK" sz="7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>
              <a:lnSpc>
                <a:spcPct val="118000"/>
              </a:lnSpc>
            </a:pPr>
            <a:r>
              <a:rPr lang="sk-SK" sz="7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Zhoda so schémou 92%+</a:t>
            </a:r>
          </a:p>
          <a:p>
            <a:pPr>
              <a:lnSpc>
                <a:spcPct val="118000"/>
              </a:lnSpc>
            </a:pPr>
            <a:r>
              <a:rPr lang="sk-SK" sz="7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Microsoft: </a:t>
            </a:r>
            <a:r>
              <a:rPr lang="sk-SK" sz="7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SkillOPT</a:t>
            </a:r>
            <a:r>
              <a:rPr lang="sk-SK" sz="7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SBERT pre </a:t>
            </a:r>
            <a:r>
              <a:rPr lang="sk-SK" sz="7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few-shot</a:t>
            </a:r>
            <a:endParaRPr lang="sk-SK" sz="7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Porovnanie RAG s </a:t>
            </a:r>
            <a:r>
              <a:rPr lang="sk-SK" sz="3000" b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GraphRAG</a:t>
            </a:r>
            <a:endParaRPr lang="sk-SK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2984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3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21 otázok od daňového audítora k zákonu 222/2004. Ku každej: správna odpoveď + podporujúce paragrafy.</a:t>
            </a:r>
            <a:endParaRPr lang="sk-SK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k-SK" sz="135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Klasický chat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GPT 5.5 bez korpusu, referencia zo všeobecných znalostí.</a:t>
            </a:r>
            <a:endParaRPr lang="sk-SK" sz="1350" dirty="0"/>
          </a:p>
          <a:p>
            <a:pPr marL="0" indent="0">
              <a:buNone/>
            </a:pPr>
            <a:r>
              <a:rPr lang="sk-SK" sz="135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Vektorový RAG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Qdrant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+ text-embedding-3-large, </a:t>
            </a:r>
            <a:r>
              <a:rPr lang="sk-SK" sz="135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k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najbližších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chunkov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podľa kosínusovej vzdialenosti.</a:t>
            </a:r>
            <a:endParaRPr lang="sk-SK" sz="1350" dirty="0"/>
          </a:p>
          <a:p>
            <a:pPr marL="0" indent="0">
              <a:buNone/>
            </a:pPr>
            <a:r>
              <a:rPr lang="sk-SK" sz="135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</a:t>
            </a:r>
            <a:r>
              <a:rPr lang="sk-SK" sz="1350" b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GraphRAG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agent + </a:t>
            </a:r>
            <a:r>
              <a:rPr lang="sk-SK" sz="13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Cypher</a:t>
            </a:r>
            <a:r>
              <a:rPr lang="sk-SK" sz="13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, otázku rozdelí na 3–6 pojmov, 1–2 skoky, krížové a negatívne vzťahy.</a:t>
            </a:r>
            <a:endParaRPr lang="sk-SK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sk-SK" sz="12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Metriky:  Správnosť odpovede</a:t>
            </a: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(binárne 1/0, identická odpoveď – zhodné termíny a pojmy) a </a:t>
            </a:r>
            <a:r>
              <a:rPr lang="sk-SK" sz="12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úspešnosť </a:t>
            </a:r>
            <a:r>
              <a:rPr lang="sk-SK" sz="1200" b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referencovania</a:t>
            </a: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úplnosť voči anotovaným ustanoveniam (nadbytočné sa nepenalizujú).</a:t>
            </a:r>
            <a:endParaRPr lang="sk-SK" sz="1200" dirty="0"/>
          </a:p>
        </p:txBody>
      </p:sp>
      <p:sp>
        <p:nvSpPr>
          <p:cNvPr id="6" name="Text 4"/>
          <p:cNvSpPr/>
          <p:nvPr/>
        </p:nvSpPr>
        <p:spPr>
          <a:xfrm>
            <a:off x="5715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13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Úspešnosť </a:t>
            </a:r>
            <a:r>
              <a:rPr lang="sk-SK" sz="1300" b="1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referencovania</a:t>
            </a:r>
            <a:endParaRPr lang="sk-SK" sz="1300" dirty="0"/>
          </a:p>
        </p:txBody>
      </p:sp>
      <p:sp>
        <p:nvSpPr>
          <p:cNvPr id="11" name="Text 9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17 / 19</a:t>
            </a:r>
            <a:endParaRPr lang="sk-SK" sz="9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4DE1513-0272-119C-B712-8AC44AD289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436E934-65A5-B952-51B3-BA953E793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4643" y="2163617"/>
            <a:ext cx="2301681" cy="81626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3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Výsledky využiteľnosti</a:t>
            </a:r>
            <a:endParaRPr lang="sk-SK" sz="3000" dirty="0"/>
          </a:p>
        </p:txBody>
      </p:sp>
      <p:sp>
        <p:nvSpPr>
          <p:cNvPr id="7" name="Text 4"/>
          <p:cNvSpPr/>
          <p:nvPr/>
        </p:nvSpPr>
        <p:spPr>
          <a:xfrm>
            <a:off x="502920" y="3371494"/>
            <a:ext cx="332961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k-SK" sz="12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≈ 4× menej kontextu</a:t>
            </a: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258 </a:t>
            </a:r>
            <a:r>
              <a:rPr lang="sk-SK" sz="12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ref</a:t>
            </a: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. (</a:t>
            </a:r>
            <a:r>
              <a:rPr lang="sk-SK" sz="12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GraphRAG</a:t>
            </a: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) </a:t>
            </a:r>
            <a:r>
              <a:rPr lang="sk-SK" sz="120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vs</a:t>
            </a: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. 1050 (</a:t>
            </a:r>
            <a:r>
              <a:rPr lang="sk-SK" sz="1200" i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k </a:t>
            </a: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= 50).</a:t>
            </a:r>
            <a:endParaRPr lang="sk-SK" sz="1200" dirty="0"/>
          </a:p>
          <a:p>
            <a:pPr marL="0" indent="0">
              <a:buNone/>
            </a:pPr>
            <a:r>
              <a:rPr lang="sk-SK" sz="12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⌀ 118 s / otázku</a:t>
            </a:r>
            <a:r>
              <a:rPr lang="sk-SK" sz="120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 — špecialista ručne 10–15 min.</a:t>
            </a:r>
            <a:endParaRPr lang="sk-SK" sz="1200" dirty="0"/>
          </a:p>
        </p:txBody>
      </p:sp>
      <p:sp>
        <p:nvSpPr>
          <p:cNvPr id="9" name="Text 5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18 / 19</a:t>
            </a:r>
            <a:endParaRPr lang="sk-SK" sz="9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C11C31-E003-C5A6-03EE-8E786AB74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4429B27-AD54-C021-25CC-3338C4426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893" y="1097280"/>
            <a:ext cx="5084530" cy="173031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0AD9D57-8F58-E862-FCB6-505768C1B9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7931" y="2827596"/>
            <a:ext cx="4474589" cy="1933636"/>
          </a:xfrm>
          <a:prstGeom prst="rect">
            <a:avLst/>
          </a:prstGeom>
        </p:spPr>
      </p:pic>
      <p:sp>
        <p:nvSpPr>
          <p:cNvPr id="4" name="Text 4">
            <a:extLst>
              <a:ext uri="{FF2B5EF4-FFF2-40B4-BE49-F238E27FC236}">
                <a16:creationId xmlns:a16="http://schemas.microsoft.com/office/drawing/2014/main" id="{48F366BA-0321-7256-5BAF-2B4335FF092F}"/>
              </a:ext>
            </a:extLst>
          </p:cNvPr>
          <p:cNvSpPr/>
          <p:nvPr/>
        </p:nvSpPr>
        <p:spPr>
          <a:xfrm>
            <a:off x="5787877" y="254252"/>
            <a:ext cx="33561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Praktické využitie</a:t>
            </a:r>
            <a:endParaRPr lang="sk-SK" sz="14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25F89B3B-9E9E-DA06-DD0C-14CC3A5683AB}"/>
              </a:ext>
            </a:extLst>
          </p:cNvPr>
          <p:cNvSpPr/>
          <p:nvPr/>
        </p:nvSpPr>
        <p:spPr>
          <a:xfrm>
            <a:off x="5787877" y="546860"/>
            <a:ext cx="33896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Zrýchlenie vyhľadávania právnej opory (⌀ 118 s </a:t>
            </a:r>
            <a:r>
              <a:rPr lang="sk-SK" sz="1250" dirty="0" err="1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vs</a:t>
            </a: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. 10–15 min).</a:t>
            </a:r>
            <a:endParaRPr lang="sk-SK" sz="1250" dirty="0"/>
          </a:p>
          <a:p>
            <a:pPr marL="0" indent="0">
              <a:lnSpc>
                <a:spcPct val="106000"/>
              </a:lnSpc>
              <a:spcAft>
                <a:spcPts val="500"/>
              </a:spcAft>
              <a:buNone/>
            </a:pPr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•  Podpora pri tvorbe vecne podložených odpovedí.</a:t>
            </a:r>
            <a:endParaRPr lang="sk-SK" sz="125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4053AEB1-DE17-E253-726C-C80F9CDF5189}"/>
              </a:ext>
            </a:extLst>
          </p:cNvPr>
          <p:cNvSpPr/>
          <p:nvPr/>
        </p:nvSpPr>
        <p:spPr>
          <a:xfrm>
            <a:off x="5787877" y="1626040"/>
            <a:ext cx="29913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Cieľová skupina</a:t>
            </a:r>
            <a:endParaRPr lang="sk-SK" sz="140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F63C9B2-BB50-FFEC-C592-EEB34FA64F8C}"/>
              </a:ext>
            </a:extLst>
          </p:cNvPr>
          <p:cNvSpPr/>
          <p:nvPr/>
        </p:nvSpPr>
        <p:spPr>
          <a:xfrm>
            <a:off x="5787877" y="1909504"/>
            <a:ext cx="30212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sk-SK" sz="1250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Daňoví poradcovia a audítori · právnici · koncipienti ….</a:t>
            </a:r>
            <a:endParaRPr lang="sk-SK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40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Ďakujem za pozornosť.</a:t>
            </a:r>
            <a:endParaRPr lang="sk-SK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834640"/>
            <a:ext cx="274320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4" name="Text 2"/>
          <p:cNvSpPr/>
          <p:nvPr/>
        </p:nvSpPr>
        <p:spPr>
          <a:xfrm>
            <a:off x="1280160" y="2999232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1350" i="1" dirty="0">
                <a:solidFill>
                  <a:srgbClr val="595959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Poďakovanie patrí vedúcemu práce Ing. Marekovi Vančovi, PhD., za odborné vedenie a cenné rady.</a:t>
            </a:r>
            <a:endParaRPr lang="sk-SK" sz="135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sk-SK" sz="1400" b="1" dirty="0">
                <a:solidFill>
                  <a:srgbClr val="00000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Samuel Bagín</a:t>
            </a:r>
            <a:endParaRPr lang="sk-SK" sz="14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sk-SK" sz="12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Tvorba znalostných grafov pomocou AI · FEI STU · 2026</a:t>
            </a:r>
            <a:endParaRPr lang="sk-SK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11"/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1 / 4</a:t>
            </a:r>
            <a:endParaRPr lang="sk-SK" sz="900" dirty="0"/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5814E93A-2BA3-6475-12F1-E1AA6BFDD9F6}"/>
              </a:ext>
            </a:extLst>
          </p:cNvPr>
          <p:cNvSpPr/>
          <p:nvPr/>
        </p:nvSpPr>
        <p:spPr>
          <a:xfrm>
            <a:off x="502920" y="192136"/>
            <a:ext cx="8229600" cy="846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sk-SK" sz="12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1. 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V práci na základe experimentov uvádzate, že spracovanie jedného rozsiahlejšieho dokumentu môže stáť 8 až 15 eur kvôli poplatkom za komerčné API. Vidíte v aktuálnom stave technológií reálnu cestu k optimalizácii týchto nákladov pomocou lokálnych LLM s využitím 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fine-tuningu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na právnu doménu, alebo je miera porozumenia komerčných modelov</a:t>
            </a:r>
          </a:p>
          <a:p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pre túto úlohu nateraz nevyhnutná?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2681C8-3DCB-D76C-CF67-9D64CAAE9923}"/>
              </a:ext>
            </a:extLst>
          </p:cNvPr>
          <p:cNvSpPr txBox="1"/>
          <p:nvPr/>
        </p:nvSpPr>
        <p:spPr>
          <a:xfrm>
            <a:off x="553157" y="1528838"/>
            <a:ext cx="709732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NLP úlohy: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4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Mistral</a:t>
            </a:r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– </a:t>
            </a:r>
            <a:r>
              <a:rPr lang="sk-SK" sz="14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Medium</a:t>
            </a:r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3.5, 3 8B, </a:t>
            </a:r>
            <a:r>
              <a:rPr lang="sk-SK" sz="14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Small</a:t>
            </a:r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4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Llama</a:t>
            </a:r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– 3, 3.1, 3.3, 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4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Qwen</a:t>
            </a:r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– 3 8B alebo 3 14B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4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Gemma</a:t>
            </a:r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3 27B</a:t>
            </a:r>
          </a:p>
          <a:p>
            <a:endParaRPr lang="sk-SK" sz="14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sk-SK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Spracovanie obrázkov: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GLM-OCR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sz="14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Mistral</a:t>
            </a:r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OCR 3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9976A6A-8729-9563-9256-72CA388F1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48D05C7-4ECB-BD70-071E-0577C2A0F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090200"/>
            <a:ext cx="4091796" cy="22489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64B333-8FA6-A3A9-669D-43EB4E0D2D20}"/>
              </a:ext>
            </a:extLst>
          </p:cNvPr>
          <p:cNvSpPr txBox="1"/>
          <p:nvPr/>
        </p:nvSpPr>
        <p:spPr>
          <a:xfrm>
            <a:off x="4525329" y="3821616"/>
            <a:ext cx="418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Fine-tuning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modelov akými sú 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Ministral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3 14B alebo 3B.</a:t>
            </a:r>
          </a:p>
          <a:p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Využitie </a:t>
            </a:r>
            <a:r>
              <a:rPr lang="sk-SK" sz="1200" b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AirLLM</a:t>
            </a:r>
            <a:r>
              <a:rPr lang="sk-SK" sz="12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na</a:t>
            </a:r>
            <a:r>
              <a:rPr lang="sk-SK" sz="12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načítanie modelu po vrstvách, práca s väčším modelom na slabšom hardvéri.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94D3F2-1CBE-D351-C8ED-21A9DDBC576C}"/>
              </a:ext>
            </a:extLst>
          </p:cNvPr>
          <p:cNvSpPr txBox="1"/>
          <p:nvPr/>
        </p:nvSpPr>
        <p:spPr>
          <a:xfrm>
            <a:off x="553157" y="3775449"/>
            <a:ext cx="379024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GLiNER2 model vytvorený a natrénovaný pre NER, RE a KG. Nízke hardvérové požiadavky na používanie a </a:t>
            </a:r>
            <a:r>
              <a:rPr lang="sk-SK" sz="14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fine-tuning</a:t>
            </a:r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 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AD9DB1-0117-1865-66A4-789C93182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11">
            <a:extLst>
              <a:ext uri="{FF2B5EF4-FFF2-40B4-BE49-F238E27FC236}">
                <a16:creationId xmlns:a16="http://schemas.microsoft.com/office/drawing/2014/main" id="{196B795F-1A3E-FA61-E6A1-9BCF4E7C1433}"/>
              </a:ext>
            </a:extLst>
          </p:cNvPr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2 / 4</a:t>
            </a:r>
            <a:endParaRPr lang="sk-SK" sz="900" dirty="0"/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3A2783FB-1E59-92B8-DFD9-B3747579D869}"/>
              </a:ext>
            </a:extLst>
          </p:cNvPr>
          <p:cNvSpPr/>
          <p:nvPr/>
        </p:nvSpPr>
        <p:spPr>
          <a:xfrm>
            <a:off x="502920" y="192136"/>
            <a:ext cx="8229600" cy="846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sk-SK" sz="12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2. 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Kým 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GraphRAG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jasne dominuje pri riešení komplexných otázok vyžadujúcich sledovanie krížových odkazov, existujú podľa Vášho výskumu špecifické prípady v právnej doméne, kedy by bol klasický vektorový RAG stále vhodnejšou (rýchlejšou či presnejšou) voľbou?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F4915D-C05D-439B-7015-19FE83B282FF}"/>
              </a:ext>
            </a:extLst>
          </p:cNvPr>
          <p:cNvSpPr txBox="1"/>
          <p:nvPr/>
        </p:nvSpPr>
        <p:spPr>
          <a:xfrm>
            <a:off x="857956" y="1924756"/>
            <a:ext cx="7097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Menej sieťovo prepojené zákony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6D60525-96D1-53AD-6830-3DA4B2809D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ACE4B84-E0AB-FA34-935E-AF524566C8DF}"/>
              </a:ext>
            </a:extLst>
          </p:cNvPr>
          <p:cNvSpPr txBox="1"/>
          <p:nvPr/>
        </p:nvSpPr>
        <p:spPr>
          <a:xfrm>
            <a:off x="1049215" y="2362201"/>
            <a:ext cx="68345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Rodinné právo (Zákon o rodine), Zákon o mediácii, Antidiskriminačný zákon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Finančné právo: Zákon o obmedzení platieb v hotovosti, Zákon o miestnom poplatku za rozvoj, Zákon o cenách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k-SK" sz="1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Otázka nevyžaduje sledovanie krížových odkazov, nie zákony o daniach</a:t>
            </a:r>
          </a:p>
        </p:txBody>
      </p:sp>
    </p:spTree>
    <p:extLst>
      <p:ext uri="{BB962C8B-B14F-4D97-AF65-F5344CB8AC3E}">
        <p14:creationId xmlns:p14="http://schemas.microsoft.com/office/powerpoint/2010/main" val="2300451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6EE4FF-8D73-FD7D-47AD-4BDCA19B6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11">
            <a:extLst>
              <a:ext uri="{FF2B5EF4-FFF2-40B4-BE49-F238E27FC236}">
                <a16:creationId xmlns:a16="http://schemas.microsoft.com/office/drawing/2014/main" id="{545A469D-B0EC-09CE-93B9-AEC6E8E31571}"/>
              </a:ext>
            </a:extLst>
          </p:cNvPr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3 / 4</a:t>
            </a:r>
            <a:endParaRPr lang="sk-SK" sz="900" dirty="0"/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99B5B085-7CE3-C0C9-4F82-AE30548D8694}"/>
              </a:ext>
            </a:extLst>
          </p:cNvPr>
          <p:cNvSpPr/>
          <p:nvPr/>
        </p:nvSpPr>
        <p:spPr>
          <a:xfrm>
            <a:off x="502920" y="192136"/>
            <a:ext cx="8229600" cy="846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sk-SK" sz="12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3. 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Ako by navrhnutý systém z pohľadu architektúry zvládal neskoršie novelizácie a zmeny v už spracovanom zákone? Bolo by nutné extrahovať a generovať celý graf na novo, alebo vaša štruktúra reprezentácie v databáze Neo4j umožňuje čiastočnú aktualizáciu špecifických uzlov a hrán?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07A10C-9DAB-16E5-E426-5305FF5F37FB}"/>
              </a:ext>
            </a:extLst>
          </p:cNvPr>
          <p:cNvSpPr txBox="1"/>
          <p:nvPr/>
        </p:nvSpPr>
        <p:spPr>
          <a:xfrm>
            <a:off x="1246576" y="3852958"/>
            <a:ext cx="709732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Netreba nanovo extrahovať, implementácia podporuje aktualizáciu 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podgrafov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pomocou 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Cypher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queries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dokážeme nájsť daný 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podgraf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uzly na jeden skok k sekcii a hrany označené s vlastnosťou v akej sekcii sa nachádzajú.</a:t>
            </a:r>
          </a:p>
          <a:p>
            <a:endParaRPr lang="sk-SK" sz="12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Ak je uzol prepojený iba v danom 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podgrafe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môžeme ho nahradiť, ak nie musíme preveriť kontexty (problematika prepojovania entít – </a:t>
            </a:r>
            <a:r>
              <a:rPr lang="sk-SK" sz="12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Entity </a:t>
            </a:r>
            <a:r>
              <a:rPr lang="sk-SK" sz="1200" i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Linking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B4C41B8-8B50-4DAA-9CE7-DAA7264F3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51EAC5-F9DE-A5E0-6A4B-49EF93C6E5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0981" y="990448"/>
            <a:ext cx="5493478" cy="2742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2782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9F6754-195D-0617-17BA-6CA94AF5E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11">
            <a:extLst>
              <a:ext uri="{FF2B5EF4-FFF2-40B4-BE49-F238E27FC236}">
                <a16:creationId xmlns:a16="http://schemas.microsoft.com/office/drawing/2014/main" id="{C53CCC00-3419-3C5D-2E8B-BEEACD19F40F}"/>
              </a:ext>
            </a:extLst>
          </p:cNvPr>
          <p:cNvSpPr/>
          <p:nvPr/>
        </p:nvSpPr>
        <p:spPr>
          <a:xfrm>
            <a:off x="7955280" y="48646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sk-SK" sz="900" dirty="0">
                <a:solidFill>
                  <a:srgbClr val="808080"/>
                </a:solidFill>
                <a:latin typeface="CMU Serif" pitchFamily="34" charset="0"/>
                <a:ea typeface="CMU Serif" pitchFamily="34" charset="-122"/>
                <a:cs typeface="CMU Serif" pitchFamily="34" charset="-120"/>
              </a:rPr>
              <a:t>4 / 4</a:t>
            </a:r>
            <a:endParaRPr lang="sk-SK" sz="900" dirty="0"/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34F79F8D-D65F-D10E-6364-FB61EC7FB2ED}"/>
              </a:ext>
            </a:extLst>
          </p:cNvPr>
          <p:cNvSpPr/>
          <p:nvPr/>
        </p:nvSpPr>
        <p:spPr>
          <a:xfrm>
            <a:off x="502920" y="192136"/>
            <a:ext cx="8229600" cy="846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sk-SK" sz="12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4. 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Väčšina vašej práce sa zameriava na robustný 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backend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a spracovanie dát. Ako si v praxi predstavujete ideálne používateľské rozhranie pre koncového používateľa (napr. daňového poradcu či právnika)? Postačuje podľa vás klasické 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chatovacie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okno v štýle 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ChatGPT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alebo vidíte pridanú hodnotu aj vo vizualizácii samotného znalostného grafu pre používateľa?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5E6FDA-0196-0BC6-5D55-C318BC1CF4AE}"/>
              </a:ext>
            </a:extLst>
          </p:cNvPr>
          <p:cNvSpPr txBox="1"/>
          <p:nvPr/>
        </p:nvSpPr>
        <p:spPr>
          <a:xfrm>
            <a:off x="960076" y="3900101"/>
            <a:ext cx="722384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MCP</a:t>
            </a:r>
          </a:p>
          <a:p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Frontend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vývoj pozastavený, avšak rýchlosť inovácie, kde chat s LLM podporuje aj grafické rozhranie (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Claude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 alebo 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Mermaid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diagramy (</a:t>
            </a:r>
            <a:r>
              <a:rPr lang="sk-SK" sz="1200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ChatGPT</a:t>
            </a:r>
            <a:r>
              <a:rPr lang="sk-SK" sz="12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), je vhodnejšie vytvorenie MCP </a:t>
            </a:r>
            <a:r>
              <a:rPr lang="sk-SK" sz="12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(</a:t>
            </a:r>
            <a:r>
              <a:rPr lang="sk-SK" sz="1200" i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multi</a:t>
            </a:r>
            <a:r>
              <a:rPr lang="sk-SK" sz="12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</a:t>
            </a:r>
            <a:r>
              <a:rPr lang="sk-SK" sz="1200" i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context</a:t>
            </a:r>
            <a:r>
              <a:rPr lang="sk-SK" sz="12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</a:t>
            </a:r>
            <a:r>
              <a:rPr lang="sk-SK" sz="1200" i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protocol</a:t>
            </a:r>
            <a:r>
              <a:rPr lang="sk-SK" sz="12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D04213A-1249-27EA-A16E-EE3F97A5F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49" y="4729402"/>
            <a:ext cx="1003528" cy="369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D019135-5A27-527F-E359-4E2335B217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7070" y="1209548"/>
            <a:ext cx="3424577" cy="25195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D1EB8C-B987-9E08-6BB6-90ED2FA4FD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618721"/>
            <a:ext cx="3995928" cy="170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557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7765</TotalTime>
  <Words>2395</Words>
  <Application>Microsoft Macintosh PowerPoint</Application>
  <PresentationFormat>On-screen Show (16:9)</PresentationFormat>
  <Paragraphs>266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Arial</vt:lpstr>
      <vt:lpstr>CMU Concrete Roman</vt:lpstr>
      <vt:lpstr>CMU Serif</vt:lpstr>
      <vt:lpstr>CMU Serif Roman</vt:lpstr>
      <vt:lpstr>CMU Serif Roman</vt:lpstr>
      <vt:lpstr>CMU Typewriter Text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Tvorba znalostnych grafov pomocou AI</dc:title>
  <dc:subject>PptxGenJS Presentation</dc:subject>
  <dc:creator>Samuel Bagin</dc:creator>
  <cp:lastModifiedBy>Samuel Bagín</cp:lastModifiedBy>
  <cp:revision>19</cp:revision>
  <dcterms:created xsi:type="dcterms:W3CDTF">2026-06-07T16:57:52Z</dcterms:created>
  <dcterms:modified xsi:type="dcterms:W3CDTF">2026-06-22T18:29:55Z</dcterms:modified>
</cp:coreProperties>
</file>