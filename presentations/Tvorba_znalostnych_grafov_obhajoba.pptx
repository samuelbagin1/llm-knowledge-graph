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73F"/>
                </a:solidFill>
                <a:latin typeface="CMU Serif"/>
              </a:defRPr>
            </a:pPr>
            <a:r>
              <a:rPr sz="1200" b="0" i="0" u="none" strike="noStrike">
                <a:solidFill>
                  <a:srgbClr val="16273F"/>
                </a:solidFill>
                <a:latin typeface="CMU Serif"/>
              </a:rPr>
              <a:t>Mikro F1 skóre extrakcie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Uzly</c:v>
                </c:pt>
              </c:strCache>
            </c:strRef>
          </c:tx>
          <c:spPr>
            <a:solidFill>
              <a:srgbClr val="2F5C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MU Serif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ZS 5.4L</c:v>
                  </c:pt>
                  <c:pt idx="1">
                    <c:v>ZS 5.4H</c:v>
                  </c:pt>
                  <c:pt idx="2">
                    <c:v>ZS 5.5L</c:v>
                  </c:pt>
                  <c:pt idx="3">
                    <c:v>ZS 5.5H</c:v>
                  </c:pt>
                  <c:pt idx="4">
                    <c:v>FS 5.4L</c:v>
                  </c:pt>
                  <c:pt idx="5">
                    <c:v>FS 5.4H</c:v>
                  </c:pt>
                  <c:pt idx="6">
                    <c:v>FS 5.5L</c:v>
                  </c:pt>
                  <c:pt idx="7">
                    <c:v>FS 5.5H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0.608</c:v>
                </c:pt>
                <c:pt idx="1">
                  <c:v>0.691</c:v>
                </c:pt>
                <c:pt idx="2">
                  <c:v>0.815</c:v>
                </c:pt>
                <c:pt idx="3">
                  <c:v>0.824</c:v>
                </c:pt>
                <c:pt idx="4">
                  <c:v>0.696</c:v>
                </c:pt>
                <c:pt idx="5">
                  <c:v>0.737</c:v>
                </c:pt>
                <c:pt idx="6">
                  <c:v>0.798</c:v>
                </c:pt>
                <c:pt idx="7">
                  <c:v>0.821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Vzťahy</c:v>
                </c:pt>
              </c:strCache>
            </c:strRef>
          </c:tx>
          <c:spPr>
            <a:solidFill>
              <a:srgbClr val="C287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MU Serif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ZS 5.4L</c:v>
                  </c:pt>
                  <c:pt idx="1">
                    <c:v>ZS 5.4H</c:v>
                  </c:pt>
                  <c:pt idx="2">
                    <c:v>ZS 5.5L</c:v>
                  </c:pt>
                  <c:pt idx="3">
                    <c:v>ZS 5.5H</c:v>
                  </c:pt>
                  <c:pt idx="4">
                    <c:v>FS 5.4L</c:v>
                  </c:pt>
                  <c:pt idx="5">
                    <c:v>FS 5.4H</c:v>
                  </c:pt>
                  <c:pt idx="6">
                    <c:v>FS 5.5L</c:v>
                  </c:pt>
                  <c:pt idx="7">
                    <c:v>FS 5.5H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0.189</c:v>
                </c:pt>
                <c:pt idx="1">
                  <c:v>0.313</c:v>
                </c:pt>
                <c:pt idx="2">
                  <c:v>0.42</c:v>
                </c:pt>
                <c:pt idx="3">
                  <c:v>0.453</c:v>
                </c:pt>
                <c:pt idx="4">
                  <c:v>0.269</c:v>
                </c:pt>
                <c:pt idx="5">
                  <c:v>0.388</c:v>
                </c:pt>
                <c:pt idx="6">
                  <c:v>0.44</c:v>
                </c:pt>
                <c:pt idx="7">
                  <c:v>0.46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MU Serif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CMU Serif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3241"/>
              </a:solidFill>
              <a:latin typeface="CMU Serif"/>
              <a:cs typeface="CMU Serif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73F"/>
                </a:solidFill>
                <a:latin typeface="CMU Serif"/>
              </a:defRPr>
            </a:pPr>
            <a:r>
              <a:rPr sz="1200" b="0" i="0" u="none" strike="noStrike">
                <a:solidFill>
                  <a:srgbClr val="16273F"/>
                </a:solidFill>
                <a:latin typeface="CMU Serif"/>
              </a:rPr>
              <a:t>Úspešnosť referencovania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Referencovanie</c:v>
                </c:pt>
              </c:strCache>
            </c:strRef>
          </c:tx>
          <c:spPr>
            <a:solidFill>
              <a:srgbClr val="2F5C8F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73F"/>
                    </a:solidFill>
                    <a:latin typeface="CMU Serif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C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5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5C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5C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5C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873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Chat</c:v>
                  </c:pt>
                  <c:pt idx="1">
                    <c:v>k=5</c:v>
                  </c:pt>
                  <c:pt idx="2">
                    <c:v>k=10</c:v>
                  </c:pt>
                  <c:pt idx="3">
                    <c:v>k=25</c:v>
                  </c:pt>
                  <c:pt idx="4">
                    <c:v>k=50</c:v>
                  </c:pt>
                  <c:pt idx="5">
                    <c:v>GraphRAG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20.3</c:v>
                </c:pt>
                <c:pt idx="1">
                  <c:v>32.6</c:v>
                </c:pt>
                <c:pt idx="2">
                  <c:v>43.5</c:v>
                </c:pt>
                <c:pt idx="3">
                  <c:v>56.5</c:v>
                </c:pt>
                <c:pt idx="4">
                  <c:v>71.7</c:v>
                </c:pt>
                <c:pt idx="5">
                  <c:v>74.6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6273F"/>
                  </a:solidFill>
                  <a:latin typeface="CMU Serif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MU Serif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Shape 1"/>
          <p:cNvSpPr/>
          <p:nvPr/>
        </p:nvSpPr>
        <p:spPr>
          <a:xfrm>
            <a:off x="6903720" y="2331720"/>
            <a:ext cx="868680" cy="-477774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2331720"/>
            <a:ext cx="998982" cy="608076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2331720"/>
            <a:ext cx="304038" cy="1085850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2331720"/>
            <a:ext cx="-738378" cy="521208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2331720"/>
            <a:ext cx="-608076" cy="-651510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853946"/>
            <a:ext cx="868680" cy="564642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02702" y="2939796"/>
            <a:ext cx="738378" cy="-521208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1853946"/>
            <a:ext cx="912114" cy="-260604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2702" y="2939796"/>
            <a:ext cx="-694944" cy="477774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65342" y="2852928"/>
            <a:ext cx="130302" cy="-1172718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7863" y="2105863"/>
            <a:ext cx="451714" cy="451714"/>
          </a:xfrm>
          <a:prstGeom prst="ellipse">
            <a:avLst/>
          </a:prstGeom>
          <a:solidFill>
            <a:srgbClr val="C2873B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3411" y="1714957"/>
            <a:ext cx="277978" cy="277978"/>
          </a:xfrm>
          <a:prstGeom prst="ellipse">
            <a:avLst/>
          </a:prstGeom>
          <a:solidFill>
            <a:srgbClr val="2F5C8F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8966" y="2766060"/>
            <a:ext cx="347472" cy="347472"/>
          </a:xfrm>
          <a:prstGeom prst="ellipse">
            <a:avLst/>
          </a:prstGeom>
          <a:solidFill>
            <a:srgbClr val="3E8E7E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6838" y="2314346"/>
            <a:ext cx="208483" cy="208483"/>
          </a:xfrm>
          <a:prstGeom prst="ellipse">
            <a:avLst/>
          </a:prstGeom>
          <a:solidFill>
            <a:srgbClr val="9C5570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68769" y="3278581"/>
            <a:ext cx="277978" cy="277978"/>
          </a:xfrm>
          <a:prstGeom prst="ellipse">
            <a:avLst/>
          </a:prstGeom>
          <a:solidFill>
            <a:srgbClr val="F0F0F0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1606" y="2679192"/>
            <a:ext cx="347472" cy="347472"/>
          </a:xfrm>
          <a:prstGeom prst="ellipse">
            <a:avLst/>
          </a:prstGeom>
          <a:solidFill>
            <a:srgbClr val="C2873B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1402" y="1575968"/>
            <a:ext cx="208483" cy="208483"/>
          </a:xfrm>
          <a:prstGeom prst="ellipse">
            <a:avLst/>
          </a:prstGeom>
          <a:solidFill>
            <a:srgbClr val="2F5C8F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5525" y="1454353"/>
            <a:ext cx="277978" cy="277978"/>
          </a:xfrm>
          <a:prstGeom prst="ellipse">
            <a:avLst/>
          </a:prstGeom>
          <a:solidFill>
            <a:srgbClr val="3E8E7E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9FB2CE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SLOVENSKÁ TECHNICKÁ UNIVERZITA V BRATISLAVE · FEI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141732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pomocou AI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566928" y="30632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Automatická tvorba znalostných grafov zo slovenských právnych predpisov pomocou veľkých jazykových modelov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3977640"/>
            <a:ext cx="4572000" cy="0"/>
          </a:xfrm>
          <a:prstGeom prst="line">
            <a:avLst/>
          </a:prstGeom>
          <a:noFill/>
          <a:ln w="12700">
            <a:solidFill>
              <a:srgbClr val="3C55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114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Bakalárska práca · 2026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Autor:  Samuel Bagín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Vedúci práce:  Ing. Marek Vančo, PhD.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TEÓRIA · 1/4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Čo je to znalostný graf?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Grafová reprezentácia údajov: uzly sú entity, hrany zachytávajú vzťahy medzi nimi.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Fakty o reálnom svete v strojovo spracovateľnej podobe.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Vzťah modelovaný ako trojica (eₕ, r, eₜ) — orientovaná hrana eₕ →ʳ eₜ.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Najznámejšie grafy: DBpedia, Wikidata, YAGO, Freebase.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EEF1F6"/>
          </a:solidFill>
          <a:ln w="12700">
            <a:solidFill>
              <a:srgbClr val="D3D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64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Formálna definícia (Property Graph)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 = (V, E, L, P, U, e, l, p)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404164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V, 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uzly a hrany  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typy  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P, U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mená a hodnoty vlastností
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priradí hranu dvojici uzlov  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l, 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typy a vlastnosti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463040"/>
            <a:ext cx="3017520" cy="3200400"/>
          </a:xfrm>
          <a:prstGeom prst="rect">
            <a:avLst/>
          </a:prstGeom>
          <a:solidFill>
            <a:srgbClr val="F0F3F8"/>
          </a:solidFill>
          <a:ln w="12700">
            <a:solidFill>
              <a:srgbClr val="AEBBC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949440" y="2560320"/>
            <a:ext cx="457200" cy="329184"/>
          </a:xfrm>
          <a:prstGeom prst="rect">
            <a:avLst/>
          </a:prstGeom>
          <a:solidFill>
            <a:srgbClr val="DCE3EE"/>
          </a:solidFill>
          <a:ln w="12700">
            <a:solidFill>
              <a:srgbClr val="AEBBC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13448" y="2624328"/>
            <a:ext cx="91440" cy="91440"/>
          </a:xfrm>
          <a:prstGeom prst="ellipse">
            <a:avLst/>
          </a:prstGeom>
          <a:solidFill>
            <a:srgbClr val="C287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86016" y="2834640"/>
            <a:ext cx="164592" cy="-11887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14032" y="2834640"/>
            <a:ext cx="164592" cy="-16459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C9BB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OBRÁZOK</a:t>
            </a:r>
            <a:endParaRPr lang="en-US" sz="9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Ukážka znalostného grafu v Neo4j Browser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 / 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TEÓRIA · 2/4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 čom vynikajú a kde sa využívajú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 čom vynikajú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Integrácia rôznorodých dát z mnohých zdrojov.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Flexibilná schéma — dáta sa môžu voľne rozvíjať.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Navigačné operátory: rekurzívne cesty ľubovoľnej dĺžky (multi-hop).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Uzemnenie LLM → menej halucinácií, presnejšie uvažovanie.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Cielené podgrafy namiesto veľkých textov v prompte.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Praktické využitia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755648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01184" y="190195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Softvérové inžinierstvo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01184" y="2231136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repozitár ako graf kódu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03136" y="1755648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1901952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Diagnostika porúch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49440" y="2231136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stroje a súčiastky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724912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01184" y="287121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Kybernetická bezpečnosť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01184" y="3200400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spravodajstvo o hrozbách (CTI)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2724912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287121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Medicína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49440" y="3200400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diagnostické uvažovanie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694176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01184" y="384048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Financie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01184" y="4169664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numerické uvažovanie, odporúčania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03136" y="3694176"/>
            <a:ext cx="19019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49440" y="384048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Právo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4169664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uzemnenie v ustanoveniach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3 / 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TEÓRIA · 3/4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Klasické metódy extrakcie informácií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Information Extraction (IE): neštruktúrovaný text → trojice entita – vzťah – entita.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40690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1956816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NER — rozpoznávanie entít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Nájde a zaradí názvy do typov (Osoba, Miesto, Organizácia…).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Pravidlové systémy (TextRunner, KnowItAll).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Štatistické: HMM, CRF, schéma BIES.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Hlboké siete: CNN, RNN, Bi-LSTM-CRF.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810512"/>
            <a:ext cx="40690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64024" y="1956816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RE — extrakcia vzťahov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221284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Klasifikuje vzťah medzi nájdenými entitami.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Schématická vs. otvorená extrakcia.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Kernelové metódy, CNN / LSTM / GCN.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Distant supervision, joint NER+RE, few/zero-shot, dokumentová úroveň.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16273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Trend: spájať NER a RE do spoločných modelov → menej prenosu chýb medzi krokmi.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4 / 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TEÓRIA · 4/4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Medze v práve a otvorená otázka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7157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563624"/>
            <a:ext cx="310896" cy="310896"/>
          </a:xfrm>
          <a:prstGeom prst="ellipse">
            <a:avLst/>
          </a:prstGeom>
          <a:solidFill>
            <a:srgbClr val="2F5C8F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545336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Slovenčina ako málo zastúpená doména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" y="1965960"/>
            <a:ext cx="2423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Chýbajú právne modely a datasety (LEGAL-BERT, Lawformer ju nepokrývajú). Špecifická morfológia, diakritika a terminológia (paragraf, odsek, písmeno).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36976" y="1417320"/>
            <a:ext cx="27157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563624"/>
            <a:ext cx="310896" cy="310896"/>
          </a:xfrm>
          <a:prstGeom prst="ellipse">
            <a:avLst/>
          </a:prstGeom>
          <a:solidFill>
            <a:srgbClr val="2F5C8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03904" y="1545336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Právna doména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2423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Konštrukcia KG z práva je málo preskúmaná. Pre SK finančné právo neexistuje verejná schéma ani anotovaný dataset; hustá sieť krížových odkazov.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16752" y="1417320"/>
            <a:ext cx="27157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563624"/>
            <a:ext cx="310896" cy="310896"/>
          </a:xfrm>
          <a:prstGeom prst="ellipse">
            <a:avLst/>
          </a:prstGeom>
          <a:solidFill>
            <a:srgbClr val="2F5C8F"/>
          </a:solidFill>
          <a:ln/>
        </p:spPr>
      </p:sp>
      <p:sp>
        <p:nvSpPr>
          <p:cNvPr id="17" name="Text 15"/>
          <p:cNvSpPr/>
          <p:nvPr/>
        </p:nvSpPr>
        <p:spPr>
          <a:xfrm>
            <a:off x="6163056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1545336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Hybridné spracovanie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63056" y="1965960"/>
            <a:ext cx="2423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Sadzby a limity sú v tabuľkách, vzorce ako grafika. Pri prevode na čistý text sa tabuľky rozsypú a vzorce zaniknú.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16273F"/>
          </a:solidFill>
          <a:ln w="19050">
            <a:solidFill>
              <a:srgbClr val="C287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587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OTVORENÁ VÝSKUMNÁ OTÁZKA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Dá sa zo slovenského zákona automaticky postaviť znalostný graf, ktorý LLM pomôže nájsť vecne správne ustanovenie — nie iba textovo podobný úryvok?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5 / 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NÁVRH RIEŠENIA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Opis navrhnutého riešenia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PDF zákona → štruktúrovaný znalostný graf v Neo4j (+ tri vektorové indexy).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1929384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Hybridné spracovanie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22585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text, tabuľky a vzorce samostatnými trasami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25496" y="178308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71800" y="1929384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Schéma odvodená z dát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71800" y="22585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ontológia sa objaví, zjednotí a vynúti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2926080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Jazyková normalizácia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325526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jednotná ASCII reprezentácia ID a typov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25496" y="2779776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71800" y="2926080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Zachovanie pôvodu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71800" y="325526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každá entita viazaná na chunk → dokument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57800" y="1783080"/>
            <a:ext cx="3429000" cy="1865376"/>
          </a:xfrm>
          <a:prstGeom prst="rect">
            <a:avLst/>
          </a:prstGeom>
          <a:solidFill>
            <a:srgbClr val="F0F3F8"/>
          </a:solidFill>
          <a:ln w="12700">
            <a:solidFill>
              <a:srgbClr val="AEBBC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743700" y="2212848"/>
            <a:ext cx="457200" cy="329184"/>
          </a:xfrm>
          <a:prstGeom prst="rect">
            <a:avLst/>
          </a:prstGeom>
          <a:solidFill>
            <a:srgbClr val="DCE3EE"/>
          </a:solidFill>
          <a:ln w="12700">
            <a:solidFill>
              <a:srgbClr val="AEBB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7708" y="2276856"/>
            <a:ext cx="91440" cy="91440"/>
          </a:xfrm>
          <a:prstGeom prst="ellipse">
            <a:avLst/>
          </a:prstGeom>
          <a:solidFill>
            <a:srgbClr val="C2873B"/>
          </a:solidFill>
          <a:ln/>
        </p:spPr>
      </p:sp>
      <p:sp>
        <p:nvSpPr>
          <p:cNvPr id="21" name="Shape 19"/>
          <p:cNvSpPr/>
          <p:nvPr/>
        </p:nvSpPr>
        <p:spPr>
          <a:xfrm>
            <a:off x="6780276" y="2487168"/>
            <a:ext cx="164592" cy="-11887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8292" y="2487168"/>
            <a:ext cx="164592" cy="-16459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73405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C9BB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OBRÁZOK</a:t>
            </a:r>
            <a:endParaRPr lang="en-US" sz="9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Obr. 3 — sekvenčný diagram spracovania PDF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2609088" cy="713232"/>
          </a:xfrm>
          <a:prstGeom prst="roundRect">
            <a:avLst>
              <a:gd name="adj" fmla="val 7692"/>
            </a:avLst>
          </a:prstGeom>
          <a:solidFill>
            <a:srgbClr val="EEF1F6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" y="4142232"/>
            <a:ext cx="2462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Predspracovanie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30352" y="4434840"/>
            <a:ext cx="246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tabuľky · vzorce · text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48000" y="4069080"/>
            <a:ext cx="237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267456" y="4069080"/>
            <a:ext cx="2609088" cy="713232"/>
          </a:xfrm>
          <a:prstGeom prst="roundRect">
            <a:avLst>
              <a:gd name="adj" fmla="val 7692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40608" y="4142232"/>
            <a:ext cx="2462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Extrakcia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340608" y="4434840"/>
            <a:ext cx="246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ODD → SR → SDE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8256" y="4069080"/>
            <a:ext cx="237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077712" y="4069080"/>
            <a:ext cx="2609088" cy="713232"/>
          </a:xfrm>
          <a:prstGeom prst="roundRect">
            <a:avLst>
              <a:gd name="adj" fmla="val 7692"/>
            </a:avLst>
          </a:prstGeom>
          <a:solidFill>
            <a:srgbClr val="EEF1F6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50864" y="4142232"/>
            <a:ext cx="2462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Vloženie do DB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150864" y="4434840"/>
            <a:ext cx="246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Neo4j + vektory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6 / 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NÁVRH RIEŠENIA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Predspracovanie: tabuľky a vzorce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12700">
            <a:solidFill>
              <a:srgbClr val="D3D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371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Detekcia rozloženia:  </a:t>
            </a:r>
            <a:pPr indent="0" marL="0">
              <a:buNone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DocLayout-YOLO, 200 DPI, 5 tried, prah istoty 0,3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Tabuľky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Skupiny po stranách → po 2 obrázkoch do GPT 5.4 mini → HTML (doslovný text, žiadna sumarizácia).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Druhé LLM volanie → hierarchia: koreň Tabuľka + listy Riadok (vlastnosti = hlavička → bunka).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Vzorce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8444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Orezané PNG → GPT 5.4 mini → doslovný LaTeX prepis bez komentára.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Uložené ako strojovo spracovateľná vlastnosť uzla Vzorec.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57800" y="1417320"/>
            <a:ext cx="3429000" cy="1481328"/>
          </a:xfrm>
          <a:prstGeom prst="rect">
            <a:avLst/>
          </a:prstGeom>
          <a:solidFill>
            <a:srgbClr val="F0F3F8"/>
          </a:solidFill>
          <a:ln w="12700">
            <a:solidFill>
              <a:srgbClr val="AEBBCD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743700" y="1655064"/>
            <a:ext cx="457200" cy="329184"/>
          </a:xfrm>
          <a:prstGeom prst="rect">
            <a:avLst/>
          </a:prstGeom>
          <a:solidFill>
            <a:srgbClr val="DCE3EE"/>
          </a:solidFill>
          <a:ln w="12700">
            <a:solidFill>
              <a:srgbClr val="AEBBC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7708" y="1719072"/>
            <a:ext cx="91440" cy="91440"/>
          </a:xfrm>
          <a:prstGeom prst="ellipse">
            <a:avLst/>
          </a:prstGeom>
          <a:solidFill>
            <a:srgbClr val="C287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780276" y="1929384"/>
            <a:ext cx="164592" cy="-11887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8292" y="1929384"/>
            <a:ext cx="164592" cy="-16459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1762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C9BB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OBRÁZOK</a:t>
            </a:r>
            <a:endParaRPr lang="en-US" sz="9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Obr. 4 — extrakcia tabuliek do grafu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7800" y="3035808"/>
            <a:ext cx="3429000" cy="1481328"/>
          </a:xfrm>
          <a:prstGeom prst="rect">
            <a:avLst/>
          </a:prstGeom>
          <a:solidFill>
            <a:srgbClr val="F0F3F8"/>
          </a:solidFill>
          <a:ln w="12700">
            <a:solidFill>
              <a:srgbClr val="AEBBC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743700" y="3273552"/>
            <a:ext cx="457200" cy="329184"/>
          </a:xfrm>
          <a:prstGeom prst="rect">
            <a:avLst/>
          </a:prstGeom>
          <a:solidFill>
            <a:srgbClr val="DCE3EE"/>
          </a:solidFill>
          <a:ln w="12700">
            <a:solidFill>
              <a:srgbClr val="AEBBC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7708" y="3337560"/>
            <a:ext cx="91440" cy="91440"/>
          </a:xfrm>
          <a:prstGeom prst="ellipse">
            <a:avLst/>
          </a:prstGeom>
          <a:solidFill>
            <a:srgbClr val="C287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780276" y="3547872"/>
            <a:ext cx="164592" cy="-11887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8292" y="3547872"/>
            <a:ext cx="164592" cy="-16459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C9BB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OBRÁZOK</a:t>
            </a:r>
            <a:endParaRPr lang="en-US" sz="9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Obr. 5 — uzol typu Vzorec (LaTeX)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7 / 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NÁVRH RIEŠENIA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Trojkroková extrakcia: ODD a SR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9088" cy="4572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444752"/>
            <a:ext cx="2462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ODD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0" y="13716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67456" y="1371600"/>
            <a:ext cx="2609088" cy="457200"/>
          </a:xfrm>
          <a:prstGeom prst="roundRect">
            <a:avLst>
              <a:gd name="adj" fmla="val 12000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40608" y="1444752"/>
            <a:ext cx="2462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58256" y="13716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77712" y="1371600"/>
            <a:ext cx="2609088" cy="45720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50864" y="1444752"/>
            <a:ext cx="2462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40690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" y="215798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ODD — detekcia v otvorenej doméne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1792" y="239572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Hľadá TYPY entít a vzťahov, nie inštancie.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Chunk 1200 znakov, prekryv 200 — širšie okno = kontext (napr. „základ dane“).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GPT 5.4 mini, paralelne.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Výstup: zjednotený zoznam typov S₍ODD₎ = ∪ Sᵢ.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2011680"/>
            <a:ext cx="40690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64024" y="215798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SR — úprava a spresnenie schémy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82312" y="239572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Surové typy → koherentná schéma bez duplicít.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Zachová odlišné kategórie (Dokument ≠ Osoba).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Chain-of-Thought, väčší model GPT 5.5.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Konštantná základná schéma ako kotva + audit zlučovania.  S* = Φ(S₍ODD₎, S₍O₎)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8 / 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NÁVRH RIEŠENIA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Schémou riadená extrakcia (SDE)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Vynútená extrakcia inštancií podľa schémy S* (spojený NER + RE), GPT 5.4 mini.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Chunkovanie po paragrafoch / odsekoch / písmenách; paralelne s limitom a opakovaním.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Normalizácia: id → Title Case, vzťahy → UPPER_SNAKE_CASE; trojice bez zdroja/cieľa sa vynechajú.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Väzba IN_CHUNK → spätná stopa k pôvodnému textu.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Pravidlá promptu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Najšpecifickejší typ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closest-or-skip (radšej nič ako halucinovaný typ)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Vlastnosti len ak sú v texte explicitné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evidence: spresnenie všeobecného vzťahu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section: stopa na paragraf/odsek/písmeno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1417320"/>
            <a:ext cx="3337560" cy="3246120"/>
          </a:xfrm>
          <a:prstGeom prst="rect">
            <a:avLst/>
          </a:prstGeom>
          <a:solidFill>
            <a:srgbClr val="F0F3F8"/>
          </a:solidFill>
          <a:ln w="12700">
            <a:solidFill>
              <a:srgbClr val="AEBBC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789420" y="2537460"/>
            <a:ext cx="457200" cy="329184"/>
          </a:xfrm>
          <a:prstGeom prst="rect">
            <a:avLst/>
          </a:prstGeom>
          <a:solidFill>
            <a:srgbClr val="DCE3EE"/>
          </a:solidFill>
          <a:ln w="12700">
            <a:solidFill>
              <a:srgbClr val="AEBB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3428" y="2601468"/>
            <a:ext cx="91440" cy="91440"/>
          </a:xfrm>
          <a:prstGeom prst="ellipse">
            <a:avLst/>
          </a:prstGeom>
          <a:solidFill>
            <a:srgbClr val="C2873B"/>
          </a:solidFill>
          <a:ln/>
        </p:spPr>
      </p:sp>
      <p:sp>
        <p:nvSpPr>
          <p:cNvPr id="11" name="Shape 9"/>
          <p:cNvSpPr/>
          <p:nvPr/>
        </p:nvSpPr>
        <p:spPr>
          <a:xfrm>
            <a:off x="6825996" y="2811780"/>
            <a:ext cx="164592" cy="-11887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54012" y="2811780"/>
            <a:ext cx="164592" cy="-16459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30586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C9BB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OBRÁZOK</a:t>
            </a:r>
            <a:endParaRPr lang="en-US" sz="9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Obr. 7 — extrahované vzťahy medzi entitami (vlastnosť section)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9 / 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NÁVRH RIEŠENIA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Ako to vyzerá v databáze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Vkladanie cez MERGE nad normalizovaným ID (uzly aj hrany) → zjednotenie opakovaní, žiadne duplicity.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Hierarchia: Document → Chunk/Vzorec/Tabuľka/Paragraf → Odsek → Písmeno → Bod → Entita.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Väzby: IN_DOCUMENT, IN_SECTION, IN_CHUNK, IN_TABLE, RELATES_TO.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ID dokumentu, napr. ZZ_2004_222_20260101 (zbierka, rok, číslo, dátum).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Tri vektorové indexy (text-embedding-3-large): chunky, entity, vzťahy → hybridné vyhľadávanie.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49240" y="1417320"/>
            <a:ext cx="3337560" cy="1536192"/>
          </a:xfrm>
          <a:prstGeom prst="rect">
            <a:avLst/>
          </a:prstGeom>
          <a:solidFill>
            <a:srgbClr val="F0F3F8"/>
          </a:solidFill>
          <a:ln w="12700">
            <a:solidFill>
              <a:srgbClr val="AEBBC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789420" y="1682496"/>
            <a:ext cx="457200" cy="329184"/>
          </a:xfrm>
          <a:prstGeom prst="rect">
            <a:avLst/>
          </a:prstGeom>
          <a:solidFill>
            <a:srgbClr val="DCE3EE"/>
          </a:solidFill>
          <a:ln w="12700">
            <a:solidFill>
              <a:srgbClr val="AEBB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3428" y="1746504"/>
            <a:ext cx="91440" cy="91440"/>
          </a:xfrm>
          <a:prstGeom prst="ellipse">
            <a:avLst/>
          </a:prstGeom>
          <a:solidFill>
            <a:srgbClr val="C2873B"/>
          </a:solidFill>
          <a:ln/>
        </p:spPr>
      </p:sp>
      <p:sp>
        <p:nvSpPr>
          <p:cNvPr id="9" name="Shape 7"/>
          <p:cNvSpPr/>
          <p:nvPr/>
        </p:nvSpPr>
        <p:spPr>
          <a:xfrm>
            <a:off x="6825996" y="1956816"/>
            <a:ext cx="164592" cy="-11887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54012" y="1956816"/>
            <a:ext cx="164592" cy="-16459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220370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C9BB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OBRÁZOK</a:t>
            </a:r>
            <a:endParaRPr lang="en-US" sz="9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Obr. 8 — štruktúra znalostného grafu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49240" y="3108960"/>
            <a:ext cx="3337560" cy="1554480"/>
          </a:xfrm>
          <a:prstGeom prst="rect">
            <a:avLst/>
          </a:prstGeom>
          <a:solidFill>
            <a:srgbClr val="F0F3F8"/>
          </a:solidFill>
          <a:ln w="12700">
            <a:solidFill>
              <a:srgbClr val="AEBBCD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789420" y="3383280"/>
            <a:ext cx="457200" cy="329184"/>
          </a:xfrm>
          <a:prstGeom prst="rect">
            <a:avLst/>
          </a:prstGeom>
          <a:solidFill>
            <a:srgbClr val="DCE3EE"/>
          </a:solidFill>
          <a:ln w="12700">
            <a:solidFill>
              <a:srgbClr val="AEBB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3428" y="3447288"/>
            <a:ext cx="91440" cy="91440"/>
          </a:xfrm>
          <a:prstGeom prst="ellipse">
            <a:avLst/>
          </a:prstGeom>
          <a:solidFill>
            <a:srgbClr val="C287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825996" y="3657600"/>
            <a:ext cx="164592" cy="-11887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54012" y="3657600"/>
            <a:ext cx="164592" cy="-16459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39044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C9BB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OBRÁZOK</a:t>
            </a:r>
            <a:endParaRPr lang="en-US" sz="9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Obr. 10 — výsledný graf (zákon o DPH)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10 / 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IMPLEMENTÁCIA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Technologický stack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65506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Python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03504" y="1984248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orchestračný jazyk; typové anotácie a dátové triedy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55264" y="1508760"/>
            <a:ext cx="26974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165506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LangChain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01568" y="1984248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abstrakcia nad LLM, reťazenie, nástroje, štruktúrovaný výstup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53328" y="1508760"/>
            <a:ext cx="26974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99632" y="165506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Neo4j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199632" y="1984248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property graph + vektorové úložisko, jazyk Cypher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26974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" y="2880360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DocLayout-YOLO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03504" y="3209544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detekcia prvkov dokumentu (+ pdf2image)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55264" y="2734056"/>
            <a:ext cx="26974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01568" y="2880360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GPT 5.4 mini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401568" y="3209544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extrakcia · 0,75 / 4,50 $ za 1M tokenov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53328" y="2734056"/>
            <a:ext cx="26974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99632" y="2880360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GPT 5.5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199632" y="3209544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úprava schémy · 5,00 / 30,00 $ za 1M tokenov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Modely sú volené podľa kompromisu cena / latencia / kvalita uvažovania.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11 / 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IMPLEMENTÁCIA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Semafor a štruktúrovaný výstup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56362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Mechanizmus semaforu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792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Každý chunk = asynchrónna úloha; desiatky–stovky chunkov narazia na rate-limity (TPM).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Semafor: max 5 paralelných úloh + globálny prepínač + zámok.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Najviac 3 pokusy na úlohu.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Pri zlyhaní prvá úloha vypne prepínač, počká 60 s a znova zapne — jeden spoločný signál namiesto nezávislých čakaní.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1417320"/>
            <a:ext cx="40690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64024" y="156362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Štruktúrovaný výstup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82312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Odpoveď modelu zodpovedá vopred danej schéme → priamo do Python objektu (Pydantic).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Netreba parsovať voľný text.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ProviderStrategy (response_format) — pri agentoch s natívnou podporou.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with_structured_output — pri priamych volaniach modelu.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12 / 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IMPLEMENTÁCIA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Chunkovacia stratégia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PyPDFLoader; odstránenie opakujúcich sa hlavičiek; mapovanie znak → strana.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Rozdelenie podľa paragrafov (\n§ 16a\n), priradenie nadpisu, oddelenie úvodného textu.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Vnorená štruktúra: paragraf → odsek → písmeno → bod (značky (1), a), 1.).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Linearizácia: chunk na najhlbšej úrovni + nadradený kontext → čitateľný samostatne.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Príliš dlhé chunky → ~3000 znakov, prekryv 300.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20640" y="1417320"/>
            <a:ext cx="3566160" cy="3246120"/>
          </a:xfrm>
          <a:prstGeom prst="rect">
            <a:avLst/>
          </a:prstGeom>
          <a:solidFill>
            <a:srgbClr val="F0F3F8"/>
          </a:solidFill>
          <a:ln w="12700">
            <a:solidFill>
              <a:srgbClr val="AEBBC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675120" y="2537460"/>
            <a:ext cx="457200" cy="329184"/>
          </a:xfrm>
          <a:prstGeom prst="rect">
            <a:avLst/>
          </a:prstGeom>
          <a:solidFill>
            <a:srgbClr val="DCE3EE"/>
          </a:solidFill>
          <a:ln w="12700">
            <a:solidFill>
              <a:srgbClr val="AEBB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39128" y="2601468"/>
            <a:ext cx="91440" cy="91440"/>
          </a:xfrm>
          <a:prstGeom prst="ellipse">
            <a:avLst/>
          </a:prstGeom>
          <a:solidFill>
            <a:srgbClr val="C2873B"/>
          </a:solidFill>
          <a:ln/>
        </p:spPr>
      </p:sp>
      <p:sp>
        <p:nvSpPr>
          <p:cNvPr id="9" name="Shape 7"/>
          <p:cNvSpPr/>
          <p:nvPr/>
        </p:nvSpPr>
        <p:spPr>
          <a:xfrm>
            <a:off x="6711696" y="2811780"/>
            <a:ext cx="164592" cy="-11887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39712" y="2811780"/>
            <a:ext cx="164592" cy="-164592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30586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C9BB0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OBRÁZOK</a:t>
            </a:r>
            <a:endParaRPr lang="en-US" sz="9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Obr. 11 — rozdelenie paragrafu zákona na chunky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13 / 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EXPERIMENTY A VYHODNOTENIE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Validačný a koreferenčný krok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Cieľ: odstrániť duplicitné pomenovania tej istej entity (variantné odkazy na zákon).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Problémy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048256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LLM krok zdvojnásobuje cenu SDE (každý typ × každý graf. dokument).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RapidFuzz (prah 75 %): textovo podobné, sémanticky odlišné odkazy sa zle zlúčia.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Generický embedding: Faktúra vs. Bloček ~86 % → nesprávne zlúčenie.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Markdown pamäť: lineárny rast ceny, strata pozornosti, redundancia.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12080" y="1755648"/>
            <a:ext cx="1783080" cy="109728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874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03520" y="23957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cena oproti samotnej SDE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86600" y="1755648"/>
            <a:ext cx="1783080" cy="109728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1874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~86 %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78040" y="23957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falošná podobnosť (Faktúra/Bloček)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0" y="3035808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16510">
            <a:solidFill>
              <a:srgbClr val="C287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31272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Záver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76672" y="340156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Pri vyhľadávaní si LLM s duplicitami poradí, ak ostane konzistentná schéma typov uzlov. Otázka striktnej validácie sa mení na kompromis: čistota grafu vs. cena budovania.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14 / 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EXPERIMENTY · EXTRAKCIA 1/3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Ako sa testovala extrakcia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Dataset: 100 grafových dokumentov zo zákona 222/2004 (DPH), 30 validácia / 70 test, tvorený s odborníkmi.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Porovnanie predikovaného grafu s ručne anotovaným referenčným grafom.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Normalizácia pred porovnaním: diakritika, medzery, veľkosť písmen, varianty odkazov, duplicity.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Hrany sa hodnotia podmienene namapovaním uzlov (striktná zhoda / sudca / vážená podobnosť).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Konfigurácie: GPT 5.4 mini &amp; GPT 5.5 × {low, high} × {zero-shot, few-shot}.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Trojvrstvová zhoda uzlov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1755648"/>
            <a:ext cx="320040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32704" y="1901952"/>
            <a:ext cx="310896" cy="310896"/>
          </a:xfrm>
          <a:prstGeom prst="ellipse">
            <a:avLst/>
          </a:prstGeom>
          <a:solidFill>
            <a:srgbClr val="2F5C8F"/>
          </a:solidFill>
          <a:ln/>
        </p:spPr>
      </p:sp>
      <p:sp>
        <p:nvSpPr>
          <p:cNvPr id="9" name="Text 7"/>
          <p:cNvSpPr/>
          <p:nvPr/>
        </p:nvSpPr>
        <p:spPr>
          <a:xfrm>
            <a:off x="5632704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53328" y="188366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Úplná zhoda ID + typ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32704" y="2304288"/>
            <a:ext cx="2907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skóre 1,0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0" y="2651760"/>
            <a:ext cx="320040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32704" y="2798064"/>
            <a:ext cx="310896" cy="310896"/>
          </a:xfrm>
          <a:prstGeom prst="ellipse">
            <a:avLst/>
          </a:prstGeom>
          <a:solidFill>
            <a:srgbClr val="2F5C8F"/>
          </a:solidFill>
          <a:ln/>
        </p:spPr>
      </p:sp>
      <p:sp>
        <p:nvSpPr>
          <p:cNvPr id="14" name="Text 12"/>
          <p:cNvSpPr/>
          <p:nvPr/>
        </p:nvSpPr>
        <p:spPr>
          <a:xfrm>
            <a:off x="5632704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53328" y="277977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Rovnaký typ + podobnosť &gt; 0,75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32704" y="3200400"/>
            <a:ext cx="2907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RapidFuzz token_set_ratio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0" y="3547872"/>
            <a:ext cx="320040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32704" y="3694176"/>
            <a:ext cx="310896" cy="310896"/>
          </a:xfrm>
          <a:prstGeom prst="ellipse">
            <a:avLst/>
          </a:prstGeom>
          <a:solidFill>
            <a:srgbClr val="2F5C8F"/>
          </a:solidFill>
          <a:ln/>
        </p:spPr>
      </p:sp>
      <p:sp>
        <p:nvSpPr>
          <p:cNvPr id="19" name="Text 17"/>
          <p:cNvSpPr/>
          <p:nvPr/>
        </p:nvSpPr>
        <p:spPr>
          <a:xfrm>
            <a:off x="5632704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53328" y="367588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LLM-sudca (prah 0,55)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32704" y="4096512"/>
            <a:ext cx="2907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same_entity · type_acceptable · confidence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0" y="4462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→ kandidáti zoradení podľa skóre, greedy párovanie 1 : 1.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15 / 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EXPERIMENTY · EXTRAKCIA 2/3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Metriky: vzorce a legenda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74920" cy="3246120"/>
          </a:xfrm>
          <a:prstGeom prst="roundRect">
            <a:avLst>
              <a:gd name="adj" fmla="val 1690"/>
            </a:avLst>
          </a:prstGeom>
          <a:solidFill>
            <a:srgbClr val="F6F8FB"/>
          </a:solidFill>
          <a:ln w="12700">
            <a:solidFill>
              <a:srgbClr val="D3D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 =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6093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37360" y="1911096"/>
            <a:ext cx="1920240" cy="0"/>
          </a:xfrm>
          <a:prstGeom prst="line">
            <a:avLst/>
          </a:prstGeom>
          <a:noFill/>
          <a:ln w="13970">
            <a:solidFill>
              <a:srgbClr val="162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901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 + FP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6276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presnosť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0428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R =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2286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737360" y="2587752"/>
            <a:ext cx="1920240" cy="0"/>
          </a:xfrm>
          <a:prstGeom prst="line">
            <a:avLst/>
          </a:prstGeom>
          <a:noFill/>
          <a:ln w="13970">
            <a:solidFill>
              <a:srgbClr val="1627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2578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 + FN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230428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úplnosť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809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F1 =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00200" y="29626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 · P · 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737360" y="3264408"/>
            <a:ext cx="1920240" cy="0"/>
          </a:xfrm>
          <a:prstGeom prst="line">
            <a:avLst/>
          </a:prstGeom>
          <a:noFill/>
          <a:ln w="1397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32552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 + 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0" y="298094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harm. priemer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 =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00200" y="3639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FP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737360" y="3941064"/>
            <a:ext cx="1920240" cy="0"/>
          </a:xfrm>
          <a:prstGeom prst="line">
            <a:avLst/>
          </a:prstGeom>
          <a:noFill/>
          <a:ln w="1397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3931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 + FP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40480" y="3657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halucinácie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22452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 =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0200" y="4206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737360" y="4507992"/>
            <a:ext cx="1920240" cy="0"/>
          </a:xfrm>
          <a:prstGeom prst="line">
            <a:avLst/>
          </a:prstGeom>
          <a:noFill/>
          <a:ln w="13970">
            <a:solidFill>
              <a:srgbClr val="1627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00200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 + FN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40480" y="4224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vynechania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141732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16273F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1499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GED — grafová editovacia vzdialenosť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06440" y="1847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FPᵥ + FNᵥ + FPₑ + FNₑ + ΔT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43600" y="2157984"/>
            <a:ext cx="2468880" cy="0"/>
          </a:xfrm>
          <a:prstGeom prst="line">
            <a:avLst/>
          </a:prstGeom>
          <a:noFill/>
          <a:ln w="12700">
            <a:solidFill>
              <a:srgbClr val="C287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2185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|Vg| + |Vp| + |Eg| + |Ep|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806440" y="25054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normalizovaná do [0, 1]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0" y="2926080"/>
            <a:ext cx="3017520" cy="1737360"/>
          </a:xfrm>
          <a:prstGeom prst="roundRect">
            <a:avLst>
              <a:gd name="adj" fmla="val 3158"/>
            </a:avLst>
          </a:prstGeom>
          <a:solidFill>
            <a:srgbClr val="EEF1F6"/>
          </a:solidFill>
          <a:ln w="12700">
            <a:solidFill>
              <a:srgbClr val="D3DA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15584" y="3017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Legenda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15584" y="329184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TP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správne ·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FP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navyše ·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FN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nenájdené
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uzly ·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hrany
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referencia (gold) ·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predikcia
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ΔT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zhodné ID, nezhodný typ
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F1µ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mikro ·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F1ₘ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makro priemer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16 / 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EXPERIMENTY · EXTRAKCIA 3/3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Výsledky extrakcie</a:t>
            </a:r>
            <a:endParaRPr lang="en-US" sz="2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434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77240"/>
                <a:gridCol w="868680"/>
                <a:gridCol w="68580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Konfigurácia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F1µ Uzly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F1µ Vzťahy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GED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ZS · 5.4 mini · low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0,608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0,189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0,602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ZS · 5.4 mini · high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0,691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0,313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0,508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ZS · 5.5 · low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0,815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0,420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0,393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ZS · 5.5 · high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0,824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0,453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0,359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FS · 5.4 mini · low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0,696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0,269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0,514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FS · 5.4 mini · high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0,737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0,388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0,438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FS · 5.5 · low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0,798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0,440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0,384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FS · 5.5 · high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0,821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0,460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0,359</a:t>
                      </a:r>
                      <a:endParaRPr lang="en-US" sz="9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ZS = zero-shot · FS = few-shot · L/H = nízke/vysoké úsilie. Zvýraznené = najlepšie.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0" y="1371600"/>
          <a:ext cx="3657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17 / 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EXPERIMENTY · VYUŽITEĽNOSŤ 1/2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Porovnanie RAG s GraphRAG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21 otázok od daňového auditora k zákonu 222/2004. Ku každej: správna odpoveď + podporujúce paragrafy.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192938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Klasický chat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3504" y="2258568"/>
            <a:ext cx="2404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GPT 5.5 bez korpusu — referencia zo všeobecných znalostí.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78308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64992" y="192938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Vektorový RAG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64992" y="2258568"/>
            <a:ext cx="2404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Qdrant + text-embedding-3-large; k najbližších chunkov podľa kosínusu.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0176" y="178308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92938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GraphRAG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26480" y="2258568"/>
            <a:ext cx="24048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agent + Cypher; otázku rozdelí na 3–6 pojmov, 1–2 skoky, krížové a negatívne vzťahy.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572000" cy="1325880"/>
          </a:xfrm>
          <a:prstGeom prst="roundRect">
            <a:avLst>
              <a:gd name="adj" fmla="val 4138"/>
            </a:avLst>
          </a:prstGeom>
          <a:solidFill>
            <a:srgbClr val="EEF1F6"/>
          </a:solidFill>
          <a:ln w="12700">
            <a:solidFill>
              <a:srgbClr val="D3D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4198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Metriky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" y="3694176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Správnosť odpovede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binárne 1 / 0.
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Úspešnosť referencovania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 — úplnosť voči anotovaným ustanoveniam (nadbytočné sa nepenalizujú).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12080" y="3337560"/>
            <a:ext cx="3474720" cy="1325880"/>
          </a:xfrm>
          <a:prstGeom prst="roundRect">
            <a:avLst>
              <a:gd name="adj" fmla="val 4138"/>
            </a:avLst>
          </a:prstGeom>
          <a:solidFill>
            <a:srgbClr val="16273F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3438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Úspešnosť referencovania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9240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R =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Σ |Nᵢ ∩ Oᵢ|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80760" y="4133088"/>
            <a:ext cx="2103120" cy="0"/>
          </a:xfrm>
          <a:prstGeom prst="line">
            <a:avLst/>
          </a:prstGeom>
          <a:noFill/>
          <a:ln w="12700">
            <a:solidFill>
              <a:srgbClr val="C287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Σ |Oᵢ|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18 / 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EXPERIMENTY · VYUŽITEĽNOSŤ 2/2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Výsledky využiteľnosti</a:t>
            </a:r>
            <a:endParaRPr lang="en-US" sz="2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297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Prístup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Správne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Pokrytie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Klasický chat (LLM)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9 / 21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20,3 %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Vektorový RAG · k=5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3 / 21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32,6 %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Vektorový RAG · k=10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6 / 21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43,5 %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Vektorový RAG · k=25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17 / 21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56,5 %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Vektorový RAG · k=50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20 / 21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71,7 %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GraphRAG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20 / 21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74,6 %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C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69080"/>
            <a:ext cx="2084832" cy="713232"/>
          </a:xfrm>
          <a:prstGeom prst="roundRect">
            <a:avLst>
              <a:gd name="adj" fmla="val 7692"/>
            </a:avLst>
          </a:prstGeom>
          <a:solidFill>
            <a:srgbClr val="EEF1F6"/>
          </a:solidFill>
          <a:ln w="15240">
            <a:solidFill>
              <a:srgbClr val="C287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≈ 4×  </a:t>
            </a:r>
            <a:pPr indent="0" marL="0">
              <a:buNone/>
            </a:pPr>
            <a:r>
              <a:rPr lang="en-US" sz="10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menej kontextu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44256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258 ref. (GraphRAG) vs. 1050 (k=50)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70048" y="4069080"/>
            <a:ext cx="2084832" cy="713232"/>
          </a:xfrm>
          <a:prstGeom prst="roundRect">
            <a:avLst>
              <a:gd name="adj" fmla="val 7692"/>
            </a:avLst>
          </a:prstGeom>
          <a:solidFill>
            <a:srgbClr val="EEF1F6"/>
          </a:solidFill>
          <a:ln w="15240">
            <a:solidFill>
              <a:srgbClr val="C287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61488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118 s  </a:t>
            </a:r>
            <a:pPr indent="0" marL="0">
              <a:buNone/>
            </a:pPr>
            <a:r>
              <a:rPr lang="en-US" sz="10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/ otázku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61488" y="44256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špecialista ručne 10–15 min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937760" y="1371600"/>
          <a:ext cx="37490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19 / 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ZÁVER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Načo práca slúži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Automaticky postaví znalostný graf zo slovenského zákona → LLM nájde vecne správne ustanovenie, nie iba podobný úryvok.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Odpoveď je ukotvená v konkrétnych paragrafoch (stopa section, IN_CHUNK).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Cieľová skupina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Daňoví poradcovia a audítori · právnici · štátna správa · legaltech / fintech.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Praktické využitie aplikácie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Zrýchlenie vyhľadávania právnej opory (⌀ 118 s vs. 10–15 min).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Podpora pri tvorbe vecne podložených odpovedí.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Kľúčové výsledky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682496"/>
          <a:ext cx="3383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Prístup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Správne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Pokrytie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Klasický chat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9 / 21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20,3 %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Vektorový RAG (k=50)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20 / 21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41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71,7 %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GraphRAG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20 / 21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273F"/>
                          </a:solidFill>
                          <a:latin typeface="CMU Serif" pitchFamily="34" charset="0"/>
                          <a:ea typeface="CMU Serif" pitchFamily="34" charset="-122"/>
                          <a:cs typeface="CMU Serif" pitchFamily="34" charset="-120"/>
                        </a:rPr>
                        <a:t>74,6 %</a:t>
                      </a:r>
                      <a:endParaRPr lang="en-US" sz="1000" dirty="0">
                        <a:latin typeface="CMU Serif" charset="0"/>
                        <a:ea typeface="CMU Serif" charset="0"/>
                        <a:cs typeface="CMU Seri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C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303520" y="3337560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EEF1F6"/>
          </a:solidFill>
          <a:ln w="12700">
            <a:solidFill>
              <a:srgbClr val="D3DA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9824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Limity a ďalší vývoj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49824" y="3694176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Cena: 8–15 € / 150-stranový dokument.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Lokálne modely (Llama / Mistral), fine-tuning na SK právo.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Validačný krok, väčší anotovaný dataset.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20 / 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0" y="3017520"/>
            <a:ext cx="777240" cy="-427482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017520"/>
            <a:ext cx="893826" cy="544068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3017520"/>
            <a:ext cx="272034" cy="971550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3017520"/>
            <a:ext cx="-660654" cy="466344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3017520"/>
            <a:ext cx="-544068" cy="-582930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2590038"/>
            <a:ext cx="777240" cy="505206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34706" y="3561588"/>
            <a:ext cx="660654" cy="-466344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2590038"/>
            <a:ext cx="816102" cy="-233172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34706" y="3561588"/>
            <a:ext cx="-621792" cy="427482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80226" y="3483864"/>
            <a:ext cx="116586" cy="-1049274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8798" y="2815438"/>
            <a:ext cx="404165" cy="404165"/>
          </a:xfrm>
          <a:prstGeom prst="ellipse">
            <a:avLst/>
          </a:prstGeom>
          <a:solidFill>
            <a:srgbClr val="C2873B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3762" y="2465680"/>
            <a:ext cx="248717" cy="248717"/>
          </a:xfrm>
          <a:prstGeom prst="ellipse">
            <a:avLst/>
          </a:prstGeom>
          <a:solidFill>
            <a:srgbClr val="2F5C8F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9258" y="3406140"/>
            <a:ext cx="310896" cy="310896"/>
          </a:xfrm>
          <a:prstGeom prst="ellipse">
            <a:avLst/>
          </a:prstGeom>
          <a:solidFill>
            <a:srgbClr val="3E8E7E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2091" y="3001975"/>
            <a:ext cx="186538" cy="186538"/>
          </a:xfrm>
          <a:prstGeom prst="ellipse">
            <a:avLst/>
          </a:prstGeom>
          <a:solidFill>
            <a:srgbClr val="9C5570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88556" y="3864712"/>
            <a:ext cx="248717" cy="248717"/>
          </a:xfrm>
          <a:prstGeom prst="ellipse">
            <a:avLst/>
          </a:prstGeom>
          <a:solidFill>
            <a:srgbClr val="F0F0F0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4778" y="3328416"/>
            <a:ext cx="310896" cy="310896"/>
          </a:xfrm>
          <a:prstGeom prst="ellipse">
            <a:avLst/>
          </a:prstGeom>
          <a:solidFill>
            <a:srgbClr val="C2873B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3543" y="2341321"/>
            <a:ext cx="186538" cy="186538"/>
          </a:xfrm>
          <a:prstGeom prst="ellipse">
            <a:avLst/>
          </a:prstGeom>
          <a:solidFill>
            <a:srgbClr val="2F5C8F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9864" y="2232508"/>
            <a:ext cx="248717" cy="248717"/>
          </a:xfrm>
          <a:prstGeom prst="ellipse">
            <a:avLst/>
          </a:prstGeom>
          <a:solidFill>
            <a:srgbClr val="3E8E7E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DRUHÁ ČASŤ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20574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Odpovede na otázky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oponenta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3152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Úvod  ·  Jadro  ·  Záver práce  ·  Otázky  ·  Poďakovanie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DOPLNKOVÉ SLIDY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Úvod práce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Problém: LLM znejú vierohodne aj bez zdroja; v práve musí byť každé tvrdenie ukotvené v paragrafe.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Vektorový RAG nestačí: definícia, výnimky a sadzba (príloha) sú prepojené reťazou krížových odkazov; vektory sledujú len podobnosť textu.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Riešenie: znalostný graf modeluje väzby priamo; tabuľky a vzorce ako samostatné typy uzlov.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Cieľ: navrhnúť a implementovať systém PDF → KG, vizualizovať ho, otestovať a vyhodnotiť kvalitu i využiteľnosť.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22 / 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DOPLNKOVÉ SLIDY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Jadro práce — celá pipeline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9088" cy="91440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627632"/>
            <a:ext cx="2462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Predspracovanie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0352" y="1920240"/>
            <a:ext cx="2462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DocLayout-YOLO · tabuľky → HTML → graf · vzorce → LaTeX · text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48000" y="15544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67456" y="1554480"/>
            <a:ext cx="2609088" cy="914400"/>
          </a:xfrm>
          <a:prstGeom prst="roundRect">
            <a:avLst>
              <a:gd name="adj" fmla="val 6000"/>
            </a:avLst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40608" y="1627632"/>
            <a:ext cx="2462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Extrakcia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40608" y="1920240"/>
            <a:ext cx="2462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ODD (typy) → SR (zjednotenie schémy) → SDE (inštancie)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8256" y="15544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77712" y="1554480"/>
            <a:ext cx="2609088" cy="914400"/>
          </a:xfrm>
          <a:prstGeom prst="roundRect">
            <a:avLst>
              <a:gd name="adj" fmla="val 6000"/>
            </a:avLst>
          </a:prstGeom>
          <a:solidFill>
            <a:srgbClr val="EEF1F6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50864" y="1627632"/>
            <a:ext cx="2462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Vloženie do Neo4j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50864" y="1920240"/>
            <a:ext cx="2462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MERGE uzlov a hrán · 3 vektorové indexy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C8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Štyri princípy návrhu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2011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" y="3255264"/>
            <a:ext cx="310896" cy="310896"/>
          </a:xfrm>
          <a:prstGeom prst="ellipse">
            <a:avLst/>
          </a:prstGeom>
          <a:solidFill>
            <a:srgbClr val="2F5C8F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323697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Hybridné spracovanie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" y="3657600"/>
            <a:ext cx="1719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text · tabuľky · vzorce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87752" y="3108960"/>
            <a:ext cx="2011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34056" y="3255264"/>
            <a:ext cx="310896" cy="310896"/>
          </a:xfrm>
          <a:prstGeom prst="ellipse">
            <a:avLst/>
          </a:prstGeom>
          <a:solidFill>
            <a:srgbClr val="2F5C8F"/>
          </a:solidFill>
          <a:ln/>
        </p:spPr>
      </p:sp>
      <p:sp>
        <p:nvSpPr>
          <p:cNvPr id="24" name="Text 22"/>
          <p:cNvSpPr/>
          <p:nvPr/>
        </p:nvSpPr>
        <p:spPr>
          <a:xfrm>
            <a:off x="2734056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54680" y="323697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Schéma z dát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34056" y="3657600"/>
            <a:ext cx="1719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objav → zjednotenie → vynútenie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18304" y="3108960"/>
            <a:ext cx="2011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64608" y="3255264"/>
            <a:ext cx="310896" cy="310896"/>
          </a:xfrm>
          <a:prstGeom prst="ellipse">
            <a:avLst/>
          </a:prstGeom>
          <a:solidFill>
            <a:srgbClr val="2F5C8F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85232" y="323697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Jazyková normalizácia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3657600"/>
            <a:ext cx="1719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ASCII ID a typy, diakritika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48856" y="3108960"/>
            <a:ext cx="2011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3DAE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95160" y="3255264"/>
            <a:ext cx="310896" cy="310896"/>
          </a:xfrm>
          <a:prstGeom prst="ellipse">
            <a:avLst/>
          </a:prstGeom>
          <a:solidFill>
            <a:srgbClr val="2F5C8F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15784" y="323697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Zachovanie pôvodu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3657600"/>
            <a:ext cx="1719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entita → chunk → dokument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23 / 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DOPLNKOVÉ SLIDY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Záver práce — výsledky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93392" cy="109728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7276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20/21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správnych odpovedí (GraphRAG)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15184" y="1463040"/>
            <a:ext cx="1993392" cy="109728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/>
        </p:spPr>
      </p:sp>
      <p:sp>
        <p:nvSpPr>
          <p:cNvPr id="9" name="Text 7"/>
          <p:cNvSpPr/>
          <p:nvPr/>
        </p:nvSpPr>
        <p:spPr>
          <a:xfrm>
            <a:off x="2615184" y="157276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74,6 %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06624" y="21214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pokrytie ustanovení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73168" y="1463040"/>
            <a:ext cx="1993392" cy="109728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157276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0,824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64608" y="21214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F1µ uzly (najlepšie)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31152" y="1463040"/>
            <a:ext cx="1993392" cy="109728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/>
        </p:spPr>
      </p:sp>
      <p:sp>
        <p:nvSpPr>
          <p:cNvPr id="15" name="Text 13"/>
          <p:cNvSpPr/>
          <p:nvPr/>
        </p:nvSpPr>
        <p:spPr>
          <a:xfrm>
            <a:off x="6931152" y="157276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0,460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22592" y="21214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F1µ vzťahy (najlepšie)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1993392" cy="109728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5292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0,359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34015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najnižšie GED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15184" y="2743200"/>
            <a:ext cx="1993392" cy="1097280"/>
          </a:xfrm>
          <a:prstGeom prst="roundRect">
            <a:avLst>
              <a:gd name="adj" fmla="val 5000"/>
            </a:avLst>
          </a:prstGeom>
          <a:solidFill>
            <a:srgbClr val="16273F"/>
          </a:solidFill>
          <a:ln/>
        </p:spPr>
      </p:sp>
      <p:sp>
        <p:nvSpPr>
          <p:cNvPr id="21" name="Text 19"/>
          <p:cNvSpPr/>
          <p:nvPr/>
        </p:nvSpPr>
        <p:spPr>
          <a:xfrm>
            <a:off x="2615184" y="285292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&gt; 0,92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706624" y="34015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zhoda so schémou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2743200"/>
            <a:ext cx="3913632" cy="1828800"/>
          </a:xfrm>
          <a:prstGeom prst="roundRect">
            <a:avLst>
              <a:gd name="adj" fmla="val 3000"/>
            </a:avLst>
          </a:prstGeom>
          <a:solidFill>
            <a:srgbClr val="EEF1F6"/>
          </a:solidFill>
          <a:ln w="16510">
            <a:solidFill>
              <a:srgbClr val="C287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Hlavné zistenie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127248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Identifikácia entít je stabilná; slabšie miesto je ich správne prepojenie (vzťahy).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GraphRAG vyniká pri otázkach s kombináciou viacerých paragrafov a krížových odkazov.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Problém je v sémantike vzťahov, nie v dodržiavaní schémy.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24 / 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DOPLNKOVÉ SLIDY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Anticipované otázky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Prečo komerčné GPT a nie lokálny model?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76656" y="1673352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Cena, latencia a kvalita v slovenčine počas vývoja. Lokálne modely (Llama/Mistral) dávajú zmysel pri veľkom objeme po počiatočnej investícii do HW.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66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Prečo Neo4j a property graph?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" y="2322576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Multi-hop cesty, jazyk Cypher, natívne prepojenie s vektorovým úložiskom a dobrá vizualizácia.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15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Ako riešite duplicity entít?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" y="2971800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MERGE nad normalizovaným ID. Validačný krok je voliteľný (cena vs. čistota); pri vyhľadávaní si LLM s duplicitami poradí pri konzistentnej schéme.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64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Prečo je F1 vzťahov nízke?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6656" y="3621024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Model musí naraz určiť oba koncové uzly aj typ hrany; chyba v ktoromkoľvek = nesprávny zápis. Zhoda so schémou je pritom &gt; 0,92.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014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873B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Generalizácia na iné zákony?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6656" y="4270248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63241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Pipeline je prispôsobená SK finančnému právu; konštantná základná schéma ako kotva je rozšíriteľná o ďalšie typy.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25 / 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2873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1463040"/>
            <a:ext cx="640080" cy="-352044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463040"/>
            <a:ext cx="736092" cy="448056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463040"/>
            <a:ext cx="224028" cy="800100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463040"/>
            <a:ext cx="-544068" cy="384048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463040"/>
            <a:ext cx="-448056" cy="-480060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1110996"/>
            <a:ext cx="640080" cy="416052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51292" y="1911096"/>
            <a:ext cx="544068" cy="-384048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1110996"/>
            <a:ext cx="672084" cy="-192024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51292" y="1911096"/>
            <a:ext cx="-512064" cy="352044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71132" y="1847088"/>
            <a:ext cx="96012" cy="-864108"/>
          </a:xfrm>
          <a:prstGeom prst="line">
            <a:avLst/>
          </a:prstGeom>
          <a:noFill/>
          <a:ln w="12700">
            <a:solidFill>
              <a:srgbClr val="5E7596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48779" y="1296619"/>
            <a:ext cx="332842" cy="332842"/>
          </a:xfrm>
          <a:prstGeom prst="ellipse">
            <a:avLst/>
          </a:prstGeom>
          <a:solidFill>
            <a:srgbClr val="C2873B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52867" y="1008583"/>
            <a:ext cx="204826" cy="204826"/>
          </a:xfrm>
          <a:prstGeom prst="ellipse">
            <a:avLst/>
          </a:prstGeom>
          <a:solidFill>
            <a:srgbClr val="2F5C8F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23276" y="1783080"/>
            <a:ext cx="256032" cy="256032"/>
          </a:xfrm>
          <a:prstGeom prst="ellipse">
            <a:avLst/>
          </a:prstGeom>
          <a:solidFill>
            <a:srgbClr val="3E8E7E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18550" y="1450238"/>
            <a:ext cx="153619" cy="153619"/>
          </a:xfrm>
          <a:prstGeom prst="ellipse">
            <a:avLst/>
          </a:prstGeom>
          <a:solidFill>
            <a:srgbClr val="9C5570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36815" y="2160727"/>
            <a:ext cx="204826" cy="204826"/>
          </a:xfrm>
          <a:prstGeom prst="ellipse">
            <a:avLst/>
          </a:prstGeom>
          <a:solidFill>
            <a:srgbClr val="F0F0F0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43116" y="1719072"/>
            <a:ext cx="256032" cy="256032"/>
          </a:xfrm>
          <a:prstGeom prst="ellipse">
            <a:avLst/>
          </a:prstGeom>
          <a:solidFill>
            <a:srgbClr val="C2873B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90334" y="906170"/>
            <a:ext cx="153619" cy="153619"/>
          </a:xfrm>
          <a:prstGeom prst="ellipse">
            <a:avLst/>
          </a:prstGeom>
          <a:solidFill>
            <a:srgbClr val="2F5C8F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24951" y="816559"/>
            <a:ext cx="204826" cy="204826"/>
          </a:xfrm>
          <a:prstGeom prst="ellipse">
            <a:avLst/>
          </a:prstGeom>
          <a:solidFill>
            <a:srgbClr val="3E8E7E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1874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Ďakujem za pozornosť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777240" y="2926080"/>
            <a:ext cx="4114800" cy="0"/>
          </a:xfrm>
          <a:prstGeom prst="line">
            <a:avLst/>
          </a:prstGeom>
          <a:noFill/>
          <a:ln w="12700">
            <a:solidFill>
              <a:srgbClr val="3C55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1089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8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Poďakovanie patrí vedúcemu práce Ing. Marekovi Vančovi, PhD., za odborné vedenie a cenné rady.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3977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Samuel Bagín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FB2CE"/>
                </a:solidFill>
                <a:latin typeface="CMU Serif" pitchFamily="34" charset="0"/>
                <a:ea typeface="CMU Serif" pitchFamily="34" charset="-122"/>
                <a:cs typeface="CMU Serif" pitchFamily="34" charset="-120"/>
              </a:rPr>
              <a:t>Tvorba znalostných grafov pomocou AI · FEI STU ·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Tvorba znalostnych grafov pomocou AI</dc:title>
  <dc:subject>PptxGenJS Presentation</dc:subject>
  <dc:creator>Samuel Bagin</dc:creator>
  <cp:lastModifiedBy>Samuel Bagin</cp:lastModifiedBy>
  <cp:revision>1</cp:revision>
  <dcterms:created xsi:type="dcterms:W3CDTF">2026-06-07T16:13:18Z</dcterms:created>
  <dcterms:modified xsi:type="dcterms:W3CDTF">2026-06-07T16:13:18Z</dcterms:modified>
</cp:coreProperties>
</file>