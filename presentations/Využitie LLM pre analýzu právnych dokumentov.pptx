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259" r:id="rId6"/>
    <p:sldId id="268" r:id="rId7"/>
    <p:sldId id="270" r:id="rId8"/>
    <p:sldId id="258" r:id="rId9"/>
    <p:sldId id="269" r:id="rId10"/>
    <p:sldId id="267" r:id="rId11"/>
    <p:sldId id="266" r:id="rId12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D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71" autoAdjust="0"/>
    <p:restoredTop sz="94565"/>
  </p:normalViewPr>
  <p:slideViewPr>
    <p:cSldViewPr snapToGrid="0">
      <p:cViewPr varScale="1">
        <p:scale>
          <a:sx n="105" d="100"/>
          <a:sy n="105" d="100"/>
        </p:scale>
        <p:origin x="53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hlavičk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symbol dátum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E3C6FD-36DE-450A-ACF7-E3D99146BF9B}" type="datetimeFigureOut">
              <a:rPr lang="sk-SK" smtClean="0"/>
              <a:t>25.1.2026</a:t>
            </a:fld>
            <a:endParaRPr lang="sk-SK"/>
          </a:p>
        </p:txBody>
      </p:sp>
      <p:sp>
        <p:nvSpPr>
          <p:cNvPr id="4" name="Zástupný symbol obrazu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symbol poznámo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symbol čísla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135ECD-55A6-4BF2-B99C-0F5C455EB57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92328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DABDF-EC08-B9D5-CA2C-E566A3508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azu snímky 1">
            <a:extLst>
              <a:ext uri="{FF2B5EF4-FFF2-40B4-BE49-F238E27FC236}">
                <a16:creationId xmlns:a16="http://schemas.microsoft.com/office/drawing/2014/main" id="{6120677D-BD94-F1F8-0CD1-FA30C47C98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oznámok 2">
            <a:extLst>
              <a:ext uri="{FF2B5EF4-FFF2-40B4-BE49-F238E27FC236}">
                <a16:creationId xmlns:a16="http://schemas.microsoft.com/office/drawing/2014/main" id="{2E6AB33A-E53E-68FB-F42F-3DEA7AA4F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symbol čísla snímky 3">
            <a:extLst>
              <a:ext uri="{FF2B5EF4-FFF2-40B4-BE49-F238E27FC236}">
                <a16:creationId xmlns:a16="http://schemas.microsoft.com/office/drawing/2014/main" id="{705AB26E-679F-D3D2-BA62-88EE4A8B2A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35ECD-55A6-4BF2-B99C-0F5C455EB57A}" type="slidenum">
              <a:rPr lang="sk-SK" smtClean="0"/>
              <a:t>3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46604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azu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oznámo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 err="1"/>
              <a:t>Screenshot</a:t>
            </a:r>
            <a:r>
              <a:rPr lang="sk-SK" dirty="0"/>
              <a:t> z </a:t>
            </a:r>
            <a:r>
              <a:rPr lang="sk-SK" dirty="0" err="1"/>
              <a:t>databazy</a:t>
            </a:r>
            <a:endParaRPr lang="sk-SK" dirty="0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35ECD-55A6-4BF2-B99C-0F5C455EB57A}" type="slidenum">
              <a:rPr lang="sk-SK" smtClean="0"/>
              <a:t>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8022422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99A7C-7963-EEC9-16BF-703D2B43C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azu snímky 1">
            <a:extLst>
              <a:ext uri="{FF2B5EF4-FFF2-40B4-BE49-F238E27FC236}">
                <a16:creationId xmlns:a16="http://schemas.microsoft.com/office/drawing/2014/main" id="{D01702A8-BAB1-4D2D-DD9D-76A87A2951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oznámok 2">
            <a:extLst>
              <a:ext uri="{FF2B5EF4-FFF2-40B4-BE49-F238E27FC236}">
                <a16:creationId xmlns:a16="http://schemas.microsoft.com/office/drawing/2014/main" id="{7EB702F0-A263-3173-96A8-4FAF7D958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Vytvorenie 3-5 variácií zadanej otázky</a:t>
            </a:r>
          </a:p>
          <a:p>
            <a:r>
              <a:rPr lang="sk-SK" dirty="0"/>
              <a:t>Nájdenie podmetu, prísudku a predmetu</a:t>
            </a:r>
          </a:p>
          <a:p>
            <a:r>
              <a:rPr lang="sk-SK" dirty="0"/>
              <a:t>LLM vytvorí </a:t>
            </a:r>
            <a:r>
              <a:rPr lang="sk-SK" dirty="0" err="1"/>
              <a:t>Cypher</a:t>
            </a:r>
            <a:r>
              <a:rPr lang="sk-SK" dirty="0"/>
              <a:t> </a:t>
            </a:r>
            <a:r>
              <a:rPr lang="sk-SK" dirty="0" err="1"/>
              <a:t>query</a:t>
            </a:r>
            <a:r>
              <a:rPr lang="sk-SK" dirty="0"/>
              <a:t> a vráti KG (znalostné grafy) - </a:t>
            </a:r>
            <a:r>
              <a:rPr lang="sk-SK" dirty="0" err="1"/>
              <a:t>Claude</a:t>
            </a:r>
            <a:endParaRPr lang="sk-SK" dirty="0"/>
          </a:p>
          <a:p>
            <a:r>
              <a:rPr lang="sk-SK" dirty="0"/>
              <a:t>Nájdenie všetkých </a:t>
            </a:r>
            <a:r>
              <a:rPr lang="sk-SK" dirty="0" err="1"/>
              <a:t>chunkov</a:t>
            </a:r>
            <a:r>
              <a:rPr lang="sk-SK" dirty="0"/>
              <a:t>, v ktorých sa nachádzajú vrcholy z KG</a:t>
            </a:r>
          </a:p>
          <a:p>
            <a:r>
              <a:rPr lang="sk-SK" dirty="0"/>
              <a:t>Vytvorenie odpovede: </a:t>
            </a:r>
            <a:r>
              <a:rPr lang="sk-SK" sz="1100" dirty="0"/>
              <a:t>UQ + </a:t>
            </a:r>
            <a:r>
              <a:rPr lang="sk-SK" sz="1100" dirty="0" err="1"/>
              <a:t>VQs</a:t>
            </a:r>
            <a:r>
              <a:rPr lang="sk-SK" sz="1100" dirty="0"/>
              <a:t> + </a:t>
            </a:r>
            <a:r>
              <a:rPr lang="sk-SK" sz="1100" dirty="0" err="1"/>
              <a:t>KGs</a:t>
            </a:r>
            <a:r>
              <a:rPr lang="sk-SK" sz="1100" dirty="0"/>
              <a:t> + </a:t>
            </a:r>
            <a:r>
              <a:rPr lang="sk-SK" sz="1100" dirty="0" err="1"/>
              <a:t>chunky</a:t>
            </a:r>
            <a:r>
              <a:rPr lang="sk-SK" sz="1100" dirty="0"/>
              <a:t> + SP</a:t>
            </a:r>
          </a:p>
          <a:p>
            <a:endParaRPr lang="sk-SK" dirty="0"/>
          </a:p>
        </p:txBody>
      </p:sp>
      <p:sp>
        <p:nvSpPr>
          <p:cNvPr id="4" name="Zástupný symbol čísla snímky 3">
            <a:extLst>
              <a:ext uri="{FF2B5EF4-FFF2-40B4-BE49-F238E27FC236}">
                <a16:creationId xmlns:a16="http://schemas.microsoft.com/office/drawing/2014/main" id="{3B1B5875-6798-9605-10D7-A41E9F58D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35ECD-55A6-4BF2-B99C-0F5C455EB57A}" type="slidenum">
              <a:rPr lang="sk-SK" smtClean="0"/>
              <a:t>6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253333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1D189-04D2-2B4E-618F-93FD1960C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azu snímky 1">
            <a:extLst>
              <a:ext uri="{FF2B5EF4-FFF2-40B4-BE49-F238E27FC236}">
                <a16:creationId xmlns:a16="http://schemas.microsoft.com/office/drawing/2014/main" id="{C973E99F-EE9C-6A18-7C22-DAB45943F7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oznámok 2">
            <a:extLst>
              <a:ext uri="{FF2B5EF4-FFF2-40B4-BE49-F238E27FC236}">
                <a16:creationId xmlns:a16="http://schemas.microsoft.com/office/drawing/2014/main" id="{8CC5554B-8A5C-DFB1-8ED4-221E19E7D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detaily</a:t>
            </a:r>
          </a:p>
        </p:txBody>
      </p:sp>
      <p:sp>
        <p:nvSpPr>
          <p:cNvPr id="4" name="Zástupný symbol čísla snímky 3">
            <a:extLst>
              <a:ext uri="{FF2B5EF4-FFF2-40B4-BE49-F238E27FC236}">
                <a16:creationId xmlns:a16="http://schemas.microsoft.com/office/drawing/2014/main" id="{C510BFD2-0C3E-0C9A-B2BC-471B601A28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35ECD-55A6-4BF2-B99C-0F5C455EB57A}" type="slidenum">
              <a:rPr lang="sk-SK" smtClean="0"/>
              <a:t>7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03314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k-S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8C503-8AF6-4162-8FF3-0F85AB67B2C1}" type="datetime1">
              <a:rPr lang="sk-SK" smtClean="0"/>
              <a:t>25.1.2026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86DF-79B9-4B70-985F-88F544DCD79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01938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55052-5926-4191-A2E3-7BDEF44A13CC}" type="datetime1">
              <a:rPr lang="sk-SK" smtClean="0"/>
              <a:t>25.1.2026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86DF-79B9-4B70-985F-88F544DCD79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157136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6FC28-8D1F-45D1-AF6E-DB4D70B13124}" type="datetime1">
              <a:rPr lang="sk-SK" smtClean="0"/>
              <a:t>25.1.2026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86DF-79B9-4B70-985F-88F544DCD79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80742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99242-E760-4D00-B9AC-D6A5D75151F2}" type="datetime1">
              <a:rPr lang="sk-SK" smtClean="0"/>
              <a:t>25.1.2026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86DF-79B9-4B70-985F-88F544DCD79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7167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FD168-2653-4988-9CA0-B77348A2D730}" type="datetime1">
              <a:rPr lang="sk-SK" smtClean="0"/>
              <a:t>25.1.2026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86DF-79B9-4B70-985F-88F544DCD79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26612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155C9-6FFD-4026-8536-9E43E2ABFA39}" type="datetime1">
              <a:rPr lang="sk-SK" smtClean="0"/>
              <a:t>25.1.2026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86DF-79B9-4B70-985F-88F544DCD79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15187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8B9B6-08B1-479D-80ED-386032EE33E0}" type="datetime1">
              <a:rPr lang="sk-SK" smtClean="0"/>
              <a:t>25.1.2026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86DF-79B9-4B70-985F-88F544DCD79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280673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4F229-4D57-4821-8E37-0CE969326BC8}" type="datetime1">
              <a:rPr lang="sk-SK" smtClean="0"/>
              <a:t>25.1.2026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86DF-79B9-4B70-985F-88F544DCD79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88871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81ECF-6315-483D-90CF-53BC3D149B90}" type="datetime1">
              <a:rPr lang="sk-SK" smtClean="0"/>
              <a:t>25.1.2026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86DF-79B9-4B70-985F-88F544DCD79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06670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CD72-F62C-4D62-B762-7B7DE492E3A5}" type="datetime1">
              <a:rPr lang="sk-SK" smtClean="0"/>
              <a:t>25.1.2026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86DF-79B9-4B70-985F-88F544DCD79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481497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0CD0-B48A-41D1-B63B-0DE33DAB8219}" type="datetime1">
              <a:rPr lang="sk-SK" smtClean="0"/>
              <a:t>25.1.2026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86DF-79B9-4B70-985F-88F544DCD79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36501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k-S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7082E-20F2-470E-90A6-CAC2834E2F57}" type="datetime1">
              <a:rPr lang="sk-SK" smtClean="0"/>
              <a:t>25.1.2026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786DF-79B9-4B70-985F-88F544DCD79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763083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7040" y="1091883"/>
            <a:ext cx="8164945" cy="2387600"/>
          </a:xfrm>
        </p:spPr>
        <p:txBody>
          <a:bodyPr>
            <a:normAutofit/>
          </a:bodyPr>
          <a:lstStyle/>
          <a:p>
            <a:pPr algn="l"/>
            <a:r>
              <a:rPr lang="sk-SK" dirty="0">
                <a:solidFill>
                  <a:srgbClr val="264D99"/>
                </a:solidFill>
              </a:rPr>
              <a:t>Využitie LLM pre analýzu právnych dokumentov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7040" y="3588876"/>
            <a:ext cx="9144000" cy="437947"/>
          </a:xfrm>
        </p:spPr>
        <p:txBody>
          <a:bodyPr/>
          <a:lstStyle/>
          <a:p>
            <a:pPr algn="l"/>
            <a:r>
              <a:rPr lang="sk-SK" dirty="0"/>
              <a:t>Prezentácia BP1</a:t>
            </a:r>
          </a:p>
          <a:p>
            <a:endParaRPr lang="sk-SK" dirty="0"/>
          </a:p>
        </p:txBody>
      </p:sp>
      <p:sp>
        <p:nvSpPr>
          <p:cNvPr id="4" name="TextBox 3"/>
          <p:cNvSpPr txBox="1"/>
          <p:nvPr/>
        </p:nvSpPr>
        <p:spPr>
          <a:xfrm>
            <a:off x="447041" y="5079075"/>
            <a:ext cx="8164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Autor: Samuel Bagín</a:t>
            </a:r>
          </a:p>
          <a:p>
            <a:r>
              <a:rPr lang="sk-SK" dirty="0"/>
              <a:t>Vedúci bakalárskej práce: Ing. Marek Vančo, PhD.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465926"/>
            <a:ext cx="8611985" cy="45719"/>
          </a:xfrm>
          <a:prstGeom prst="rect">
            <a:avLst/>
          </a:prstGeom>
          <a:solidFill>
            <a:srgbClr val="264D99"/>
          </a:solidFill>
          <a:ln>
            <a:solidFill>
              <a:srgbClr val="264D99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CA99189-5559-D39E-06AB-6E542E9B3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1400" y="0"/>
            <a:ext cx="22606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838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14613"/>
            <a:ext cx="10515600" cy="876075"/>
          </a:xfrm>
        </p:spPr>
        <p:txBody>
          <a:bodyPr/>
          <a:lstStyle/>
          <a:p>
            <a:r>
              <a:rPr lang="sk-SK" dirty="0"/>
              <a:t>Zadanie bakalárskej práce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k-SK" dirty="0"/>
              <a:t>Cieľom projektu je vytvoriť AI systém na automatickú extrakciu a prepojenie informácií z právnych textov do znalostného grafu s pokročilým sémantickým vyhľadávaním. Systém kombinuje grafovú databázu s vektorovým úložiskom pre hybridné vyhľadávanie, ktoré umožňuje používateľom klásť otázky v prirodzenom jazyku a získavať presné odpovede na základe štruktúrovaných vzťahov aj sémantickej podobnosti.</a:t>
            </a:r>
            <a:endParaRPr lang="sk-SK" dirty="0">
              <a:solidFill>
                <a:srgbClr val="FF0000"/>
              </a:solidFill>
            </a:endParaRPr>
          </a:p>
        </p:txBody>
      </p:sp>
      <p:sp>
        <p:nvSpPr>
          <p:cNvPr id="10" name="Zástupný symbol čísla snímky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86DF-79B9-4B70-985F-88F544DCD793}" type="slidenum">
              <a:rPr lang="sk-SK" smtClean="0"/>
              <a:t>2</a:t>
            </a:fld>
            <a:r>
              <a:rPr lang="sk-SK" dirty="0"/>
              <a:t>/8</a:t>
            </a:r>
          </a:p>
        </p:txBody>
      </p:sp>
      <p:sp>
        <p:nvSpPr>
          <p:cNvPr id="12" name="Rectangle 4"/>
          <p:cNvSpPr/>
          <p:nvPr/>
        </p:nvSpPr>
        <p:spPr>
          <a:xfrm>
            <a:off x="0" y="6261707"/>
            <a:ext cx="12192000" cy="45719"/>
          </a:xfrm>
          <a:prstGeom prst="rect">
            <a:avLst/>
          </a:prstGeom>
          <a:solidFill>
            <a:srgbClr val="264D99"/>
          </a:solidFill>
          <a:ln>
            <a:solidFill>
              <a:srgbClr val="264D99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ECDF4209-FE59-45B2-BA62-FBBC859F45F8}"/>
              </a:ext>
            </a:extLst>
          </p:cNvPr>
          <p:cNvSpPr/>
          <p:nvPr/>
        </p:nvSpPr>
        <p:spPr>
          <a:xfrm>
            <a:off x="265319" y="6311900"/>
            <a:ext cx="82902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k-SK" dirty="0"/>
              <a:t>Autor: Samuel Bagín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9D61CE1-0BAB-87F2-A816-9C47E56E31D9}"/>
              </a:ext>
            </a:extLst>
          </p:cNvPr>
          <p:cNvSpPr/>
          <p:nvPr/>
        </p:nvSpPr>
        <p:spPr>
          <a:xfrm>
            <a:off x="0" y="684728"/>
            <a:ext cx="8611985" cy="45719"/>
          </a:xfrm>
          <a:prstGeom prst="rect">
            <a:avLst/>
          </a:prstGeom>
          <a:solidFill>
            <a:srgbClr val="264D99"/>
          </a:solidFill>
          <a:ln>
            <a:solidFill>
              <a:srgbClr val="264D99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DFAEE29-E285-1ECB-643E-A420A396404E}"/>
              </a:ext>
            </a:extLst>
          </p:cNvPr>
          <p:cNvSpPr/>
          <p:nvPr/>
        </p:nvSpPr>
        <p:spPr>
          <a:xfrm>
            <a:off x="0" y="218243"/>
            <a:ext cx="8610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k-SK" dirty="0">
                <a:solidFill>
                  <a:srgbClr val="264D99"/>
                </a:solidFill>
              </a:rPr>
              <a:t>Využitie LLM pre analýzu právnych dokumentov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43655B-E817-B7DD-C8BA-190AA982C0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1400" y="0"/>
            <a:ext cx="22606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77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20848-0EAE-4B1E-C774-567702B77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380F7-7755-EAA2-F17F-BDEE1ACF7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4613"/>
            <a:ext cx="10515600" cy="876075"/>
          </a:xfrm>
        </p:spPr>
        <p:txBody>
          <a:bodyPr/>
          <a:lstStyle/>
          <a:p>
            <a:r>
              <a:rPr lang="sk-SK" dirty="0"/>
              <a:t>Overené podobné riešenia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D3BE0-01C0-717D-C9F7-099042319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k-SK" sz="2800" dirty="0" err="1"/>
              <a:t>Blackstone</a:t>
            </a:r>
            <a:r>
              <a:rPr lang="sk-SK" sz="2800" dirty="0"/>
              <a:t> – britské riešenie, </a:t>
            </a:r>
            <a:r>
              <a:rPr lang="sk-SK" sz="2800" noProof="1"/>
              <a:t>využivajúce</a:t>
            </a:r>
            <a:r>
              <a:rPr lang="sk-SK" sz="2800" dirty="0"/>
              <a:t> strojové učenie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A55019-22A4-32AD-4E1E-27EF8A192991}"/>
              </a:ext>
            </a:extLst>
          </p:cNvPr>
          <p:cNvSpPr/>
          <p:nvPr/>
        </p:nvSpPr>
        <p:spPr>
          <a:xfrm>
            <a:off x="265319" y="6311900"/>
            <a:ext cx="82902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k-SK" dirty="0"/>
              <a:t>Autor: Samuel Bagín</a:t>
            </a:r>
          </a:p>
        </p:txBody>
      </p:sp>
      <p:sp>
        <p:nvSpPr>
          <p:cNvPr id="10" name="Zástupný symbol čísla snímky 9">
            <a:extLst>
              <a:ext uri="{FF2B5EF4-FFF2-40B4-BE49-F238E27FC236}">
                <a16:creationId xmlns:a16="http://schemas.microsoft.com/office/drawing/2014/main" id="{5FFE2A80-C845-8B80-8EBC-B09300912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86DF-79B9-4B70-985F-88F544DCD793}" type="slidenum">
              <a:rPr lang="sk-SK" smtClean="0"/>
              <a:t>3</a:t>
            </a:fld>
            <a:r>
              <a:rPr lang="sk-SK" dirty="0"/>
              <a:t>/8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8FB54A3A-C542-6DF1-7F54-B6FF79E3E41A}"/>
              </a:ext>
            </a:extLst>
          </p:cNvPr>
          <p:cNvSpPr/>
          <p:nvPr/>
        </p:nvSpPr>
        <p:spPr>
          <a:xfrm>
            <a:off x="0" y="6261707"/>
            <a:ext cx="12192000" cy="45719"/>
          </a:xfrm>
          <a:prstGeom prst="rect">
            <a:avLst/>
          </a:prstGeom>
          <a:solidFill>
            <a:srgbClr val="264D99"/>
          </a:solidFill>
          <a:ln>
            <a:solidFill>
              <a:srgbClr val="264D99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48ABBE-6C9E-CBBB-DB21-72D328CFCD7C}"/>
              </a:ext>
            </a:extLst>
          </p:cNvPr>
          <p:cNvSpPr/>
          <p:nvPr/>
        </p:nvSpPr>
        <p:spPr>
          <a:xfrm>
            <a:off x="0" y="684728"/>
            <a:ext cx="8611985" cy="45719"/>
          </a:xfrm>
          <a:prstGeom prst="rect">
            <a:avLst/>
          </a:prstGeom>
          <a:solidFill>
            <a:srgbClr val="264D99"/>
          </a:solidFill>
          <a:ln>
            <a:solidFill>
              <a:srgbClr val="264D99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0062AD9-6EA3-C416-D69C-70B38DB12198}"/>
              </a:ext>
            </a:extLst>
          </p:cNvPr>
          <p:cNvSpPr/>
          <p:nvPr/>
        </p:nvSpPr>
        <p:spPr>
          <a:xfrm>
            <a:off x="0" y="218243"/>
            <a:ext cx="8610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k-SK" dirty="0">
                <a:solidFill>
                  <a:srgbClr val="264D99"/>
                </a:solidFill>
              </a:rPr>
              <a:t>Využitie LLM pre analýzu právnych dokumentov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AA0C39-54D5-6265-6B03-E9C3E1EE56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1400" y="0"/>
            <a:ext cx="22606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150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F67AB-218C-CEEA-D1A4-099652C89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4B91B-ECCF-B8C9-4C4A-CB690F926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4613"/>
            <a:ext cx="10515600" cy="876075"/>
          </a:xfrm>
        </p:spPr>
        <p:txBody>
          <a:bodyPr/>
          <a:lstStyle/>
          <a:p>
            <a:r>
              <a:rPr lang="sk-SK" dirty="0"/>
              <a:t>Problém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63D4B-6A94-5911-252F-E68654F5A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k-SK" dirty="0"/>
              <a:t>Problematika halucinácie LLM pri pýtaní sa otázok na legálne pojmy.</a:t>
            </a:r>
          </a:p>
          <a:p>
            <a:pPr marL="0" indent="0">
              <a:buNone/>
            </a:pPr>
            <a:r>
              <a:rPr lang="sk-SK" sz="2000" dirty="0"/>
              <a:t>Príklad: daň z pridanej hodnoty – daň z príjmu</a:t>
            </a:r>
          </a:p>
          <a:p>
            <a:pPr marL="0" indent="0">
              <a:buNone/>
            </a:pPr>
            <a:endParaRPr lang="sk-SK" sz="2000" dirty="0"/>
          </a:p>
          <a:p>
            <a:pPr marL="0" indent="0">
              <a:buNone/>
            </a:pPr>
            <a:r>
              <a:rPr lang="sk-SK" dirty="0"/>
              <a:t>LLM s možnosťou vyhľadávania na internete, nájdu nerelevantné a neaktuálne dokumenty a informácie.</a:t>
            </a:r>
          </a:p>
        </p:txBody>
      </p:sp>
      <p:sp>
        <p:nvSpPr>
          <p:cNvPr id="10" name="Zástupný symbol čísla snímky 9">
            <a:extLst>
              <a:ext uri="{FF2B5EF4-FFF2-40B4-BE49-F238E27FC236}">
                <a16:creationId xmlns:a16="http://schemas.microsoft.com/office/drawing/2014/main" id="{7075B9FA-981B-EDF4-54C9-48F514725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86DF-79B9-4B70-985F-88F544DCD793}" type="slidenum">
              <a:rPr lang="sk-SK" smtClean="0"/>
              <a:t>4</a:t>
            </a:fld>
            <a:r>
              <a:rPr lang="sk-SK" dirty="0"/>
              <a:t>/8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6641730D-6C61-4835-ADE1-E9461DDB413E}"/>
              </a:ext>
            </a:extLst>
          </p:cNvPr>
          <p:cNvSpPr/>
          <p:nvPr/>
        </p:nvSpPr>
        <p:spPr>
          <a:xfrm>
            <a:off x="0" y="6261707"/>
            <a:ext cx="12192000" cy="45719"/>
          </a:xfrm>
          <a:prstGeom prst="rect">
            <a:avLst/>
          </a:prstGeom>
          <a:solidFill>
            <a:srgbClr val="264D99"/>
          </a:solidFill>
          <a:ln>
            <a:solidFill>
              <a:srgbClr val="264D99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E11CD539-14C7-F61B-1B10-371B12180D13}"/>
              </a:ext>
            </a:extLst>
          </p:cNvPr>
          <p:cNvSpPr/>
          <p:nvPr/>
        </p:nvSpPr>
        <p:spPr>
          <a:xfrm>
            <a:off x="265319" y="6311900"/>
            <a:ext cx="82902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k-SK" dirty="0"/>
              <a:t>Autor: Samuel Bagín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8A2EC85-EDC4-1DED-728D-84E4ECCBC064}"/>
              </a:ext>
            </a:extLst>
          </p:cNvPr>
          <p:cNvSpPr/>
          <p:nvPr/>
        </p:nvSpPr>
        <p:spPr>
          <a:xfrm>
            <a:off x="0" y="684728"/>
            <a:ext cx="8611985" cy="45719"/>
          </a:xfrm>
          <a:prstGeom prst="rect">
            <a:avLst/>
          </a:prstGeom>
          <a:solidFill>
            <a:srgbClr val="264D99"/>
          </a:solidFill>
          <a:ln>
            <a:solidFill>
              <a:srgbClr val="264D99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92DA50B7-BA74-55BC-7A39-B1473E3F9290}"/>
              </a:ext>
            </a:extLst>
          </p:cNvPr>
          <p:cNvSpPr/>
          <p:nvPr/>
        </p:nvSpPr>
        <p:spPr>
          <a:xfrm>
            <a:off x="0" y="218243"/>
            <a:ext cx="8610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k-SK" dirty="0">
                <a:solidFill>
                  <a:srgbClr val="264D99"/>
                </a:solidFill>
              </a:rPr>
              <a:t>Využitie LLM pre analýzu právnych dokumentov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CD6D3C-CB3A-C7D5-7D23-E1444DAC3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1400" y="0"/>
            <a:ext cx="22606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900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14613"/>
            <a:ext cx="10515600" cy="876075"/>
          </a:xfrm>
        </p:spPr>
        <p:txBody>
          <a:bodyPr/>
          <a:lstStyle/>
          <a:p>
            <a:r>
              <a:rPr lang="sk-SK" dirty="0"/>
              <a:t>O projekte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65319" y="6311900"/>
            <a:ext cx="82902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k-SK" dirty="0"/>
              <a:t>Autor: Samuel Bagín</a:t>
            </a:r>
          </a:p>
        </p:txBody>
      </p:sp>
      <p:sp>
        <p:nvSpPr>
          <p:cNvPr id="10" name="Zástupný symbol čísla snímky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86DF-79B9-4B70-985F-88F544DCD793}" type="slidenum">
              <a:rPr lang="sk-SK" smtClean="0"/>
              <a:t>5</a:t>
            </a:fld>
            <a:r>
              <a:rPr lang="sk-SK" dirty="0"/>
              <a:t>/8</a:t>
            </a:r>
          </a:p>
        </p:txBody>
      </p:sp>
      <p:sp>
        <p:nvSpPr>
          <p:cNvPr id="11" name="Rectangle 4"/>
          <p:cNvSpPr/>
          <p:nvPr/>
        </p:nvSpPr>
        <p:spPr>
          <a:xfrm>
            <a:off x="0" y="6261707"/>
            <a:ext cx="12192000" cy="45719"/>
          </a:xfrm>
          <a:prstGeom prst="rect">
            <a:avLst/>
          </a:prstGeom>
          <a:solidFill>
            <a:srgbClr val="264D99"/>
          </a:solidFill>
          <a:ln>
            <a:solidFill>
              <a:srgbClr val="264D99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3C12AB-5B1D-01A0-B16B-95A961BD7524}"/>
              </a:ext>
            </a:extLst>
          </p:cNvPr>
          <p:cNvSpPr/>
          <p:nvPr/>
        </p:nvSpPr>
        <p:spPr>
          <a:xfrm>
            <a:off x="0" y="684728"/>
            <a:ext cx="8611985" cy="45719"/>
          </a:xfrm>
          <a:prstGeom prst="rect">
            <a:avLst/>
          </a:prstGeom>
          <a:solidFill>
            <a:srgbClr val="264D99"/>
          </a:solidFill>
          <a:ln>
            <a:solidFill>
              <a:srgbClr val="264D99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FA193BE-6E27-A40F-3051-38AC50FEA9EE}"/>
              </a:ext>
            </a:extLst>
          </p:cNvPr>
          <p:cNvSpPr/>
          <p:nvPr/>
        </p:nvSpPr>
        <p:spPr>
          <a:xfrm>
            <a:off x="0" y="218243"/>
            <a:ext cx="8610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k-SK" dirty="0">
                <a:solidFill>
                  <a:srgbClr val="264D99"/>
                </a:solidFill>
              </a:rPr>
              <a:t>Využitie LLM pre analýzu právnych dokumentov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71A172C-58C3-DAE7-BE84-ED91E42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1" y="779371"/>
            <a:ext cx="9573552" cy="53755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125EB8-ACFD-B6D1-B75C-1A008B1458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1400" y="0"/>
            <a:ext cx="2260600" cy="12954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0086" y="4714691"/>
            <a:ext cx="10515600" cy="2143309"/>
          </a:xfrm>
        </p:spPr>
        <p:txBody>
          <a:bodyPr/>
          <a:lstStyle/>
          <a:p>
            <a:pPr marL="0" indent="0">
              <a:buNone/>
            </a:pPr>
            <a:endParaRPr lang="sk-SK" dirty="0"/>
          </a:p>
          <a:p>
            <a:endParaRPr lang="sk-SK" sz="2800" dirty="0"/>
          </a:p>
          <a:p>
            <a:pPr marL="0" indent="0">
              <a:buNone/>
            </a:pPr>
            <a:r>
              <a:rPr lang="sk-SK" dirty="0"/>
              <a:t>Neo4j, </a:t>
            </a:r>
            <a:r>
              <a:rPr lang="sk-SK" dirty="0" err="1"/>
              <a:t>LangChain</a:t>
            </a:r>
            <a:r>
              <a:rPr lang="sk-SK" dirty="0"/>
              <a:t>, </a:t>
            </a:r>
            <a:r>
              <a:rPr lang="sk-SK" dirty="0" err="1"/>
              <a:t>OpenAI</a:t>
            </a:r>
            <a:endParaRPr lang="sk-SK" sz="2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FF8FD38-AE17-6F9F-7E80-A6E335A0EF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4467" y="1590610"/>
            <a:ext cx="3416300" cy="24162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290D631-6CAC-7388-2743-C7BEAD2449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2543" y="4006866"/>
            <a:ext cx="3416300" cy="21619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83C113-CD51-E370-44EF-A537BF5F0D62}"/>
              </a:ext>
            </a:extLst>
          </p:cNvPr>
          <p:cNvSpPr txBox="1"/>
          <p:nvPr/>
        </p:nvSpPr>
        <p:spPr>
          <a:xfrm>
            <a:off x="595586" y="754909"/>
            <a:ext cx="37097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+mj-lt"/>
              </a:rPr>
              <a:t>O </a:t>
            </a:r>
            <a:r>
              <a:rPr lang="en-US" sz="4000" dirty="0" err="1">
                <a:latin typeface="+mj-lt"/>
              </a:rPr>
              <a:t>projekte</a:t>
            </a:r>
            <a:endParaRPr lang="en-US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94480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6C196-255A-6031-0F36-C4909FA47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0BE06-8B67-7981-1A92-CDFE17C9F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4613"/>
            <a:ext cx="10515600" cy="876075"/>
          </a:xfrm>
        </p:spPr>
        <p:txBody>
          <a:bodyPr/>
          <a:lstStyle/>
          <a:p>
            <a:r>
              <a:rPr lang="sk-SK" dirty="0"/>
              <a:t>O projekte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AC5020-82C7-57E2-732F-B334A02FD989}"/>
              </a:ext>
            </a:extLst>
          </p:cNvPr>
          <p:cNvSpPr/>
          <p:nvPr/>
        </p:nvSpPr>
        <p:spPr>
          <a:xfrm>
            <a:off x="265319" y="6311900"/>
            <a:ext cx="82902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k-SK" dirty="0"/>
              <a:t>Autor: Samuel Bagín</a:t>
            </a:r>
          </a:p>
        </p:txBody>
      </p:sp>
      <p:sp>
        <p:nvSpPr>
          <p:cNvPr id="10" name="Zástupný symbol čísla snímky 9">
            <a:extLst>
              <a:ext uri="{FF2B5EF4-FFF2-40B4-BE49-F238E27FC236}">
                <a16:creationId xmlns:a16="http://schemas.microsoft.com/office/drawing/2014/main" id="{A3170AF1-EFE8-5893-13CD-FE284B418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86DF-79B9-4B70-985F-88F544DCD793}" type="slidenum">
              <a:rPr lang="sk-SK" smtClean="0"/>
              <a:t>6</a:t>
            </a:fld>
            <a:r>
              <a:rPr lang="sk-SK" dirty="0"/>
              <a:t>/8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94633815-0041-E8CC-870B-1EB527824CBB}"/>
              </a:ext>
            </a:extLst>
          </p:cNvPr>
          <p:cNvSpPr/>
          <p:nvPr/>
        </p:nvSpPr>
        <p:spPr>
          <a:xfrm>
            <a:off x="0" y="6261707"/>
            <a:ext cx="12192000" cy="45719"/>
          </a:xfrm>
          <a:prstGeom prst="rect">
            <a:avLst/>
          </a:prstGeom>
          <a:solidFill>
            <a:srgbClr val="264D99"/>
          </a:solidFill>
          <a:ln>
            <a:solidFill>
              <a:srgbClr val="264D99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A28427-8481-1008-9E2E-8500C29FD3B6}"/>
              </a:ext>
            </a:extLst>
          </p:cNvPr>
          <p:cNvSpPr/>
          <p:nvPr/>
        </p:nvSpPr>
        <p:spPr>
          <a:xfrm>
            <a:off x="0" y="684728"/>
            <a:ext cx="8611985" cy="45719"/>
          </a:xfrm>
          <a:prstGeom prst="rect">
            <a:avLst/>
          </a:prstGeom>
          <a:solidFill>
            <a:srgbClr val="264D99"/>
          </a:solidFill>
          <a:ln>
            <a:solidFill>
              <a:srgbClr val="264D99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5584B4B-8F59-B0F3-91F3-E73BA01A33E1}"/>
              </a:ext>
            </a:extLst>
          </p:cNvPr>
          <p:cNvSpPr/>
          <p:nvPr/>
        </p:nvSpPr>
        <p:spPr>
          <a:xfrm>
            <a:off x="0" y="218243"/>
            <a:ext cx="8610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k-SK" dirty="0">
                <a:solidFill>
                  <a:srgbClr val="264D99"/>
                </a:solidFill>
              </a:rPr>
              <a:t>Využitie LLM pre analýzu právnych dokumentov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B5A537-E49D-3E74-C43F-24B6CBCD3B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746" y="809693"/>
            <a:ext cx="9666081" cy="542755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77D13-B535-3303-CBE1-A43C85C14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702" y="875482"/>
            <a:ext cx="6233672" cy="10179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sz="2000" b="1" u="sng" dirty="0"/>
              <a:t>sémantické vyhľadávanie:</a:t>
            </a:r>
            <a:endParaRPr lang="sk-SK" sz="2000" dirty="0"/>
          </a:p>
          <a:p>
            <a:pPr marL="0" indent="0">
              <a:buNone/>
            </a:pPr>
            <a:r>
              <a:rPr lang="sk-SK" sz="2800" dirty="0"/>
              <a:t>	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3BFECF-C247-BEC3-16A4-2EA7E9446E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1400" y="0"/>
            <a:ext cx="2260600" cy="1295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F1FAD0-F354-8937-DA4A-99BFB94BC6A7}"/>
              </a:ext>
            </a:extLst>
          </p:cNvPr>
          <p:cNvSpPr txBox="1"/>
          <p:nvPr/>
        </p:nvSpPr>
        <p:spPr>
          <a:xfrm>
            <a:off x="595586" y="754909"/>
            <a:ext cx="37097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+mj-lt"/>
              </a:rPr>
              <a:t>O </a:t>
            </a:r>
            <a:r>
              <a:rPr lang="en-US" sz="4000" dirty="0" err="1">
                <a:latin typeface="+mj-lt"/>
              </a:rPr>
              <a:t>projekte</a:t>
            </a:r>
            <a:endParaRPr lang="en-US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10610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92D62-A723-8A2A-FFE9-93C22D6D4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AB81D-2A14-5C13-7F51-0BA8401F1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4613"/>
            <a:ext cx="10515600" cy="876075"/>
          </a:xfrm>
        </p:spPr>
        <p:txBody>
          <a:bodyPr/>
          <a:lstStyle/>
          <a:p>
            <a:r>
              <a:rPr lang="sk-SK" dirty="0"/>
              <a:t>Plán na letný semester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0FD01-C84A-E303-AFCB-F83264900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Implementovanie </a:t>
            </a:r>
            <a:r>
              <a:rPr lang="sk-SK" dirty="0" err="1"/>
              <a:t>multi</a:t>
            </a:r>
            <a:r>
              <a:rPr lang="sk-SK" dirty="0"/>
              <a:t>-hop vyhľadávania</a:t>
            </a:r>
          </a:p>
          <a:p>
            <a:pPr marL="457200" lvl="1" indent="0">
              <a:buNone/>
            </a:pPr>
            <a:r>
              <a:rPr lang="sk-SK" sz="2000" dirty="0"/>
              <a:t>Jožkov bratranec má rád hot-</a:t>
            </a:r>
            <a:r>
              <a:rPr lang="sk-SK" sz="2000" dirty="0" err="1"/>
              <a:t>dog</a:t>
            </a:r>
            <a:r>
              <a:rPr lang="sk-SK" sz="2000" dirty="0"/>
              <a:t>.</a:t>
            </a:r>
          </a:p>
          <a:p>
            <a:r>
              <a:rPr lang="sk-SK" dirty="0"/>
              <a:t>Zobrazovanie nájdených znalostných grafov</a:t>
            </a:r>
          </a:p>
          <a:p>
            <a:pPr marL="457200" lvl="1" indent="0">
              <a:buNone/>
            </a:pPr>
            <a:r>
              <a:rPr lang="sk-SK" sz="2000" dirty="0"/>
              <a:t>Vizualizácia pomocou </a:t>
            </a:r>
            <a:r>
              <a:rPr lang="sk-SK" sz="2000" dirty="0" err="1"/>
              <a:t>PyVis</a:t>
            </a:r>
            <a:r>
              <a:rPr lang="sk-SK" sz="2000" dirty="0"/>
              <a:t> alebo D3.js</a:t>
            </a:r>
          </a:p>
          <a:p>
            <a:r>
              <a:rPr lang="sk-SK" dirty="0"/>
              <a:t>Vytvorenie používateľského rozhrania</a:t>
            </a:r>
          </a:p>
          <a:p>
            <a:pPr marL="457200" lvl="1" indent="0">
              <a:buNone/>
            </a:pPr>
            <a:r>
              <a:rPr lang="sk-SK" sz="2000" dirty="0"/>
              <a:t>Webové rozhranie alebo </a:t>
            </a:r>
            <a:r>
              <a:rPr lang="sk-SK" sz="2000" dirty="0" err="1"/>
              <a:t>Jupyter</a:t>
            </a:r>
            <a:r>
              <a:rPr lang="sk-SK" sz="2000" dirty="0"/>
              <a:t> Notebook</a:t>
            </a:r>
          </a:p>
          <a:p>
            <a:r>
              <a:rPr lang="sk-SK" dirty="0"/>
              <a:t>Optimalizácia </a:t>
            </a:r>
            <a:r>
              <a:rPr lang="sk-SK" dirty="0" err="1"/>
              <a:t>promptov</a:t>
            </a:r>
            <a:endParaRPr lang="sk-SK" dirty="0"/>
          </a:p>
          <a:p>
            <a:pPr marL="457200" lvl="1" indent="0">
              <a:buNone/>
            </a:pPr>
            <a:r>
              <a:rPr lang="sk-SK" sz="2000" dirty="0"/>
              <a:t>Zjednodušenie, skrátenie a zrozumiteľnejšie </a:t>
            </a:r>
            <a:r>
              <a:rPr lang="sk-SK" sz="2000" dirty="0" err="1"/>
              <a:t>prompty</a:t>
            </a:r>
            <a:endParaRPr lang="sk-SK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47D027-B340-B2D1-DC1E-3B6716D92D65}"/>
              </a:ext>
            </a:extLst>
          </p:cNvPr>
          <p:cNvSpPr/>
          <p:nvPr/>
        </p:nvSpPr>
        <p:spPr>
          <a:xfrm>
            <a:off x="265319" y="6311900"/>
            <a:ext cx="82902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k-SK" dirty="0"/>
              <a:t>Autor: Samuel Bagín</a:t>
            </a:r>
          </a:p>
        </p:txBody>
      </p:sp>
      <p:sp>
        <p:nvSpPr>
          <p:cNvPr id="10" name="Zástupný symbol čísla snímky 9">
            <a:extLst>
              <a:ext uri="{FF2B5EF4-FFF2-40B4-BE49-F238E27FC236}">
                <a16:creationId xmlns:a16="http://schemas.microsoft.com/office/drawing/2014/main" id="{4A3E1C94-CA05-7192-497C-828171140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86DF-79B9-4B70-985F-88F544DCD793}" type="slidenum">
              <a:rPr lang="sk-SK" smtClean="0"/>
              <a:t>7</a:t>
            </a:fld>
            <a:r>
              <a:rPr lang="sk-SK" dirty="0"/>
              <a:t>/8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9F959DDA-A09B-7792-0866-C1B7BC6FDA6E}"/>
              </a:ext>
            </a:extLst>
          </p:cNvPr>
          <p:cNvSpPr/>
          <p:nvPr/>
        </p:nvSpPr>
        <p:spPr>
          <a:xfrm>
            <a:off x="0" y="6261707"/>
            <a:ext cx="12192000" cy="45719"/>
          </a:xfrm>
          <a:prstGeom prst="rect">
            <a:avLst/>
          </a:prstGeom>
          <a:solidFill>
            <a:srgbClr val="264D99"/>
          </a:solidFill>
          <a:ln>
            <a:solidFill>
              <a:srgbClr val="264D99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1870C0-0F55-F68B-B43C-3AB91CAE4791}"/>
              </a:ext>
            </a:extLst>
          </p:cNvPr>
          <p:cNvSpPr/>
          <p:nvPr/>
        </p:nvSpPr>
        <p:spPr>
          <a:xfrm>
            <a:off x="0" y="684728"/>
            <a:ext cx="8611985" cy="45719"/>
          </a:xfrm>
          <a:prstGeom prst="rect">
            <a:avLst/>
          </a:prstGeom>
          <a:solidFill>
            <a:srgbClr val="264D99"/>
          </a:solidFill>
          <a:ln>
            <a:solidFill>
              <a:srgbClr val="264D99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DB77887-E0F4-7E7F-EDEF-C1B1B869AB78}"/>
              </a:ext>
            </a:extLst>
          </p:cNvPr>
          <p:cNvSpPr/>
          <p:nvPr/>
        </p:nvSpPr>
        <p:spPr>
          <a:xfrm>
            <a:off x="0" y="218243"/>
            <a:ext cx="8610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k-SK" dirty="0">
                <a:solidFill>
                  <a:srgbClr val="264D99"/>
                </a:solidFill>
              </a:rPr>
              <a:t>Využitie LLM pre analýzu právnych dokumentov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1D98B1-E008-0C4C-CE8B-A6E7F3F320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1400" y="0"/>
            <a:ext cx="22606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56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" y="877232"/>
            <a:ext cx="12192001" cy="2387600"/>
          </a:xfrm>
        </p:spPr>
        <p:txBody>
          <a:bodyPr/>
          <a:lstStyle/>
          <a:p>
            <a:r>
              <a:rPr lang="sk-SK" dirty="0"/>
              <a:t>Ďakujem za pozornosť</a:t>
            </a:r>
            <a:endParaRPr lang="sk-SK" dirty="0">
              <a:solidFill>
                <a:srgbClr val="00B0F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-1" y="1509366"/>
            <a:ext cx="12192001" cy="53427"/>
          </a:xfrm>
          <a:prstGeom prst="rect">
            <a:avLst/>
          </a:prstGeom>
          <a:solidFill>
            <a:srgbClr val="264D99"/>
          </a:solidFill>
          <a:ln>
            <a:solidFill>
              <a:srgbClr val="264D99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1" name="Rectangle 10"/>
          <p:cNvSpPr/>
          <p:nvPr/>
        </p:nvSpPr>
        <p:spPr>
          <a:xfrm>
            <a:off x="0" y="4106791"/>
            <a:ext cx="12192001" cy="53427"/>
          </a:xfrm>
          <a:prstGeom prst="rect">
            <a:avLst/>
          </a:prstGeom>
          <a:solidFill>
            <a:srgbClr val="264D99"/>
          </a:solidFill>
          <a:ln>
            <a:solidFill>
              <a:srgbClr val="264D99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A5A88A-A8AB-6ACB-370B-D761F5416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557" y="5651249"/>
            <a:ext cx="5554886" cy="120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710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01b66bd-e699-4830-aac9-b18e744e07eb">
      <Terms xmlns="http://schemas.microsoft.com/office/infopath/2007/PartnerControls"/>
    </lcf76f155ced4ddcb4097134ff3c332f>
    <TaxCatchAll xmlns="790187d4-4294-4956-88ae-a0a46046ed0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EDB616AE48AEB41B99C2AC62DBFCA95" ma:contentTypeVersion="14" ma:contentTypeDescription="Umožňuje vytvoriť nový dokument." ma:contentTypeScope="" ma:versionID="088036438fc23cacdefd977392a4e3c2">
  <xsd:schema xmlns:xsd="http://www.w3.org/2001/XMLSchema" xmlns:xs="http://www.w3.org/2001/XMLSchema" xmlns:p="http://schemas.microsoft.com/office/2006/metadata/properties" xmlns:ns2="d01b66bd-e699-4830-aac9-b18e744e07eb" xmlns:ns3="790187d4-4294-4956-88ae-a0a46046ed0a" targetNamespace="http://schemas.microsoft.com/office/2006/metadata/properties" ma:root="true" ma:fieldsID="f4c5f3b1d36eb382ebc7e88bf870d103" ns2:_="" ns3:_="">
    <xsd:import namespace="d01b66bd-e699-4830-aac9-b18e744e07eb"/>
    <xsd:import namespace="790187d4-4294-4956-88ae-a0a46046ed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1b66bd-e699-4830-aac9-b18e744e07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Značky obrázka" ma:readOnly="false" ma:fieldId="{5cf76f15-5ced-4ddc-b409-7134ff3c332f}" ma:taxonomyMulti="true" ma:sspId="20de4301-b1da-46d0-bded-5f1fb5ebe3e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0187d4-4294-4956-88ae-a0a46046ed0a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1eac5036-c470-4179-969c-e3f8f2740cb6}" ma:internalName="TaxCatchAll" ma:showField="CatchAllData" ma:web="790187d4-4294-4956-88ae-a0a46046ed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Zdieľa sa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Zdieľané s podrobnosťam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4999B7-1407-4E96-8E46-8443EF5F6F2E}">
  <ds:schemaRefs>
    <ds:schemaRef ds:uri="http://schemas.microsoft.com/office/2006/metadata/properties"/>
    <ds:schemaRef ds:uri="http://schemas.microsoft.com/office/infopath/2007/PartnerControls"/>
    <ds:schemaRef ds:uri="d01b66bd-e699-4830-aac9-b18e744e07eb"/>
    <ds:schemaRef ds:uri="790187d4-4294-4956-88ae-a0a46046ed0a"/>
  </ds:schemaRefs>
</ds:datastoreItem>
</file>

<file path=customXml/itemProps2.xml><?xml version="1.0" encoding="utf-8"?>
<ds:datastoreItem xmlns:ds="http://schemas.openxmlformats.org/officeDocument/2006/customXml" ds:itemID="{375C6E88-C769-48B0-91D3-77870C8920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928A596-DA61-42C8-8262-09E9C0DD9B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01b66bd-e699-4830-aac9-b18e744e07eb"/>
    <ds:schemaRef ds:uri="790187d4-4294-4956-88ae-a0a46046ed0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4783</TotalTime>
  <Words>309</Words>
  <Application>Microsoft Macintosh PowerPoint</Application>
  <PresentationFormat>Widescreen</PresentationFormat>
  <Paragraphs>61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Využitie LLM pre analýzu právnych dokumentov</vt:lpstr>
      <vt:lpstr>Zadanie bakalárskej práce</vt:lpstr>
      <vt:lpstr>Overené podobné riešenia</vt:lpstr>
      <vt:lpstr>Problém</vt:lpstr>
      <vt:lpstr>O projekte</vt:lpstr>
      <vt:lpstr>O projekte</vt:lpstr>
      <vt:lpstr>Plán na letný semester</vt:lpstr>
      <vt:lpstr>Ďakujem za pozornosť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Názov Práce</dc:title>
  <dc:creator>jbendik@yahoo.com</dc:creator>
  <cp:lastModifiedBy>Samuel Bagín</cp:lastModifiedBy>
  <cp:revision>45</cp:revision>
  <dcterms:created xsi:type="dcterms:W3CDTF">2019-01-31T09:17:00Z</dcterms:created>
  <dcterms:modified xsi:type="dcterms:W3CDTF">2026-01-25T16:55:58Z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0x0101003EDB616AE48AEB41B99C2AC62DBFCA95</vt:lpwstr>
  </property>
</Properties>
</file>