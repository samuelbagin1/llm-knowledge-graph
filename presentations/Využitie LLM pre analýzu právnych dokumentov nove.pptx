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6" r:id="rId7"/>
    <p:sldId id="268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3735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4F8E49-8736-5541-6B03-95BDD2FD5C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81748-6545-4CF6-5C91-D6660D5952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6B63C9-D0FB-6143-980A-57A152DCD3E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22DEE-8F5B-6383-E905-D4387F2216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DEEF31-BE5A-3E13-D917-7DDFB1E3AA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D50AB4-75E5-494B-9779-9D63FDCD6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655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6AB6-B43B-6125-CDD3-EE9A4DB83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C2F13A-A6B7-AAAF-85ED-376D267582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E2274-3426-C240-F40E-41F4F727C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44657-B6D2-1242-83F0-098778FE076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6EA73-1249-6A0F-FD38-31F244BCE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870AA-5CF6-38E2-F37D-5D6E68E6B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99EC-2DC5-CB44-A3F9-05BD8DB80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09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50581-D87C-86E2-60E8-FF7235090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C6BD7-D20C-DE2B-21BA-5BCE31432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1351B-7C0E-6CCB-FCE6-8B275C480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44657-B6D2-1242-83F0-098778FE076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9C275-70D3-1093-A6F6-B1943D5FB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24EC8-4B47-28FA-1FFE-55C316D41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99EC-2DC5-CB44-A3F9-05BD8DB80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237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4C462-369A-83EA-C376-C6D134F22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A7510-F2CD-E191-ECBB-0B46F4DB6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57DB7-2506-E7E5-6F08-3FEFE567F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44657-B6D2-1242-83F0-098778FE076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1DA46-4E35-38BF-35D6-E47094611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89BB1-FA58-64A2-A244-66FD21EA8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99EC-2DC5-CB44-A3F9-05BD8DB80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14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EF778-277F-3873-2654-37C12E8B6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5A1BB-3613-FA33-69C7-E8A41E8CA3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057B3-A28E-0E8A-5BB0-96CEA9569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63170-E0BA-5575-B0D1-D1EF70553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44657-B6D2-1242-83F0-098778FE076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3EC718-BB46-6E27-9B09-3B317C85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36BC3-8F8D-15BD-0C19-16D030C69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99EC-2DC5-CB44-A3F9-05BD8DB80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62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32073-35F6-27C1-657F-58B649EEA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458BC-F046-8C4B-BC74-6FE248EFF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B11EA1-9FE6-3407-C979-D65EC980D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46BDB9-336D-7B69-2FD3-640E2E6D9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24BFF4-3469-D0BA-687A-B2D9E4D35A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0C7A01-D897-58E3-3BC9-D0D6AEFDA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44657-B6D2-1242-83F0-098778FE076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E82BC4-99B7-0728-C852-FE1C6D316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1B499D-F642-BC3A-BF29-C345EF3E3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99EC-2DC5-CB44-A3F9-05BD8DB80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070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15360-C9F6-A624-9A05-773EA8AD2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FAD5C1-EDB8-A6FA-654E-E46936D94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44657-B6D2-1242-83F0-098778FE076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093D3A-6A62-5070-AF73-B8C7ED647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50F95-347A-05E9-8484-7F9DA835A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99EC-2DC5-CB44-A3F9-05BD8DB80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8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0E6D10-2316-EAA8-1B49-FD22D5B8E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44657-B6D2-1242-83F0-098778FE076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42C74F-25E3-7951-3490-D5BD275D8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CB892-237A-22F2-96E4-9337D468F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99EC-2DC5-CB44-A3F9-05BD8DB80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25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872E3-29CF-AB9A-733D-2DDC8F900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2C285-FD8E-AB15-8F6B-66169CA16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B45844-1302-78FA-CC71-693B8DBAF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2D67E-6E8B-04C7-4A1E-1DCE62A50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44657-B6D2-1242-83F0-098778FE076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F087E-0F0D-235A-494C-C24BD2253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ACCD2-D3C5-6B68-253C-DC18164E3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99EC-2DC5-CB44-A3F9-05BD8DB80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7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2193C-B59F-D2FF-3D97-8583CE6E9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304D2D-FC1D-8AC0-D5E6-2E23B358B1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759BE-7995-2A8E-0487-1E0F3B2AB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FBCFD-D7FA-0580-09FD-73561A2EA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44657-B6D2-1242-83F0-098778FE076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2C2BD-D593-7195-C789-DC1287227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9755A9-C1CB-9BA2-A8B4-81073879E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99EC-2DC5-CB44-A3F9-05BD8DB80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494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7C42F-A638-E19C-51CF-02180CC71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658527-6F20-34DD-5E6D-4317690E0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EBAB1-0320-B242-AA57-E722AC37E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44657-B6D2-1242-83F0-098778FE076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78BF7-9BD7-180E-5426-F8B686F0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28D14-3ABF-8F96-F397-BD89EB67F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99EC-2DC5-CB44-A3F9-05BD8DB80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31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DA67A6-40A0-A779-4B89-B3FED0E148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E40FF6-8815-010C-4CDF-62FCD51D8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A1BB2-6E97-4B98-1AEF-4BC5A68E9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44657-B6D2-1242-83F0-098778FE076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C6C2B-7DE5-107B-F053-D91324B5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E923B-3F7E-FF1D-F76E-F8FDF2992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899EC-2DC5-CB44-A3F9-05BD8DB80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324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E6B87A-076D-CEBA-C0C3-ECD4121C5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5F8B0-2CB4-2543-BD77-3A45FEF98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EBD9A-D9C5-A930-1EE7-C19AD06838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defRPr>
            </a:lvl1pPr>
          </a:lstStyle>
          <a:p>
            <a:fld id="{51744657-B6D2-1242-83F0-098778FE0764}" type="datetimeFigureOut">
              <a:rPr lang="en-US" smtClean="0"/>
              <a:pPr/>
              <a:t>2/11/26</a:t>
            </a:fld>
            <a:endParaRPr lang="en-US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4F386-71EF-063E-A3CD-85CD0E3A9F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tx1">
                    <a:tint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defRPr>
            </a:lvl1pPr>
          </a:lstStyle>
          <a:p>
            <a:endParaRPr lang="en-US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17E83-A006-19C8-857A-702A49E13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>
                <a:solidFill>
                  <a:schemeClr val="tx1">
                    <a:tint val="75000"/>
                  </a:schemeClr>
                </a:solidFill>
                <a:latin typeface="CMU Typewriter Text" panose="02000609000000000000" pitchFamily="49" charset="0"/>
                <a:ea typeface="CMU Typewriter Text" panose="02000609000000000000" pitchFamily="49" charset="0"/>
                <a:cs typeface="CMU Typewriter Text" panose="02000609000000000000" pitchFamily="49" charset="0"/>
              </a:defRPr>
            </a:lvl1pPr>
          </a:lstStyle>
          <a:p>
            <a:fld id="{C2F899EC-2DC5-CB44-A3F9-05BD8DB807E0}" type="slidenum">
              <a:rPr lang="en-US" smtClean="0"/>
              <a:pPr/>
              <a:t>‹#›</a:t>
            </a:fld>
            <a:endParaRPr lang="en-US" b="1">
              <a:latin typeface="CMU Typewriter Text" panose="02000609000000000000" pitchFamily="49" charset="0"/>
              <a:ea typeface="CMU Typewriter Text" panose="02000609000000000000" pitchFamily="49" charset="0"/>
              <a:cs typeface="CMU Typewriter Text" panose="020006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41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MU Serif Roman" panose="02000603000000000000" pitchFamily="2" charset="0"/>
          <a:ea typeface="CMU Serif Roman" panose="02000603000000000000" pitchFamily="2" charset="0"/>
          <a:cs typeface="CMU Serif Roman" panose="02000603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MU Serif Roman" panose="02000603000000000000" pitchFamily="2" charset="0"/>
          <a:ea typeface="CMU Serif Roman" panose="02000603000000000000" pitchFamily="2" charset="0"/>
          <a:cs typeface="CMU Serif Roman" panose="02000603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MU Serif Roman" panose="02000603000000000000" pitchFamily="2" charset="0"/>
          <a:ea typeface="CMU Serif Roman" panose="02000603000000000000" pitchFamily="2" charset="0"/>
          <a:cs typeface="CMU Serif Roman" panose="02000603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CMU Serif Roman" panose="02000603000000000000" pitchFamily="2" charset="0"/>
          <a:ea typeface="CMU Serif Roman" panose="02000603000000000000" pitchFamily="2" charset="0"/>
          <a:cs typeface="CMU Serif Roman" panose="02000603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CMU Serif Roman" panose="02000603000000000000" pitchFamily="2" charset="0"/>
          <a:ea typeface="CMU Serif Roman" panose="02000603000000000000" pitchFamily="2" charset="0"/>
          <a:cs typeface="CMU Serif Roman" panose="02000603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CMU Serif Roman" panose="02000603000000000000" pitchFamily="2" charset="0"/>
          <a:ea typeface="CMU Serif Roman" panose="02000603000000000000" pitchFamily="2" charset="0"/>
          <a:cs typeface="CMU Serif Roman" panose="02000603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10C78-08FC-0522-DFB8-BB65D3F176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sk-SK" sz="2800" noProof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Využitie LLM pre analýzu právnych dokumentov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16FA0E-6A57-EF02-7206-F47EA85383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sk-SK" sz="1600" noProof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Samuel Bagín</a:t>
            </a:r>
          </a:p>
        </p:txBody>
      </p:sp>
    </p:spTree>
    <p:extLst>
      <p:ext uri="{BB962C8B-B14F-4D97-AF65-F5344CB8AC3E}">
        <p14:creationId xmlns:p14="http://schemas.microsoft.com/office/powerpoint/2010/main" val="3860609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CACD3-70C1-08FE-8DB5-F43EA7B97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noProof="1"/>
              <a:t>Úvod a motivácia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79F3D-D7E9-432C-B304-249454C5E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b="1" noProof="1"/>
              <a:t>Problém</a:t>
            </a:r>
            <a:r>
              <a:rPr lang="sk-SK" noProof="1"/>
              <a:t>: Právne texty sú komplexné a sémanticky husté; samotné LLM trpia halucináciami a obmedzeným kontextom (daň, daň z príjmu, daň z nehnuteľnosti).</a:t>
            </a:r>
          </a:p>
          <a:p>
            <a:r>
              <a:rPr lang="sk-SK" b="1" noProof="1"/>
              <a:t>Riešenie</a:t>
            </a:r>
            <a:r>
              <a:rPr lang="sk-SK" noProof="1"/>
              <a:t>: Transformácia neštruktúrovaného textu do Znalostného grafu (KG).</a:t>
            </a:r>
          </a:p>
          <a:p>
            <a:r>
              <a:rPr lang="sk-SK" b="1" noProof="1"/>
              <a:t>Metóda</a:t>
            </a:r>
            <a:r>
              <a:rPr lang="sk-SK" noProof="1"/>
              <a:t>: Využitie GraphRAG (Graph Retrieval-Augmented Generation) pre presnejšie odpovede.</a:t>
            </a:r>
          </a:p>
          <a:p>
            <a:r>
              <a:rPr lang="sk-SK" b="1" noProof="1"/>
              <a:t>Cieľ</a:t>
            </a:r>
            <a:r>
              <a:rPr lang="sk-SK" noProof="1"/>
              <a:t>: Systém na automatickú extrakciu, prepojenie entít a sémantické vyhľadávanie v legislatíve.</a:t>
            </a:r>
          </a:p>
          <a:p>
            <a:pPr marL="0" indent="0">
              <a:buNone/>
            </a:pPr>
            <a:endParaRPr lang="sk-SK" noProof="1"/>
          </a:p>
        </p:txBody>
      </p:sp>
    </p:spTree>
    <p:extLst>
      <p:ext uri="{BB962C8B-B14F-4D97-AF65-F5344CB8AC3E}">
        <p14:creationId xmlns:p14="http://schemas.microsoft.com/office/powerpoint/2010/main" val="172791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09B40-4EF1-F7FC-A3F6-F0D746824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noProof="1"/>
              <a:t>Systémový prehľad</a:t>
            </a:r>
            <a:endParaRPr lang="sk-SK" noProof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F910D-F2B4-3AE8-791E-38626EF6D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b="1" noProof="1"/>
              <a:t>Backend</a:t>
            </a:r>
            <a:r>
              <a:rPr lang="sk-SK" noProof="1"/>
              <a:t>: Python, knižnica LangChain.</a:t>
            </a:r>
          </a:p>
          <a:p>
            <a:r>
              <a:rPr lang="sk-SK" b="1" noProof="1"/>
              <a:t>Modely:</a:t>
            </a:r>
            <a:endParaRPr lang="sk-SK" noProof="1"/>
          </a:p>
          <a:p>
            <a:pPr lvl="1"/>
            <a:r>
              <a:rPr lang="sk-SK" noProof="1"/>
              <a:t>GPT-4o: Precízna extrakcia schémy a entít.</a:t>
            </a:r>
          </a:p>
          <a:p>
            <a:pPr lvl="1"/>
            <a:r>
              <a:rPr lang="sk-SK" noProof="1"/>
              <a:t>Claude 3.5 Sonnet: Generovanie Cypher dopytov (kódovanie).</a:t>
            </a:r>
          </a:p>
          <a:p>
            <a:pPr lvl="1"/>
            <a:r>
              <a:rPr lang="sk-SK" noProof="1"/>
              <a:t>Gemini 2 Flash: Klasifikácia a sumarizácia veľkého kontextu.</a:t>
            </a:r>
          </a:p>
          <a:p>
            <a:r>
              <a:rPr lang="sk-SK" b="1" noProof="1"/>
              <a:t>Databázy</a:t>
            </a:r>
            <a:r>
              <a:rPr lang="sk-SK" noProof="1"/>
              <a:t>:</a:t>
            </a:r>
          </a:p>
          <a:p>
            <a:pPr lvl="1"/>
            <a:r>
              <a:rPr lang="sk-SK" noProof="1"/>
              <a:t>Neo4j: Grafové úložisko vzťahov.</a:t>
            </a:r>
          </a:p>
          <a:p>
            <a:pPr lvl="1"/>
            <a:r>
              <a:rPr lang="sk-SK" noProof="1"/>
              <a:t>Neo4jVector: Vektorové embeddingy pre sémantickú podobnosť.</a:t>
            </a:r>
          </a:p>
          <a:p>
            <a:r>
              <a:rPr lang="sk-SK" b="1" noProof="1"/>
              <a:t>Embeddingy</a:t>
            </a:r>
            <a:r>
              <a:rPr lang="sk-SK" noProof="1"/>
              <a:t>: text-embedding-3-large (OpenAI).</a:t>
            </a:r>
          </a:p>
          <a:p>
            <a:endParaRPr lang="sk-SK" noProof="1"/>
          </a:p>
        </p:txBody>
      </p:sp>
    </p:spTree>
    <p:extLst>
      <p:ext uri="{BB962C8B-B14F-4D97-AF65-F5344CB8AC3E}">
        <p14:creationId xmlns:p14="http://schemas.microsoft.com/office/powerpoint/2010/main" val="4026945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48777-3292-CCAB-2A4B-8CF0342E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noProof="1"/>
              <a:t>Spracovanie dokumentu I.</a:t>
            </a:r>
            <a:endParaRPr lang="sk-SK" noProof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CE0D4-1D8B-CFB1-39BB-6F0DE2F75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b="1" noProof="1"/>
              <a:t>Klasifikácia</a:t>
            </a:r>
            <a:r>
              <a:rPr lang="sk-SK" noProof="1"/>
              <a:t> (Gemini): Automatické určenie kategórie (zmluva, zákon) a právneho odvetvia s percentuálnou istotou.</a:t>
            </a:r>
          </a:p>
          <a:p>
            <a:r>
              <a:rPr lang="sk-SK" b="1" noProof="1"/>
              <a:t>Segmentácia</a:t>
            </a:r>
            <a:r>
              <a:rPr lang="sk-SK" noProof="1"/>
              <a:t> (Chunking):</a:t>
            </a:r>
          </a:p>
          <a:p>
            <a:pPr lvl="1"/>
            <a:r>
              <a:rPr lang="sk-SK" noProof="1"/>
              <a:t>Využitie RecursiveCharacterTextSplitter.</a:t>
            </a:r>
          </a:p>
          <a:p>
            <a:pPr lvl="1"/>
            <a:r>
              <a:rPr lang="sk-SK" noProof="1"/>
              <a:t>Veľkosť: 1024 – 1200 tokenov s prekrývaním (overlap) 128 – 200 tokenov.</a:t>
            </a:r>
          </a:p>
          <a:p>
            <a:r>
              <a:rPr lang="sk-SK" b="1" noProof="1"/>
              <a:t>Štruktúra</a:t>
            </a:r>
            <a:r>
              <a:rPr lang="sk-SK" noProof="1"/>
              <a:t>: Prepojenie dokumentov s chunkmi cez vzťah </a:t>
            </a:r>
            <a:r>
              <a:rPr lang="sk-SK" noProof="1">
                <a:latin typeface="CMU Typewriter Text Light" panose="02000309000000000000" pitchFamily="49" charset="0"/>
                <a:ea typeface="CMU Typewriter Text Light" panose="02000309000000000000" pitchFamily="49" charset="0"/>
                <a:cs typeface="CMU Typewriter Text Light" panose="02000309000000000000" pitchFamily="49" charset="0"/>
              </a:rPr>
              <a:t>IN_DOCUMENT</a:t>
            </a:r>
            <a:r>
              <a:rPr lang="sk-SK" noProof="1"/>
              <a:t>.</a:t>
            </a:r>
          </a:p>
          <a:p>
            <a:endParaRPr lang="sk-SK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9CF11C-E360-CB23-49AE-7DCECFD56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631837"/>
            <a:ext cx="7772400" cy="9957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C6F9A65-908B-3E9E-195A-D7C4D0DE81E7}"/>
              </a:ext>
            </a:extLst>
          </p:cNvPr>
          <p:cNvSpPr/>
          <p:nvPr/>
        </p:nvSpPr>
        <p:spPr>
          <a:xfrm>
            <a:off x="5205185" y="4496900"/>
            <a:ext cx="5328744" cy="1054182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noProof="1"/>
          </a:p>
        </p:txBody>
      </p:sp>
    </p:spTree>
    <p:extLst>
      <p:ext uri="{BB962C8B-B14F-4D97-AF65-F5344CB8AC3E}">
        <p14:creationId xmlns:p14="http://schemas.microsoft.com/office/powerpoint/2010/main" val="41876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4716-02CA-C44F-B8A2-BAA904711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noProof="1"/>
              <a:t>Spracovanie dokumentu II.</a:t>
            </a:r>
            <a:endParaRPr lang="sk-SK" noProof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AEABD-63CE-1B6F-4F3E-C4B297FBE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b="1" noProof="1"/>
              <a:t>Metóda</a:t>
            </a:r>
            <a:r>
              <a:rPr lang="sk-SK" noProof="1"/>
              <a:t>: Inšpirácia štúdiou Apple (Ontology-Guided Open-Domain Knowledge Extraction with LLMs).</a:t>
            </a:r>
          </a:p>
          <a:p>
            <a:r>
              <a:rPr lang="sk-SK" noProof="1"/>
              <a:t>Tri kroky extrakcie:</a:t>
            </a:r>
          </a:p>
          <a:p>
            <a:pPr marL="914400" lvl="1" indent="-457200">
              <a:buFont typeface="+mj-lt"/>
              <a:buAutoNum type="arabicPeriod"/>
            </a:pPr>
            <a:r>
              <a:rPr lang="sk-SK" noProof="1"/>
              <a:t>Otvorená detekcia (GPT-4o): Paralelné hľadanie všetkých entít/vzťahov (bohatosť dát).</a:t>
            </a:r>
          </a:p>
          <a:p>
            <a:pPr marL="914400" lvl="1" indent="-457200">
              <a:buFont typeface="+mj-lt"/>
              <a:buAutoNum type="arabicPeriod"/>
            </a:pPr>
            <a:r>
              <a:rPr lang="sk-SK" noProof="1"/>
              <a:t>Úprava ontológie (Gemini): Mapovanie na preddefinované právne entity (konzistencia, eliminácia duplicít).</a:t>
            </a:r>
          </a:p>
          <a:p>
            <a:pPr marL="914400" lvl="1" indent="-457200">
              <a:buFont typeface="+mj-lt"/>
              <a:buAutoNum type="arabicPeriod"/>
            </a:pPr>
            <a:r>
              <a:rPr lang="sk-SK" noProof="1"/>
              <a:t>Schémov-riadená extrakcia: Extrakcia dát podľa očistenej schémy.</a:t>
            </a:r>
          </a:p>
          <a:p>
            <a:r>
              <a:rPr lang="sk-SK" b="1" noProof="1"/>
              <a:t>Výsledok</a:t>
            </a:r>
            <a:r>
              <a:rPr lang="sk-SK" noProof="1"/>
              <a:t>: Presnosť extrakcie až 98,8 %.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32531D-75EF-714F-BE4B-3C619C58D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631837"/>
            <a:ext cx="7772400" cy="9957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40E7090-01B7-35AA-857E-70FC45C805FA}"/>
              </a:ext>
            </a:extLst>
          </p:cNvPr>
          <p:cNvSpPr/>
          <p:nvPr/>
        </p:nvSpPr>
        <p:spPr>
          <a:xfrm>
            <a:off x="2230820" y="4496900"/>
            <a:ext cx="2975518" cy="1054182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4E3D87-6C02-7C54-D140-C98AA6517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646646"/>
            <a:ext cx="7772400" cy="86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521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7DBB5A-94F6-8B78-1E77-CAF2B392C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284" y="0"/>
            <a:ext cx="75074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346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69CE78-E9CE-A470-72B5-DFFDC1076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597" y="50182"/>
            <a:ext cx="4856892" cy="45132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545B73-85B0-1CE4-D8D4-F0E53174E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21" y="518788"/>
            <a:ext cx="5330283" cy="58204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6CB39E-8D88-C8CE-D0E9-C50230CF8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6379" y="4404732"/>
            <a:ext cx="3467327" cy="24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713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4EE40-F9F3-5423-B76A-ADE78BFE0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noProof="1"/>
              <a:t>Hybridný GraphRAG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07872-5524-F1BC-283B-B1C8BEE88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b="1" noProof="1"/>
              <a:t>Preformulovanie</a:t>
            </a:r>
            <a:r>
              <a:rPr lang="sk-SK" noProof="1"/>
              <a:t>: LLM vytvorí 3–5 variácií otázky pre širší záber.</a:t>
            </a:r>
          </a:p>
          <a:p>
            <a:r>
              <a:rPr lang="sk-SK" noProof="1"/>
              <a:t>Iteratívne dopytovanie:</a:t>
            </a:r>
          </a:p>
          <a:p>
            <a:pPr lvl="1"/>
            <a:r>
              <a:rPr lang="sk-SK" noProof="1"/>
              <a:t>Extrakcia entít z otázky.</a:t>
            </a:r>
          </a:p>
          <a:p>
            <a:pPr lvl="1"/>
            <a:r>
              <a:rPr lang="sk-SK" noProof="1"/>
              <a:t>Vyhľadanie podobných uzlov vo vektorovej databáze.</a:t>
            </a:r>
          </a:p>
          <a:p>
            <a:pPr lvl="1"/>
            <a:r>
              <a:rPr lang="sk-SK" noProof="1"/>
              <a:t>Cypher Agent: LLM generuje a spúšťa databázové dopyty iteratívne (tool loop).</a:t>
            </a:r>
          </a:p>
          <a:p>
            <a:r>
              <a:rPr lang="sk-SK" b="1" noProof="1"/>
              <a:t>Multi-hop Reasoning</a:t>
            </a:r>
            <a:r>
              <a:rPr lang="sk-SK" noProof="1"/>
              <a:t>: Hľadanie súvislostí "za roh" (napr. Osoba -&gt; Zmluva -&gt; Zákon).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343E23-3881-731C-4FDF-51F82AEB9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922" y="4204138"/>
            <a:ext cx="9274156" cy="210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522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D5F4E-DF6D-720F-D857-F780D7209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noProof="1"/>
              <a:t>Overenie a Generovanie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480C0-7F64-6E89-9A43-3CB10524E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b="1" noProof="1"/>
              <a:t>Kontrolný mechanizmus</a:t>
            </a:r>
            <a:r>
              <a:rPr lang="sk-SK" noProof="1"/>
              <a:t>: LLM posúdi, či sú dáta z grafu dostatočné.</a:t>
            </a:r>
          </a:p>
          <a:p>
            <a:r>
              <a:rPr lang="sk-SK" noProof="1"/>
              <a:t>Kontextová syntéza. Odpoveď sa skladá z:</a:t>
            </a:r>
          </a:p>
          <a:p>
            <a:pPr lvl="1"/>
            <a:r>
              <a:rPr lang="sk-SK" noProof="1"/>
              <a:t>Znalostných podgrafov (štruktúrované dáta).</a:t>
            </a:r>
          </a:p>
          <a:p>
            <a:pPr lvl="1"/>
            <a:r>
              <a:rPr lang="sk-SK" noProof="1"/>
              <a:t>Textových chunkov (sémantický kontext).</a:t>
            </a:r>
          </a:p>
          <a:p>
            <a:pPr lvl="1"/>
            <a:r>
              <a:rPr lang="sk-SK" noProof="1"/>
              <a:t>Pôvodnej a preformulovanej otázky.</a:t>
            </a:r>
          </a:p>
          <a:p>
            <a:r>
              <a:rPr lang="sk-SK" b="1" noProof="1"/>
              <a:t>Gemini Flash</a:t>
            </a:r>
            <a:r>
              <a:rPr lang="sk-SK" noProof="1"/>
              <a:t>: Vďaka veľkému oknu spracuje všetky vstupy do finálnej právnej analýzy.</a:t>
            </a:r>
          </a:p>
        </p:txBody>
      </p:sp>
    </p:spTree>
    <p:extLst>
      <p:ext uri="{BB962C8B-B14F-4D97-AF65-F5344CB8AC3E}">
        <p14:creationId xmlns:p14="http://schemas.microsoft.com/office/powerpoint/2010/main" val="2763537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6577A-A137-415D-1BC7-9EA59361F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noProof="1"/>
              <a:t>Validácia na literárnom diele</a:t>
            </a:r>
            <a:endParaRPr lang="sk-SK" noProof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01B99-2B40-E752-B3E4-3A8F7A41C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b="1" noProof="1"/>
              <a:t>Prečo</a:t>
            </a:r>
            <a:r>
              <a:rPr lang="sk-SK" noProof="1"/>
              <a:t>: Jednoduchšie overenie faktov a komplexných vzťahov.</a:t>
            </a:r>
          </a:p>
          <a:p>
            <a:r>
              <a:rPr lang="sk-SK" b="1" noProof="1"/>
              <a:t>Efektivita</a:t>
            </a:r>
            <a:r>
              <a:rPr lang="sk-SK" noProof="1"/>
              <a:t>: Asynchrónne spracovanie znížilo čas z 12 min na 2 min (6x zrýchlenie).</a:t>
            </a:r>
          </a:p>
          <a:p>
            <a:r>
              <a:rPr lang="sk-SK" b="1" noProof="1"/>
              <a:t>Presnosť</a:t>
            </a:r>
            <a:r>
              <a:rPr lang="sk-SK" noProof="1"/>
              <a:t>: Napriek nekonzistentnosti v otvorenej doméne (5 rôznych vzťahov pre "lásku") systém vďaka grafu vždy našiel správnu odpoveď.</a:t>
            </a:r>
          </a:p>
          <a:p>
            <a:r>
              <a:rPr lang="sk-SK" b="1" noProof="1"/>
              <a:t>Aktuálny stav</a:t>
            </a:r>
            <a:r>
              <a:rPr lang="sk-SK" noProof="1"/>
              <a:t>: Prechod na reálne dáta zo Slov-Lex.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0EFD78-F8D2-78BF-273B-0EED4F26F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2403" y="3776663"/>
            <a:ext cx="3435350" cy="240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BDCC64-AB66-4F60-71F1-4C8263DDB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91" y="4232525"/>
            <a:ext cx="6859859" cy="148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01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8A3C7-F223-AA8E-EE63-F48CDCB79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noProof="1"/>
              <a:t>Plán na letný semester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8E4B7-9F38-8AFD-A7E7-54C998F93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noProof="1"/>
              <a:t>Optimalizácia</a:t>
            </a:r>
            <a:r>
              <a:rPr lang="sk-SK" b="1" noProof="1"/>
              <a:t> </a:t>
            </a:r>
            <a:r>
              <a:rPr lang="sk-SK" noProof="1"/>
              <a:t>promptov.</a:t>
            </a:r>
          </a:p>
          <a:p>
            <a:r>
              <a:rPr lang="sk-SK" b="1" noProof="1"/>
              <a:t>Webová aplikácia</a:t>
            </a:r>
            <a:r>
              <a:rPr lang="sk-SK" noProof="1"/>
              <a:t>: Používateľské rozhranie pre vkladanie otázok a vizualizáciu nájdených grafov alebo </a:t>
            </a:r>
            <a:r>
              <a:rPr lang="sk-SK" b="1" noProof="1"/>
              <a:t>Jupyter Notebook</a:t>
            </a:r>
            <a:r>
              <a:rPr lang="sk-SK" noProof="1"/>
              <a:t>.</a:t>
            </a:r>
          </a:p>
          <a:p>
            <a:r>
              <a:rPr lang="sk-SK" noProof="1"/>
              <a:t>Dokončiť implementáciu vyhľadávania a multi-hop reasoningu.</a:t>
            </a:r>
          </a:p>
          <a:p>
            <a:endParaRPr lang="sk-SK" noProof="1"/>
          </a:p>
        </p:txBody>
      </p:sp>
    </p:spTree>
    <p:extLst>
      <p:ext uri="{BB962C8B-B14F-4D97-AF65-F5344CB8AC3E}">
        <p14:creationId xmlns:p14="http://schemas.microsoft.com/office/powerpoint/2010/main" val="3591138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7052B0-35C3-E1C7-23C9-64241666C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sk-SK" noProof="1"/>
              <a:t>Ďakujem za pozornosť.</a:t>
            </a:r>
          </a:p>
        </p:txBody>
      </p:sp>
    </p:spTree>
    <p:extLst>
      <p:ext uri="{BB962C8B-B14F-4D97-AF65-F5344CB8AC3E}">
        <p14:creationId xmlns:p14="http://schemas.microsoft.com/office/powerpoint/2010/main" val="3881617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476</Words>
  <Application>Microsoft Macintosh PowerPoint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CMU Serif</vt:lpstr>
      <vt:lpstr>CMU Serif Roman</vt:lpstr>
      <vt:lpstr>CMU Typewriter Text</vt:lpstr>
      <vt:lpstr>CMU Typewriter Text Light</vt:lpstr>
      <vt:lpstr>Office Theme</vt:lpstr>
      <vt:lpstr>Využitie LLM pre analýzu právnych dokumentov</vt:lpstr>
      <vt:lpstr>Úvod a motivácia</vt:lpstr>
      <vt:lpstr>Systémový prehľad</vt:lpstr>
      <vt:lpstr>Spracovanie dokumentu I.</vt:lpstr>
      <vt:lpstr>Spracovanie dokumentu II.</vt:lpstr>
      <vt:lpstr>PowerPoint Presentation</vt:lpstr>
      <vt:lpstr>PowerPoint Presentation</vt:lpstr>
      <vt:lpstr>Hybridný GraphRAG</vt:lpstr>
      <vt:lpstr>Overenie a Generovanie</vt:lpstr>
      <vt:lpstr>Validácia na literárnom diele</vt:lpstr>
      <vt:lpstr>Plán na letný semester</vt:lpstr>
      <vt:lpstr>Ďakujem za pozornosť.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Bagín</dc:creator>
  <cp:lastModifiedBy>Samuel Bagín</cp:lastModifiedBy>
  <cp:revision>12</cp:revision>
  <dcterms:created xsi:type="dcterms:W3CDTF">2026-02-10T23:27:55Z</dcterms:created>
  <dcterms:modified xsi:type="dcterms:W3CDTF">2026-02-11T22:02:59Z</dcterms:modified>
</cp:coreProperties>
</file>