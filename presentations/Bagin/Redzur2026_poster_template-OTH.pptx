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B7032-B88C-BE48-B4C6-C8457C6C705C}" v="8" dt="2026-05-04T16:06:04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84"/>
    <p:restoredTop sz="94721"/>
  </p:normalViewPr>
  <p:slideViewPr>
    <p:cSldViewPr snapToGrid="0">
      <p:cViewPr varScale="1">
        <p:scale>
          <a:sx n="37" d="100"/>
          <a:sy n="37" d="100"/>
        </p:scale>
        <p:origin x="515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Minárik" userId="4936feb6-7e7e-482c-b9f0-314df25dba70" providerId="ADAL" clId="{7C86AFE3-1DC6-5906-9496-51B77D095164}"/>
    <pc:docChg chg="undo redo custSel delSld modSld modMainMaster">
      <pc:chgData name="Ivan Minárik" userId="4936feb6-7e7e-482c-b9f0-314df25dba70" providerId="ADAL" clId="{7C86AFE3-1DC6-5906-9496-51B77D095164}" dt="2026-05-04T16:06:47.122" v="37" actId="2696"/>
      <pc:docMkLst>
        <pc:docMk/>
      </pc:docMkLst>
      <pc:sldChg chg="addSp delSp modSp del mod">
        <pc:chgData name="Ivan Minárik" userId="4936feb6-7e7e-482c-b9f0-314df25dba70" providerId="ADAL" clId="{7C86AFE3-1DC6-5906-9496-51B77D095164}" dt="2026-05-04T16:06:47.122" v="37" actId="2696"/>
        <pc:sldMkLst>
          <pc:docMk/>
          <pc:sldMk cId="142108374" sldId="256"/>
        </pc:sldMkLst>
        <pc:spChg chg="add del mod">
          <ac:chgData name="Ivan Minárik" userId="4936feb6-7e7e-482c-b9f0-314df25dba70" providerId="ADAL" clId="{7C86AFE3-1DC6-5906-9496-51B77D095164}" dt="2026-05-04T16:01:28.538" v="12" actId="47"/>
          <ac:spMkLst>
            <pc:docMk/>
            <pc:sldMk cId="142108374" sldId="256"/>
            <ac:spMk id="2" creationId="{9F6D850D-B784-942D-66D9-8C3C6AF8FB45}"/>
          </ac:spMkLst>
        </pc:spChg>
        <pc:spChg chg="add del mod">
          <ac:chgData name="Ivan Minárik" userId="4936feb6-7e7e-482c-b9f0-314df25dba70" providerId="ADAL" clId="{7C86AFE3-1DC6-5906-9496-51B77D095164}" dt="2026-05-04T14:18:57.805" v="2" actId="478"/>
          <ac:spMkLst>
            <pc:docMk/>
            <pc:sldMk cId="142108374" sldId="256"/>
            <ac:spMk id="3" creationId="{71178AFE-406E-5DC4-BE4E-88301810AB58}"/>
          </ac:spMkLst>
        </pc:spChg>
      </pc:sldChg>
      <pc:sldMasterChg chg="modSldLayout">
        <pc:chgData name="Ivan Minárik" userId="4936feb6-7e7e-482c-b9f0-314df25dba70" providerId="ADAL" clId="{7C86AFE3-1DC6-5906-9496-51B77D095164}" dt="2026-05-04T16:06:25.083" v="36" actId="34135"/>
        <pc:sldMasterMkLst>
          <pc:docMk/>
          <pc:sldMasterMk cId="2732524816" sldId="2147483660"/>
        </pc:sldMasterMkLst>
        <pc:sldLayoutChg chg="modSp mod">
          <pc:chgData name="Ivan Minárik" userId="4936feb6-7e7e-482c-b9f0-314df25dba70" providerId="ADAL" clId="{7C86AFE3-1DC6-5906-9496-51B77D095164}" dt="2026-05-04T16:06:25.083" v="36" actId="34135"/>
          <pc:sldLayoutMkLst>
            <pc:docMk/>
            <pc:sldMasterMk cId="2732524816" sldId="2147483660"/>
            <pc:sldLayoutMk cId="495261336" sldId="2147483665"/>
          </pc:sldLayoutMkLst>
          <pc:picChg chg="mod">
            <ac:chgData name="Ivan Minárik" userId="4936feb6-7e7e-482c-b9f0-314df25dba70" providerId="ADAL" clId="{7C86AFE3-1DC6-5906-9496-51B77D095164}" dt="2026-05-04T16:06:25.083" v="36" actId="34135"/>
            <ac:picMkLst>
              <pc:docMk/>
              <pc:sldMasterMk cId="2732524816" sldId="2147483660"/>
              <pc:sldLayoutMk cId="495261336" sldId="2147483665"/>
              <ac:picMk id="9" creationId="{02E2102E-066D-68CF-8A56-56770AE6827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74DAE-F89A-8346-8F7B-B7657194F29C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84886-87C3-DE40-BE76-1EE26552B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4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84886-87C3-DE40-BE76-1EE26552B8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0" y="1428750"/>
            <a:ext cx="14247669" cy="3581401"/>
          </a:xfrm>
        </p:spPr>
        <p:txBody>
          <a:bodyPr anchor="t">
            <a:noAutofit/>
          </a:bodyPr>
          <a:lstStyle>
            <a:lvl1pPr>
              <a:defRPr sz="8000" b="1"/>
            </a:lvl1pPr>
          </a:lstStyle>
          <a:p>
            <a:r>
              <a:rPr lang="sk-SK" dirty="0" err="1"/>
              <a:t>Paper</a:t>
            </a:r>
            <a:r>
              <a:rPr lang="sk-SK" dirty="0"/>
              <a:t>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42950" y="6578599"/>
            <a:ext cx="9815215" cy="23156230"/>
          </a:xfrm>
        </p:spPr>
        <p:txBody>
          <a:bodyPr/>
          <a:lstStyle>
            <a:lvl1pPr marL="0" indent="0">
              <a:buNone/>
              <a:defRPr sz="2400"/>
            </a:lvl1pPr>
            <a:lvl2pPr marL="1069162" indent="0">
              <a:buNone/>
              <a:defRPr/>
            </a:lvl2pPr>
            <a:lvl3pPr marL="2138325" indent="0">
              <a:buNone/>
              <a:defRPr/>
            </a:lvl3pPr>
            <a:lvl4pPr marL="3207487" indent="0">
              <a:buNone/>
              <a:defRPr/>
            </a:lvl4pPr>
            <a:lvl5pPr marL="4276649" indent="0">
              <a:buNone/>
              <a:defRPr/>
            </a:lvl5pPr>
          </a:lstStyle>
          <a:p>
            <a:pPr lvl="0"/>
            <a:r>
              <a:rPr lang="sk-SK" dirty="0" err="1"/>
              <a:t>Content</a:t>
            </a:r>
            <a:endParaRPr lang="sk-SK" dirty="0"/>
          </a:p>
          <a:p>
            <a:pPr lvl="0"/>
            <a:r>
              <a:rPr lang="sk-SK" dirty="0" err="1"/>
              <a:t>Suggested</a:t>
            </a:r>
            <a:r>
              <a:rPr lang="sk-SK" dirty="0"/>
              <a:t> </a:t>
            </a:r>
            <a:r>
              <a:rPr lang="sk-SK" dirty="0" err="1"/>
              <a:t>minimal</a:t>
            </a:r>
            <a:r>
              <a:rPr lang="sk-SK" dirty="0"/>
              <a:t> </a:t>
            </a:r>
            <a:r>
              <a:rPr lang="sk-SK" dirty="0" err="1"/>
              <a:t>size</a:t>
            </a:r>
            <a:r>
              <a:rPr lang="sk-SK" dirty="0"/>
              <a:t> of font </a:t>
            </a:r>
            <a:r>
              <a:rPr lang="sk-SK" dirty="0" err="1"/>
              <a:t>is</a:t>
            </a:r>
            <a:r>
              <a:rPr lang="sk-SK" dirty="0"/>
              <a:t> 24 </a:t>
            </a:r>
            <a:r>
              <a:rPr lang="sk-SK" dirty="0" err="1"/>
              <a:t>points</a:t>
            </a:r>
            <a:r>
              <a:rPr lang="sk-SK" dirty="0"/>
              <a:t>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825460" y="6578599"/>
            <a:ext cx="9815215" cy="2315623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1069162" indent="0">
              <a:buNone/>
              <a:defRPr/>
            </a:lvl2pPr>
            <a:lvl3pPr marL="2138325" indent="0">
              <a:buNone/>
              <a:defRPr/>
            </a:lvl3pPr>
            <a:lvl4pPr marL="3207487" indent="0">
              <a:buNone/>
              <a:defRPr/>
            </a:lvl4pPr>
            <a:lvl5pPr marL="4276649" indent="0">
              <a:buNone/>
              <a:defRPr/>
            </a:lvl5pPr>
          </a:lstStyle>
          <a:p>
            <a:pPr lvl="0"/>
            <a:r>
              <a:rPr lang="sk-SK" dirty="0" err="1"/>
              <a:t>Content</a:t>
            </a:r>
            <a:endParaRPr lang="sk-SK" dirty="0"/>
          </a:p>
          <a:p>
            <a:pPr lvl="0"/>
            <a:r>
              <a:rPr lang="sk-SK" dirty="0" err="1"/>
              <a:t>Suggested</a:t>
            </a:r>
            <a:r>
              <a:rPr lang="sk-SK" dirty="0"/>
              <a:t> </a:t>
            </a:r>
            <a:r>
              <a:rPr lang="sk-SK" dirty="0" err="1"/>
              <a:t>minimal</a:t>
            </a:r>
            <a:r>
              <a:rPr lang="sk-SK" dirty="0"/>
              <a:t> </a:t>
            </a:r>
            <a:r>
              <a:rPr lang="sk-SK" dirty="0" err="1"/>
              <a:t>size</a:t>
            </a:r>
            <a:r>
              <a:rPr lang="sk-SK" dirty="0"/>
              <a:t> of font </a:t>
            </a:r>
            <a:r>
              <a:rPr lang="sk-SK" dirty="0" err="1"/>
              <a:t>is</a:t>
            </a:r>
            <a:r>
              <a:rPr lang="sk-SK" dirty="0"/>
              <a:t> 24 </a:t>
            </a:r>
            <a:r>
              <a:rPr lang="sk-SK" dirty="0" err="1"/>
              <a:t>points</a:t>
            </a:r>
            <a:r>
              <a:rPr lang="sk-SK" dirty="0"/>
              <a:t>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02E2102E-066D-68CF-8A56-56770AE682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5623625" y="0"/>
            <a:ext cx="5760000" cy="4811295"/>
          </a:xfrm>
          <a:prstGeom prst="rect">
            <a:avLst/>
          </a:prstGeom>
        </p:spPr>
      </p:pic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233152D8-3610-E479-612E-FA7CAA1910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951" y="5149850"/>
            <a:ext cx="19897724" cy="128905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sk-SK" dirty="0" err="1"/>
              <a:t>Authors</a:t>
            </a:r>
            <a:r>
              <a:rPr lang="sk-SK" dirty="0"/>
              <a:t> and </a:t>
            </a:r>
            <a:r>
              <a:rPr lang="sk-SK" dirty="0" err="1"/>
              <a:t>affiliations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9526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25A12-7CD9-DF41-8C6C-4593C6EAB688}" type="datetimeFigureOut">
              <a:rPr lang="sk-SK" smtClean="0"/>
              <a:t>10.5.2026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D7CF8-00B4-0A40-9D25-68E4D6C0D3B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3252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1D931-2755-FB2C-85B9-8FEA12F4D300}"/>
              </a:ext>
            </a:extLst>
          </p:cNvPr>
          <p:cNvSpPr/>
          <p:nvPr/>
        </p:nvSpPr>
        <p:spPr>
          <a:xfrm>
            <a:off x="0" y="5010151"/>
            <a:ext cx="21383625" cy="2526506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F853B2E-0FF7-DE6A-26A0-1C132659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LLM-Based Knowledge Graph Construction and</a:t>
            </a:r>
            <a:br>
              <a:rPr lang="en-US" sz="6600" dirty="0"/>
            </a:br>
            <a:r>
              <a:rPr lang="en-US" sz="6600" dirty="0"/>
              <a:t>Retrieval for Legal Document Analysis</a:t>
            </a:r>
            <a:br>
              <a:rPr lang="en-US" sz="6600" dirty="0"/>
            </a:br>
            <a:endParaRPr lang="sk-SK" sz="66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FF41A1B-EEF9-6C2F-4CE2-B09D1A8F4B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 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342C71E-FCEE-AAB2-95ED-25E9B011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Samuel Bagín, Marek Vančo    </a:t>
            </a:r>
          </a:p>
          <a:p>
            <a:r>
              <a:rPr lang="en-US" sz="2000" dirty="0"/>
              <a:t>Faculty of Electrical Engineering and Information Technology, Slovak University of Technology, Bratislava, Slovakia</a:t>
            </a:r>
          </a:p>
          <a:p>
            <a:endParaRPr lang="sk-SK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1C7557-DBE2-0158-5085-138A16981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255" y="9666056"/>
            <a:ext cx="6728594" cy="3364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E46FA1-C101-0B4B-4AF2-CAEC6AACA227}"/>
              </a:ext>
            </a:extLst>
          </p:cNvPr>
          <p:cNvSpPr txBox="1"/>
          <p:nvPr/>
        </p:nvSpPr>
        <p:spPr>
          <a:xfrm>
            <a:off x="3176297" y="7135243"/>
            <a:ext cx="494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Pipeline of a document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2519C-45B1-04F9-5AB4-BA97CE5EAAB5}"/>
              </a:ext>
            </a:extLst>
          </p:cNvPr>
          <p:cNvSpPr txBox="1"/>
          <p:nvPr/>
        </p:nvSpPr>
        <p:spPr>
          <a:xfrm>
            <a:off x="3205879" y="9315022"/>
            <a:ext cx="488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Preprocessing stage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96F8B-D3D8-8DC6-5667-345475A70551}"/>
              </a:ext>
            </a:extLst>
          </p:cNvPr>
          <p:cNvSpPr txBox="1"/>
          <p:nvPr/>
        </p:nvSpPr>
        <p:spPr>
          <a:xfrm>
            <a:off x="1885838" y="13031552"/>
            <a:ext cx="753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Tables are detected across document and then processed into </a:t>
            </a:r>
            <a:r>
              <a:rPr lang="en-US" sz="1200" dirty="0" err="1"/>
              <a:t>GraphDocument</a:t>
            </a:r>
            <a:r>
              <a:rPr lang="en-US" sz="1200" dirty="0"/>
              <a:t> using html as middle stage.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175398-DB05-8656-F4C8-7C2307D84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42" y="15714693"/>
            <a:ext cx="6989620" cy="38376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C900EF-9231-79A8-DD3E-FA67BE15D685}"/>
              </a:ext>
            </a:extLst>
          </p:cNvPr>
          <p:cNvSpPr txBox="1"/>
          <p:nvPr/>
        </p:nvSpPr>
        <p:spPr>
          <a:xfrm>
            <a:off x="3284503" y="14141322"/>
            <a:ext cx="473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Extraction stage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BDE45-A90C-0102-7284-73FDCE3917A1}"/>
              </a:ext>
            </a:extLst>
          </p:cNvPr>
          <p:cNvSpPr txBox="1"/>
          <p:nvPr/>
        </p:nvSpPr>
        <p:spPr>
          <a:xfrm>
            <a:off x="2009826" y="14650353"/>
            <a:ext cx="7533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extraction stage has three processes. First, open-domain detection where are detected possible entities. Second, schema refinement, where entities and relation are canonicalized. Third, schema driven extraction where are information extracted as concrete instances.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B4455-185C-257C-05A9-30C18F5ECE9D}"/>
              </a:ext>
            </a:extLst>
          </p:cNvPr>
          <p:cNvSpPr txBox="1"/>
          <p:nvPr/>
        </p:nvSpPr>
        <p:spPr>
          <a:xfrm>
            <a:off x="2945670" y="19413874"/>
            <a:ext cx="540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1. Open-Domain Detection (Information Extraction)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E18D5D-43F7-7045-1AC5-BCD13DE58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3126" y="20024615"/>
            <a:ext cx="5914851" cy="39432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990C84-B5AA-EC54-B405-F7168CEDFC15}"/>
              </a:ext>
            </a:extLst>
          </p:cNvPr>
          <p:cNvSpPr txBox="1"/>
          <p:nvPr/>
        </p:nvSpPr>
        <p:spPr>
          <a:xfrm>
            <a:off x="2945670" y="23967849"/>
            <a:ext cx="540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2. Schema Refinement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F2C307-3041-37DD-AB4C-C6AF5FFCA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1648" y="24631981"/>
            <a:ext cx="6321723" cy="42144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936F85-9A49-607F-6416-A4272AFD63FB}"/>
              </a:ext>
            </a:extLst>
          </p:cNvPr>
          <p:cNvSpPr txBox="1"/>
          <p:nvPr/>
        </p:nvSpPr>
        <p:spPr>
          <a:xfrm>
            <a:off x="2945669" y="28908956"/>
            <a:ext cx="540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3. Schema Driven Extraction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EE8181-E9EB-45FE-8357-0DE0F43DEC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6593" y="7287665"/>
            <a:ext cx="9654082" cy="35051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39D451-31FC-0083-B568-1EBBAC9D0A40}"/>
              </a:ext>
            </a:extLst>
          </p:cNvPr>
          <p:cNvSpPr txBox="1"/>
          <p:nvPr/>
        </p:nvSpPr>
        <p:spPr>
          <a:xfrm>
            <a:off x="11438716" y="10843757"/>
            <a:ext cx="3150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Structure of document in graph database.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CE0763-12D0-BB7F-1B91-8CB464D31B4F}"/>
              </a:ext>
            </a:extLst>
          </p:cNvPr>
          <p:cNvSpPr txBox="1"/>
          <p:nvPr/>
        </p:nvSpPr>
        <p:spPr>
          <a:xfrm>
            <a:off x="16731829" y="10843758"/>
            <a:ext cx="3150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Visualized graph of processed document.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1B8B28-09B1-556F-68A2-2405FFA2BF29}"/>
              </a:ext>
            </a:extLst>
          </p:cNvPr>
          <p:cNvSpPr txBox="1"/>
          <p:nvPr/>
        </p:nvSpPr>
        <p:spPr>
          <a:xfrm>
            <a:off x="13339373" y="11720677"/>
            <a:ext cx="494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Pipeline of search and retrieval</a:t>
            </a:r>
          </a:p>
        </p:txBody>
      </p:sp>
      <p:pic>
        <p:nvPicPr>
          <p:cNvPr id="1026" name="Picture 2" descr="Service delivery rules flowchart">
            <a:extLst>
              <a:ext uri="{FF2B5EF4-FFF2-40B4-BE49-F238E27FC236}">
                <a16:creationId xmlns:a16="http://schemas.microsoft.com/office/drawing/2014/main" id="{A92E5856-E42D-1124-8DD2-EDB46C43F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0381" y="14134220"/>
            <a:ext cx="7212767" cy="360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C15CE0-CD0A-991C-8878-38DF9F5706B7}"/>
              </a:ext>
            </a:extLst>
          </p:cNvPr>
          <p:cNvSpPr txBox="1"/>
          <p:nvPr/>
        </p:nvSpPr>
        <p:spPr>
          <a:xfrm>
            <a:off x="13108749" y="17236205"/>
            <a:ext cx="540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1. Sentence Segmentation</a:t>
            </a:r>
          </a:p>
        </p:txBody>
      </p:sp>
      <p:pic>
        <p:nvPicPr>
          <p:cNvPr id="1028" name="Picture 4" descr="Infographic on graph retrieval process">
            <a:extLst>
              <a:ext uri="{FF2B5EF4-FFF2-40B4-BE49-F238E27FC236}">
                <a16:creationId xmlns:a16="http://schemas.microsoft.com/office/drawing/2014/main" id="{4B2903B8-5E11-30EC-1A1D-1DCFD5D8B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4418" y="17898374"/>
            <a:ext cx="6964691" cy="464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A83EAB-BB73-0157-4410-4D693EED183C}"/>
              </a:ext>
            </a:extLst>
          </p:cNvPr>
          <p:cNvSpPr txBox="1"/>
          <p:nvPr/>
        </p:nvSpPr>
        <p:spPr>
          <a:xfrm>
            <a:off x="13161881" y="22541501"/>
            <a:ext cx="540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2. Graph Retrieval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D2A309-4AEB-0AA1-CB40-E07E9641E163}"/>
              </a:ext>
            </a:extLst>
          </p:cNvPr>
          <p:cNvSpPr txBox="1"/>
          <p:nvPr/>
        </p:nvSpPr>
        <p:spPr>
          <a:xfrm>
            <a:off x="13368957" y="6892884"/>
            <a:ext cx="488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Database Insertion</a:t>
            </a:r>
          </a:p>
        </p:txBody>
      </p:sp>
      <p:pic>
        <p:nvPicPr>
          <p:cNvPr id="1030" name="Picture 6" descr="Answering using retrieved evidence pipeline">
            <a:extLst>
              <a:ext uri="{FF2B5EF4-FFF2-40B4-BE49-F238E27FC236}">
                <a16:creationId xmlns:a16="http://schemas.microsoft.com/office/drawing/2014/main" id="{838EF4BE-2860-6A7C-DF23-59DFFC82B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250" y="23588840"/>
            <a:ext cx="7240697" cy="482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779C776-0784-E66E-E0B2-311975607327}"/>
              </a:ext>
            </a:extLst>
          </p:cNvPr>
          <p:cNvSpPr txBox="1"/>
          <p:nvPr/>
        </p:nvSpPr>
        <p:spPr>
          <a:xfrm>
            <a:off x="13122716" y="28520093"/>
            <a:ext cx="540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3. Inference</a:t>
            </a:r>
          </a:p>
        </p:txBody>
      </p:sp>
      <p:pic>
        <p:nvPicPr>
          <p:cNvPr id="1032" name="Picture 8" descr="Sentence segmentation to answer retrieval process">
            <a:extLst>
              <a:ext uri="{FF2B5EF4-FFF2-40B4-BE49-F238E27FC236}">
                <a16:creationId xmlns:a16="http://schemas.microsoft.com/office/drawing/2014/main" id="{011EDC53-CDBF-F8F4-E88D-8E8A4B20121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3255" y="12041473"/>
            <a:ext cx="5315853" cy="177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ree-step data process flow">
            <a:extLst>
              <a:ext uri="{FF2B5EF4-FFF2-40B4-BE49-F238E27FC236}">
                <a16:creationId xmlns:a16="http://schemas.microsoft.com/office/drawing/2014/main" id="{33CE57A2-38FE-BD3B-C0C9-BC4D6DC4B0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38" b="16833"/>
          <a:stretch>
            <a:fillRect/>
          </a:stretch>
        </p:blipFill>
        <p:spPr bwMode="auto">
          <a:xfrm>
            <a:off x="3331738" y="7504513"/>
            <a:ext cx="4889351" cy="128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13907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877</TotalTime>
  <Words>150</Words>
  <Application>Microsoft Macintosh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Motív Office</vt:lpstr>
      <vt:lpstr>LLM-Based Knowledge Graph Construction and Retrieval for Legal Document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Minárik</dc:creator>
  <cp:lastModifiedBy>Samuel Bagín</cp:lastModifiedBy>
  <cp:revision>5</cp:revision>
  <cp:lastPrinted>2025-05-09T09:21:23Z</cp:lastPrinted>
  <dcterms:created xsi:type="dcterms:W3CDTF">2025-05-09T08:57:49Z</dcterms:created>
  <dcterms:modified xsi:type="dcterms:W3CDTF">2026-05-10T10:38:35Z</dcterms:modified>
</cp:coreProperties>
</file>